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84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7961" autoAdjust="0"/>
  </p:normalViewPr>
  <p:slideViewPr>
    <p:cSldViewPr snapToGrid="0">
      <p:cViewPr varScale="1">
        <p:scale>
          <a:sx n="97" d="100"/>
          <a:sy n="97" d="100"/>
        </p:scale>
        <p:origin x="55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2" name="Shape 9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8965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524532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89650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869932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89650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499435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89650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729279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8965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08872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89650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519292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89650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185161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文本"/>
          <p:cNvSpPr txBox="1">
            <a:spLocks noGrp="1"/>
          </p:cNvSpPr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12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文本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21" name="正文级别 1…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22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标题文本"/>
          <p:cNvSpPr txBox="1">
            <a:spLocks noGrp="1"/>
          </p:cNvSpPr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t>标题文本</a:t>
            </a:r>
          </a:p>
        </p:txBody>
      </p:sp>
      <p:sp>
        <p:nvSpPr>
          <p:cNvPr id="30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3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标题文本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39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标题文本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48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45720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91440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137160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182880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标题文本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5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标题文本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标题文本</a:t>
            </a:r>
          </a:p>
        </p:txBody>
      </p:sp>
      <p:sp>
        <p:nvSpPr>
          <p:cNvPr id="73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  <a:endParaRPr/>
          </a:p>
        </p:txBody>
      </p:sp>
      <p:sp>
        <p:nvSpPr>
          <p:cNvPr id="7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标题文本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标题文本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8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>
            <a:spLocks noGrp="1"/>
          </p:cNvSpPr>
          <p:nvPr>
            <p:ph type="title"/>
          </p:nvPr>
        </p:nvSpPr>
        <p:spPr>
          <a:xfrm>
            <a:off x="608965" y="92074"/>
            <a:ext cx="1096137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正文级别 1…"/>
          <p:cNvSpPr txBox="1">
            <a:spLocks noGrp="1"/>
          </p:cNvSpPr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-1" y="0"/>
            <a:ext cx="12191972" cy="6858000"/>
          </a:xfrm>
          <a:prstGeom prst="rect">
            <a:avLst/>
          </a:prstGeom>
          <a:solidFill>
            <a:srgbClr val="14262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5" name="Rectangle 2"/>
          <p:cNvSpPr/>
          <p:nvPr/>
        </p:nvSpPr>
        <p:spPr>
          <a:xfrm>
            <a:off x="-1" y="-1"/>
            <a:ext cx="12191972" cy="82298"/>
          </a:xfrm>
          <a:prstGeom prst="rect">
            <a:avLst/>
          </a:prstGeom>
          <a:solidFill>
            <a:srgbClr val="1F6F8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6" name="Rounded Rectangle 3"/>
          <p:cNvSpPr/>
          <p:nvPr/>
        </p:nvSpPr>
        <p:spPr>
          <a:xfrm>
            <a:off x="566927" y="1965960"/>
            <a:ext cx="2286001" cy="310897"/>
          </a:xfrm>
          <a:prstGeom prst="roundRect">
            <a:avLst>
              <a:gd name="adj" fmla="val 9000"/>
            </a:avLst>
          </a:prstGeom>
          <a:ln>
            <a:solidFill>
              <a:srgbClr val="4C7484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7" name="TextBox 4"/>
          <p:cNvSpPr txBox="1"/>
          <p:nvPr/>
        </p:nvSpPr>
        <p:spPr>
          <a:xfrm>
            <a:off x="566927" y="2039206"/>
            <a:ext cx="2286001" cy="1644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000">
                <a:solidFill>
                  <a:srgbClr val="CFE6ED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dirty="0" err="1">
                <a:latin typeface="+mj-lt"/>
                <a:ea typeface="+mj-ea"/>
                <a:cs typeface="+mj-cs"/>
                <a:sym typeface="Helvetica"/>
              </a:rPr>
              <a:t>软件工程</a:t>
            </a:r>
            <a:r>
              <a:rPr lang="zh-CN" altLang="en-US" dirty="0">
                <a:latin typeface="+mj-lt"/>
                <a:ea typeface="+mj-ea"/>
                <a:cs typeface="+mj-cs"/>
                <a:sym typeface="Helvetica"/>
              </a:rPr>
              <a:t>实践</a:t>
            </a:r>
            <a:r>
              <a:rPr dirty="0"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dirty="0"/>
              <a:t>· 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项目验收汇报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98" name="TextBox 5"/>
          <p:cNvSpPr txBox="1"/>
          <p:nvPr/>
        </p:nvSpPr>
        <p:spPr>
          <a:xfrm>
            <a:off x="566927" y="2450592"/>
            <a:ext cx="9144001" cy="825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600">
                <a:solidFill>
                  <a:srgbClr val="FFFFFF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t>TraceLab</a:t>
            </a:r>
          </a:p>
        </p:txBody>
      </p:sp>
      <p:sp>
        <p:nvSpPr>
          <p:cNvPr id="99" name="TextBox 6"/>
          <p:cNvSpPr txBox="1"/>
          <p:nvPr/>
        </p:nvSpPr>
        <p:spPr>
          <a:xfrm>
            <a:off x="566927" y="3584447"/>
            <a:ext cx="9144001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>
                <a:solidFill>
                  <a:srgbClr val="A9CDD8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论文 </a:t>
            </a:r>
            <a:r>
              <a:t>↔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代码 双向追溯工作台</a:t>
            </a:r>
          </a:p>
        </p:txBody>
      </p:sp>
      <p:sp>
        <p:nvSpPr>
          <p:cNvPr id="100" name="Connector 7"/>
          <p:cNvSpPr/>
          <p:nvPr/>
        </p:nvSpPr>
        <p:spPr>
          <a:xfrm>
            <a:off x="566927" y="4480559"/>
            <a:ext cx="4937762" cy="1"/>
          </a:xfrm>
          <a:prstGeom prst="line">
            <a:avLst/>
          </a:prstGeom>
          <a:ln>
            <a:solidFill>
              <a:srgbClr val="3C5F6C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01" name="TextBox 8"/>
          <p:cNvSpPr txBox="1"/>
          <p:nvPr/>
        </p:nvSpPr>
        <p:spPr>
          <a:xfrm>
            <a:off x="566927" y="4626864"/>
            <a:ext cx="7315201" cy="7347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50000"/>
              </a:lnSpc>
              <a:defRPr sz="1100">
                <a:solidFill>
                  <a:srgbClr val="8FB8C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dirty="0" err="1"/>
              <a:t>置信核心的双向追溯agent工作台</a:t>
            </a:r>
            <a:endParaRPr dirty="0"/>
          </a:p>
          <a:p>
            <a:pPr>
              <a:lnSpc>
                <a:spcPct val="150000"/>
              </a:lnSpc>
              <a:defRPr sz="1100">
                <a:solidFill>
                  <a:srgbClr val="8FB8C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dirty="0" err="1">
                <a:latin typeface="+mj-lt"/>
                <a:ea typeface="+mj-ea"/>
                <a:cs typeface="+mj-cs"/>
                <a:sym typeface="Helvetica"/>
              </a:rPr>
              <a:t>桌面端（</a:t>
            </a:r>
            <a:r>
              <a:rPr dirty="0" err="1"/>
              <a:t>Tauri</a:t>
            </a:r>
            <a:r>
              <a:rPr dirty="0"/>
              <a:t> 2</a:t>
            </a:r>
            <a:r>
              <a:rPr dirty="0">
                <a:latin typeface="+mj-lt"/>
                <a:ea typeface="+mj-ea"/>
                <a:cs typeface="+mj-cs"/>
                <a:sym typeface="Helvetica"/>
              </a:rPr>
              <a:t>） </a:t>
            </a:r>
            <a:r>
              <a:rPr dirty="0"/>
              <a:t>/ VS Code 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插件</a:t>
            </a:r>
            <a:r>
              <a:rPr dirty="0"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dirty="0"/>
              <a:t>/ 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云同步服务器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  <a:p>
            <a:pPr>
              <a:lnSpc>
                <a:spcPct val="150000"/>
              </a:lnSpc>
              <a:defRPr sz="1100">
                <a:solidFill>
                  <a:srgbClr val="8FB8C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dirty="0">
                <a:latin typeface="+mj-lt"/>
                <a:ea typeface="+mj-ea"/>
                <a:cs typeface="+mj-cs"/>
                <a:sym typeface="Helvetica"/>
              </a:rPr>
              <a:t>汇报日期：</a:t>
            </a:r>
            <a:r>
              <a:rPr dirty="0"/>
              <a:t>2026-07-3</a:t>
            </a:r>
            <a:r>
              <a:rPr lang="en-US" dirty="0"/>
              <a:t>1</a:t>
            </a:r>
            <a:endParaRPr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Rectangle 2"/>
          <p:cNvSpPr/>
          <p:nvPr/>
        </p:nvSpPr>
        <p:spPr>
          <a:xfrm>
            <a:off x="-1" y="0"/>
            <a:ext cx="56695" cy="6858000"/>
          </a:xfrm>
          <a:prstGeom prst="rect">
            <a:avLst/>
          </a:prstGeom>
          <a:solidFill>
            <a:srgbClr val="1F6F8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5" name="TextBox 3"/>
          <p:cNvSpPr txBox="1"/>
          <p:nvPr/>
        </p:nvSpPr>
        <p:spPr>
          <a:xfrm>
            <a:off x="566927" y="384047"/>
            <a:ext cx="1105811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1F6F8B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t>PROBLEM</a:t>
            </a:r>
          </a:p>
        </p:txBody>
      </p:sp>
      <p:sp>
        <p:nvSpPr>
          <p:cNvPr id="106" name="TextBox 4"/>
          <p:cNvSpPr txBox="1"/>
          <p:nvPr/>
        </p:nvSpPr>
        <p:spPr>
          <a:xfrm>
            <a:off x="566927" y="603504"/>
            <a:ext cx="11058116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500" b="1">
                <a:solidFill>
                  <a:srgbClr val="14181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b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论文与代码之间缺一条可验证的桥</a:t>
            </a:r>
          </a:p>
        </p:txBody>
      </p:sp>
      <p:sp>
        <p:nvSpPr>
          <p:cNvPr id="107" name="TextBox 5"/>
          <p:cNvSpPr txBox="1"/>
          <p:nvPr/>
        </p:nvSpPr>
        <p:spPr>
          <a:xfrm>
            <a:off x="11231850" y="6473952"/>
            <a:ext cx="4572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9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lvl1pPr>
          </a:lstStyle>
          <a:p>
            <a:r>
              <a:t>02</a:t>
            </a:r>
          </a:p>
        </p:txBody>
      </p:sp>
      <p:sp>
        <p:nvSpPr>
          <p:cNvPr id="108" name="Rounded Rectangle 6"/>
          <p:cNvSpPr/>
          <p:nvPr/>
        </p:nvSpPr>
        <p:spPr>
          <a:xfrm>
            <a:off x="566927" y="1298447"/>
            <a:ext cx="3108962" cy="1985211"/>
          </a:xfrm>
          <a:prstGeom prst="roundRect">
            <a:avLst>
              <a:gd name="adj" fmla="val 2533"/>
            </a:avLst>
          </a:prstGeom>
          <a:solidFill>
            <a:srgbClr val="F0F7F9"/>
          </a:solidFill>
          <a:ln>
            <a:solidFill>
              <a:srgbClr val="B8D5D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9" name="TextBox 7"/>
          <p:cNvSpPr txBox="1"/>
          <p:nvPr/>
        </p:nvSpPr>
        <p:spPr>
          <a:xfrm>
            <a:off x="746841" y="1564829"/>
            <a:ext cx="2651762" cy="3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400">
                <a:solidFill>
                  <a:srgbClr val="1F6F8B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lang="zh-CN" altLang="en-US" sz="2400" b="1" dirty="0"/>
              <a:t>论文</a:t>
            </a:r>
            <a:endParaRPr sz="2400" b="1" dirty="0"/>
          </a:p>
        </p:txBody>
      </p:sp>
      <p:sp>
        <p:nvSpPr>
          <p:cNvPr id="110" name="TextBox 8"/>
          <p:cNvSpPr txBox="1"/>
          <p:nvPr/>
        </p:nvSpPr>
        <p:spPr>
          <a:xfrm>
            <a:off x="502918" y="2082640"/>
            <a:ext cx="3108962" cy="1726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0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050" dirty="0" err="1">
                <a:latin typeface="+mj-lt"/>
                <a:ea typeface="+mj-ea"/>
                <a:cs typeface="+mj-cs"/>
                <a:sym typeface="Helvetica"/>
              </a:rPr>
              <a:t>公式</a:t>
            </a:r>
            <a:r>
              <a:rPr sz="1050" dirty="0"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sz="1050" dirty="0"/>
              <a:t>/ </a:t>
            </a:r>
            <a:r>
              <a:rPr sz="1050" dirty="0" err="1">
                <a:latin typeface="+mj-lt"/>
                <a:ea typeface="+mj-ea"/>
                <a:cs typeface="+mj-cs"/>
                <a:sym typeface="Helvetica"/>
              </a:rPr>
              <a:t>伪代码</a:t>
            </a:r>
            <a:r>
              <a:rPr sz="1050" dirty="0"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sz="1050" dirty="0"/>
              <a:t>/ </a:t>
            </a:r>
            <a:r>
              <a:rPr sz="1050" dirty="0" err="1">
                <a:latin typeface="+mj-lt"/>
                <a:ea typeface="+mj-ea"/>
                <a:cs typeface="+mj-cs"/>
                <a:sym typeface="Helvetica"/>
              </a:rPr>
              <a:t>约束</a:t>
            </a:r>
            <a:endParaRPr sz="1050"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111" name="Rounded Rectangle 9"/>
          <p:cNvSpPr/>
          <p:nvPr/>
        </p:nvSpPr>
        <p:spPr>
          <a:xfrm>
            <a:off x="1024127" y="2516042"/>
            <a:ext cx="2194562" cy="555859"/>
          </a:xfrm>
          <a:prstGeom prst="roundRect">
            <a:avLst>
              <a:gd name="adj" fmla="val 9047"/>
            </a:avLst>
          </a:prstGeom>
          <a:solidFill>
            <a:srgbClr val="FFFFFF"/>
          </a:solidFill>
          <a:ln>
            <a:solidFill>
              <a:srgbClr val="B8D5D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2" name="TextBox 10"/>
          <p:cNvSpPr txBox="1"/>
          <p:nvPr/>
        </p:nvSpPr>
        <p:spPr>
          <a:xfrm>
            <a:off x="1024127" y="2678172"/>
            <a:ext cx="2194562" cy="2316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14000"/>
              </a:lnSpc>
              <a:defRPr sz="1100">
                <a:solidFill>
                  <a:srgbClr val="1F6F8B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r>
              <a:rPr sz="1400" dirty="0"/>
              <a:t>L = ‖F−F̂‖² + </a:t>
            </a:r>
            <a:r>
              <a:rPr sz="1400" dirty="0" err="1"/>
              <a:t>λR</a:t>
            </a:r>
            <a:r>
              <a:rPr sz="1400" dirty="0"/>
              <a:t>(θ)</a:t>
            </a:r>
          </a:p>
        </p:txBody>
      </p:sp>
      <p:sp>
        <p:nvSpPr>
          <p:cNvPr id="113" name="Rounded Rectangle 11"/>
          <p:cNvSpPr/>
          <p:nvPr/>
        </p:nvSpPr>
        <p:spPr>
          <a:xfrm>
            <a:off x="8516081" y="1298448"/>
            <a:ext cx="3108961" cy="1985210"/>
          </a:xfrm>
          <a:prstGeom prst="roundRect">
            <a:avLst>
              <a:gd name="adj" fmla="val 2533"/>
            </a:avLst>
          </a:prstGeom>
          <a:solidFill>
            <a:srgbClr val="F5F2FC"/>
          </a:solidFill>
          <a:ln>
            <a:solidFill>
              <a:srgbClr val="CCC0E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4" name="TextBox 12"/>
          <p:cNvSpPr txBox="1"/>
          <p:nvPr/>
        </p:nvSpPr>
        <p:spPr>
          <a:xfrm>
            <a:off x="8580090" y="1568292"/>
            <a:ext cx="3108961" cy="388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14000"/>
              </a:lnSpc>
              <a:defRPr sz="1400" b="1">
                <a:solidFill>
                  <a:srgbClr val="7A5CC4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b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2400" b="1" dirty="0" err="1">
                <a:latin typeface="+mj-lt"/>
                <a:ea typeface="+mj-ea"/>
                <a:cs typeface="+mj-cs"/>
                <a:sym typeface="Helvetica"/>
              </a:rPr>
              <a:t>代码仓库</a:t>
            </a:r>
            <a:endParaRPr sz="2400" b="1"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115" name="TextBox 13"/>
          <p:cNvSpPr txBox="1"/>
          <p:nvPr/>
        </p:nvSpPr>
        <p:spPr>
          <a:xfrm>
            <a:off x="8516081" y="2098836"/>
            <a:ext cx="3108961" cy="1726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0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050" dirty="0" err="1">
                <a:latin typeface="+mj-lt"/>
                <a:ea typeface="+mj-ea"/>
                <a:cs typeface="+mj-cs"/>
                <a:sym typeface="Helvetica"/>
              </a:rPr>
              <a:t>数千文件</a:t>
            </a:r>
            <a:r>
              <a:rPr sz="1050" dirty="0"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sz="1050" dirty="0"/>
              <a:t>/ </a:t>
            </a:r>
            <a:r>
              <a:rPr sz="1050" dirty="0" err="1">
                <a:latin typeface="+mj-lt"/>
                <a:ea typeface="+mj-ea"/>
                <a:cs typeface="+mj-cs"/>
                <a:sym typeface="Helvetica"/>
              </a:rPr>
              <a:t>上万符号</a:t>
            </a:r>
            <a:endParaRPr sz="1050"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116" name="Rounded Rectangle 14"/>
          <p:cNvSpPr/>
          <p:nvPr/>
        </p:nvSpPr>
        <p:spPr>
          <a:xfrm>
            <a:off x="8973281" y="2516042"/>
            <a:ext cx="2194561" cy="555859"/>
          </a:xfrm>
          <a:prstGeom prst="roundRect">
            <a:avLst>
              <a:gd name="adj" fmla="val 9047"/>
            </a:avLst>
          </a:prstGeom>
          <a:solidFill>
            <a:srgbClr val="FFFFFF"/>
          </a:solidFill>
          <a:ln>
            <a:solidFill>
              <a:srgbClr val="CCC0E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7" name="TextBox 15"/>
          <p:cNvSpPr txBox="1"/>
          <p:nvPr/>
        </p:nvSpPr>
        <p:spPr>
          <a:xfrm>
            <a:off x="8973281" y="2661628"/>
            <a:ext cx="2194561" cy="2646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14000"/>
              </a:lnSpc>
              <a:defRPr sz="1100">
                <a:solidFill>
                  <a:srgbClr val="7A5CC4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r>
              <a:rPr sz="1600" dirty="0"/>
              <a:t>def </a:t>
            </a:r>
            <a:r>
              <a:rPr sz="1600" dirty="0" err="1"/>
              <a:t>hybrid_loss</a:t>
            </a:r>
            <a:r>
              <a:rPr sz="1600" dirty="0"/>
              <a:t>(...)</a:t>
            </a:r>
          </a:p>
        </p:txBody>
      </p:sp>
      <p:sp>
        <p:nvSpPr>
          <p:cNvPr id="118" name="Connector 16"/>
          <p:cNvSpPr/>
          <p:nvPr/>
        </p:nvSpPr>
        <p:spPr>
          <a:xfrm>
            <a:off x="3767328" y="2291052"/>
            <a:ext cx="1999473" cy="1"/>
          </a:xfrm>
          <a:prstGeom prst="line">
            <a:avLst/>
          </a:prstGeom>
          <a:ln w="17780">
            <a:solidFill>
              <a:srgbClr val="D9564A"/>
            </a:solidFill>
            <a:prstDash val="dash"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19" name="Connector 17"/>
          <p:cNvSpPr/>
          <p:nvPr/>
        </p:nvSpPr>
        <p:spPr>
          <a:xfrm flipH="1" flipV="1">
            <a:off x="6425169" y="2291052"/>
            <a:ext cx="1999473" cy="1"/>
          </a:xfrm>
          <a:prstGeom prst="line">
            <a:avLst/>
          </a:prstGeom>
          <a:ln w="17780">
            <a:solidFill>
              <a:srgbClr val="D9564A"/>
            </a:solidFill>
            <a:prstDash val="dash"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20" name="Rounded Rectangle 18"/>
          <p:cNvSpPr/>
          <p:nvPr/>
        </p:nvSpPr>
        <p:spPr>
          <a:xfrm>
            <a:off x="5785088" y="1936002"/>
            <a:ext cx="621793" cy="62179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0320">
            <a:solidFill>
              <a:srgbClr val="D9564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1" name="TextBox 19"/>
          <p:cNvSpPr txBox="1"/>
          <p:nvPr/>
        </p:nvSpPr>
        <p:spPr>
          <a:xfrm>
            <a:off x="5773078" y="2093022"/>
            <a:ext cx="621793" cy="3308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14000"/>
              </a:lnSpc>
              <a:defRPr sz="2200">
                <a:solidFill>
                  <a:srgbClr val="D9564A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rPr sz="2000" dirty="0"/>
              <a:t>?</a:t>
            </a:r>
          </a:p>
        </p:txBody>
      </p:sp>
      <p:sp>
        <p:nvSpPr>
          <p:cNvPr id="122" name="TextBox 20"/>
          <p:cNvSpPr txBox="1"/>
          <p:nvPr/>
        </p:nvSpPr>
        <p:spPr>
          <a:xfrm>
            <a:off x="566927" y="3654230"/>
            <a:ext cx="11058116" cy="492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 b="1">
                <a:solidFill>
                  <a:srgbClr val="14181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 fontAlgn="ctr"/>
            <a:r>
              <a:rPr lang="zh-CN" altLang="zh-CN" sz="1600" dirty="0"/>
              <a:t>人工对照</a:t>
            </a:r>
            <a:r>
              <a:rPr lang="en-US" altLang="zh-CN" sz="1600" b="0" dirty="0"/>
              <a:t> / </a:t>
            </a:r>
            <a:r>
              <a:rPr lang="zh-CN" altLang="zh-CN" sz="1600" dirty="0"/>
              <a:t>静态规则</a:t>
            </a:r>
            <a:r>
              <a:rPr lang="en-US" altLang="zh-CN" sz="1600" dirty="0"/>
              <a:t> </a:t>
            </a:r>
            <a:r>
              <a:rPr lang="en-US" altLang="zh-CN" sz="1600" b="0" dirty="0"/>
              <a:t>/ </a:t>
            </a:r>
            <a:r>
              <a:rPr lang="zh-CN" altLang="zh-CN" sz="1600" dirty="0"/>
              <a:t>长上下文直接</a:t>
            </a:r>
            <a:r>
              <a:rPr lang="zh-CN" altLang="en-US" sz="1600" dirty="0"/>
              <a:t>问答 常见做法的共同问题：</a:t>
            </a:r>
            <a:endParaRPr lang="zh-CN" altLang="zh-CN" b="0" dirty="0"/>
          </a:p>
          <a:p>
            <a:pPr>
              <a:defRPr b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endParaRPr sz="1600" b="1"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123" name="Rounded Rectangle 21"/>
          <p:cNvSpPr/>
          <p:nvPr/>
        </p:nvSpPr>
        <p:spPr>
          <a:xfrm>
            <a:off x="566927" y="4157150"/>
            <a:ext cx="2641085" cy="1257301"/>
          </a:xfrm>
          <a:prstGeom prst="roundRect">
            <a:avLst>
              <a:gd name="adj" fmla="val 4000"/>
            </a:avLst>
          </a:prstGeom>
          <a:solidFill>
            <a:srgbClr val="FDF1F0"/>
          </a:solidFill>
          <a:ln>
            <a:solidFill>
              <a:srgbClr val="EEBDB8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124" name="TextBox 22"/>
          <p:cNvSpPr txBox="1"/>
          <p:nvPr/>
        </p:nvSpPr>
        <p:spPr>
          <a:xfrm>
            <a:off x="566928" y="4556411"/>
            <a:ext cx="2641084" cy="458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200">
                <a:solidFill>
                  <a:srgbClr val="D9564A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600" b="1">
                <a:latin typeface="+mj-lt"/>
                <a:ea typeface="+mj-ea"/>
                <a:cs typeface="+mj-cs"/>
                <a:sym typeface="Helvetica"/>
              </a:rPr>
              <a:t>结果不可定位</a:t>
            </a:r>
          </a:p>
          <a:p>
            <a:pPr algn="ctr">
              <a:lnSpc>
                <a:spcPct val="114000"/>
              </a:lnSpc>
              <a:defRPr sz="10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100">
                <a:latin typeface="+mj-lt"/>
                <a:ea typeface="+mj-ea"/>
                <a:cs typeface="+mj-cs"/>
                <a:sym typeface="Helvetica"/>
              </a:rPr>
              <a:t>没有精确原文与行号</a:t>
            </a:r>
          </a:p>
        </p:txBody>
      </p:sp>
      <p:sp>
        <p:nvSpPr>
          <p:cNvPr id="125" name="Rounded Rectangle 23"/>
          <p:cNvSpPr/>
          <p:nvPr/>
        </p:nvSpPr>
        <p:spPr>
          <a:xfrm>
            <a:off x="3372603" y="4157150"/>
            <a:ext cx="2641085" cy="1257301"/>
          </a:xfrm>
          <a:prstGeom prst="roundRect">
            <a:avLst>
              <a:gd name="adj" fmla="val 4000"/>
            </a:avLst>
          </a:prstGeom>
          <a:solidFill>
            <a:srgbClr val="FDF1F0"/>
          </a:solidFill>
          <a:ln>
            <a:solidFill>
              <a:srgbClr val="EEBDB8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126" name="TextBox 24"/>
          <p:cNvSpPr txBox="1"/>
          <p:nvPr/>
        </p:nvSpPr>
        <p:spPr>
          <a:xfrm>
            <a:off x="3372603" y="4556411"/>
            <a:ext cx="2641085" cy="458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200">
                <a:solidFill>
                  <a:srgbClr val="D9564A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600" b="1">
                <a:latin typeface="+mj-lt"/>
                <a:ea typeface="+mj-ea"/>
                <a:cs typeface="+mj-cs"/>
                <a:sym typeface="Helvetica"/>
              </a:rPr>
              <a:t>结果不可复核</a:t>
            </a:r>
          </a:p>
          <a:p>
            <a:pPr algn="ctr">
              <a:lnSpc>
                <a:spcPct val="114000"/>
              </a:lnSpc>
              <a:defRPr sz="10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100">
                <a:latin typeface="+mj-lt"/>
                <a:ea typeface="+mj-ea"/>
                <a:cs typeface="+mj-cs"/>
                <a:sym typeface="Helvetica"/>
              </a:rPr>
              <a:t>无法判断是否撞名</a:t>
            </a:r>
          </a:p>
        </p:txBody>
      </p:sp>
      <p:sp>
        <p:nvSpPr>
          <p:cNvPr id="127" name="Rounded Rectangle 25"/>
          <p:cNvSpPr/>
          <p:nvPr/>
        </p:nvSpPr>
        <p:spPr>
          <a:xfrm>
            <a:off x="6178281" y="4157150"/>
            <a:ext cx="2641084" cy="1257301"/>
          </a:xfrm>
          <a:prstGeom prst="roundRect">
            <a:avLst>
              <a:gd name="adj" fmla="val 4000"/>
            </a:avLst>
          </a:prstGeom>
          <a:solidFill>
            <a:srgbClr val="FDF1F0"/>
          </a:solidFill>
          <a:ln>
            <a:solidFill>
              <a:srgbClr val="EEBDB8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128" name="TextBox 26"/>
          <p:cNvSpPr txBox="1"/>
          <p:nvPr/>
        </p:nvSpPr>
        <p:spPr>
          <a:xfrm>
            <a:off x="6178281" y="4556411"/>
            <a:ext cx="2641084" cy="458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200">
                <a:solidFill>
                  <a:srgbClr val="D9564A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600" b="1" dirty="0" err="1">
                <a:latin typeface="+mj-lt"/>
                <a:ea typeface="+mj-ea"/>
                <a:cs typeface="+mj-cs"/>
                <a:sym typeface="Helvetica"/>
              </a:rPr>
              <a:t>结果不可维护</a:t>
            </a:r>
            <a:endParaRPr sz="1600" b="1" dirty="0">
              <a:latin typeface="+mj-lt"/>
              <a:ea typeface="+mj-ea"/>
              <a:cs typeface="+mj-cs"/>
              <a:sym typeface="Helvetica"/>
            </a:endParaRPr>
          </a:p>
          <a:p>
            <a:pPr algn="ctr">
              <a:lnSpc>
                <a:spcPct val="114000"/>
              </a:lnSpc>
              <a:defRPr sz="10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100" dirty="0" err="1">
                <a:latin typeface="+mj-lt"/>
                <a:ea typeface="+mj-ea"/>
                <a:cs typeface="+mj-cs"/>
                <a:sym typeface="Helvetica"/>
              </a:rPr>
              <a:t>代码</a:t>
            </a:r>
            <a:r>
              <a:rPr lang="zh-CN" altLang="en-US" sz="1100" dirty="0">
                <a:latin typeface="+mj-lt"/>
                <a:ea typeface="+mj-ea"/>
                <a:cs typeface="+mj-cs"/>
                <a:sym typeface="Helvetica"/>
              </a:rPr>
              <a:t>修改后</a:t>
            </a:r>
            <a:r>
              <a:rPr sz="1100" dirty="0" err="1">
                <a:latin typeface="+mj-lt"/>
                <a:ea typeface="+mj-ea"/>
                <a:cs typeface="+mj-cs"/>
                <a:sym typeface="Helvetica"/>
              </a:rPr>
              <a:t>映射失真</a:t>
            </a:r>
            <a:endParaRPr sz="1100"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129" name="Rounded Rectangle 27"/>
          <p:cNvSpPr/>
          <p:nvPr/>
        </p:nvSpPr>
        <p:spPr>
          <a:xfrm>
            <a:off x="8983957" y="4157150"/>
            <a:ext cx="2641085" cy="1257301"/>
          </a:xfrm>
          <a:prstGeom prst="roundRect">
            <a:avLst>
              <a:gd name="adj" fmla="val 4000"/>
            </a:avLst>
          </a:prstGeom>
          <a:solidFill>
            <a:srgbClr val="FDF1F0"/>
          </a:solidFill>
          <a:ln>
            <a:solidFill>
              <a:srgbClr val="EEBDB8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130" name="TextBox 28"/>
          <p:cNvSpPr txBox="1"/>
          <p:nvPr/>
        </p:nvSpPr>
        <p:spPr>
          <a:xfrm>
            <a:off x="8983957" y="4556411"/>
            <a:ext cx="2641085" cy="458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200">
                <a:solidFill>
                  <a:srgbClr val="D9564A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600" b="1">
                <a:latin typeface="+mj-lt"/>
                <a:ea typeface="+mj-ea"/>
                <a:cs typeface="+mj-cs"/>
                <a:sym typeface="Helvetica"/>
              </a:rPr>
              <a:t>结果不可共享</a:t>
            </a:r>
          </a:p>
          <a:p>
            <a:pPr algn="ctr">
              <a:lnSpc>
                <a:spcPct val="114000"/>
              </a:lnSpc>
              <a:defRPr sz="10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100">
                <a:latin typeface="+mj-lt"/>
                <a:ea typeface="+mj-ea"/>
                <a:cs typeface="+mj-cs"/>
                <a:sym typeface="Helvetica"/>
              </a:rPr>
              <a:t>判断只有自己知道</a:t>
            </a:r>
          </a:p>
        </p:txBody>
      </p:sp>
      <p:sp>
        <p:nvSpPr>
          <p:cNvPr id="131" name="Rounded Rectangle 29"/>
          <p:cNvSpPr/>
          <p:nvPr/>
        </p:nvSpPr>
        <p:spPr>
          <a:xfrm>
            <a:off x="566927" y="5665911"/>
            <a:ext cx="11058116" cy="661737"/>
          </a:xfrm>
          <a:prstGeom prst="roundRect">
            <a:avLst>
              <a:gd name="adj" fmla="val 7600"/>
            </a:avLst>
          </a:prstGeom>
          <a:solidFill>
            <a:srgbClr val="F0F7F9"/>
          </a:solidFill>
          <a:ln>
            <a:solidFill>
              <a:srgbClr val="B8D5D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2" name="TextBox 30"/>
          <p:cNvSpPr txBox="1"/>
          <p:nvPr/>
        </p:nvSpPr>
        <p:spPr>
          <a:xfrm>
            <a:off x="566927" y="5799450"/>
            <a:ext cx="11058116" cy="3946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300">
                <a:solidFill>
                  <a:srgbClr val="1F6F8B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2400" dirty="0" err="1"/>
              <a:t>TraceLab</a:t>
            </a:r>
            <a:r>
              <a:rPr sz="2400" dirty="0"/>
              <a:t> </a:t>
            </a:r>
            <a:r>
              <a:rPr sz="2400" b="1" dirty="0" err="1">
                <a:latin typeface="+mj-lt"/>
                <a:ea typeface="+mj-ea"/>
                <a:cs typeface="+mj-cs"/>
                <a:sym typeface="Helvetica"/>
              </a:rPr>
              <a:t>要解决的正是这四点</a:t>
            </a:r>
            <a:endParaRPr sz="2400" b="1"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37" name="Rounded Rectangle 10">
            <a:extLst>
              <a:ext uri="{FF2B5EF4-FFF2-40B4-BE49-F238E27FC236}">
                <a16:creationId xmlns:a16="http://schemas.microsoft.com/office/drawing/2014/main" id="{B2B23401-D341-B951-379F-0B9ED5400B87}"/>
              </a:ext>
            </a:extLst>
          </p:cNvPr>
          <p:cNvSpPr/>
          <p:nvPr/>
        </p:nvSpPr>
        <p:spPr>
          <a:xfrm>
            <a:off x="4434998" y="2762267"/>
            <a:ext cx="3321973" cy="787080"/>
          </a:xfrm>
          <a:prstGeom prst="roundRect">
            <a:avLst>
              <a:gd name="adj" fmla="val 7535"/>
            </a:avLst>
          </a:prstGeom>
          <a:solidFill>
            <a:srgbClr val="FFFFFF"/>
          </a:solidFill>
          <a:ln w="9525">
            <a:solidFill>
              <a:srgbClr val="DF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6743" hangingPunct="1"/>
            <a:endParaRPr sz="1798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1" name="TextBox 13">
            <a:extLst>
              <a:ext uri="{FF2B5EF4-FFF2-40B4-BE49-F238E27FC236}">
                <a16:creationId xmlns:a16="http://schemas.microsoft.com/office/drawing/2014/main" id="{DC0287F7-58FC-2B8E-374B-D432DC94D51D}"/>
              </a:ext>
            </a:extLst>
          </p:cNvPr>
          <p:cNvSpPr txBox="1"/>
          <p:nvPr/>
        </p:nvSpPr>
        <p:spPr>
          <a:xfrm>
            <a:off x="4809315" y="2929344"/>
            <a:ext cx="2652166" cy="2093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defTabSz="456743" hangingPunct="1">
              <a:lnSpc>
                <a:spcPts val="1405"/>
              </a:lnSpc>
            </a:pPr>
            <a:r>
              <a:rPr sz="1124" b="1" kern="1200" dirty="0" err="1">
                <a:solidFill>
                  <a:srgbClr val="14181F"/>
                </a:solidFill>
                <a:latin typeface="Hiragino Sans GB W6"/>
                <a:ea typeface="Hiragino Sans GB W6"/>
                <a:cs typeface="Hiragino Sans GB W6"/>
              </a:rPr>
              <a:t>关键词匹配，看着有结果实则不可信</a:t>
            </a:r>
            <a:endParaRPr sz="1124" b="1" kern="1200" dirty="0">
              <a:solidFill>
                <a:srgbClr val="14181F"/>
              </a:solidFill>
              <a:latin typeface="Hiragino Sans GB W6"/>
              <a:ea typeface="Hiragino Sans GB W6"/>
              <a:cs typeface="Hiragino Sans GB W6"/>
            </a:endParaRPr>
          </a:p>
        </p:txBody>
      </p:sp>
      <p:sp>
        <p:nvSpPr>
          <p:cNvPr id="43" name="TextBox 14">
            <a:extLst>
              <a:ext uri="{FF2B5EF4-FFF2-40B4-BE49-F238E27FC236}">
                <a16:creationId xmlns:a16="http://schemas.microsoft.com/office/drawing/2014/main" id="{F69989F3-DFBA-3184-4C98-8CBB7946DBE2}"/>
              </a:ext>
            </a:extLst>
          </p:cNvPr>
          <p:cNvSpPr txBox="1"/>
          <p:nvPr/>
        </p:nvSpPr>
        <p:spPr>
          <a:xfrm>
            <a:off x="4625299" y="3187343"/>
            <a:ext cx="3131672" cy="41067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defTabSz="456743" hangingPunct="1">
              <a:lnSpc>
                <a:spcPts val="1616"/>
              </a:lnSpc>
            </a:pPr>
            <a:r>
              <a:rPr sz="974" kern="1200" dirty="0" err="1">
                <a:solidFill>
                  <a:srgbClr val="4A5464"/>
                </a:solidFill>
                <a:latin typeface="Hiragino Sans GB W6"/>
                <a:ea typeface="Hiragino Sans GB W6"/>
                <a:cs typeface="Hiragino Sans GB W6"/>
              </a:rPr>
              <a:t>论文写</a:t>
            </a:r>
            <a:r>
              <a:rPr sz="974" kern="1200" dirty="0">
                <a:solidFill>
                  <a:srgbClr val="4A5464"/>
                </a:solidFill>
                <a:latin typeface="Hiragino Sans GB W6"/>
                <a:ea typeface="Hiragino Sans GB W6"/>
                <a:cs typeface="Hiragino Sans GB W6"/>
              </a:rPr>
              <a:t> </a:t>
            </a:r>
            <a:r>
              <a:rPr sz="974" kern="1200" dirty="0" err="1">
                <a:solidFill>
                  <a:srgbClr val="4A5464"/>
                </a:solidFill>
                <a:latin typeface="Hiragino Sans GB W6"/>
                <a:ea typeface="Hiragino Sans GB W6"/>
                <a:cs typeface="Hiragino Sans GB W6"/>
              </a:rPr>
              <a:t>loss、代码里有个函数叫</a:t>
            </a:r>
            <a:r>
              <a:rPr sz="974" kern="1200" dirty="0">
                <a:solidFill>
                  <a:srgbClr val="4A5464"/>
                </a:solidFill>
                <a:latin typeface="Hiragino Sans GB W6"/>
                <a:ea typeface="Hiragino Sans GB W6"/>
                <a:cs typeface="Hiragino Sans GB W6"/>
              </a:rPr>
              <a:t> </a:t>
            </a:r>
            <a:r>
              <a:rPr sz="860" kern="1200" dirty="0">
                <a:solidFill>
                  <a:srgbClr val="4A5464"/>
                </a:solidFill>
                <a:latin typeface="Consolas"/>
                <a:ea typeface="NSimSun"/>
                <a:cs typeface="NSimSun"/>
              </a:rPr>
              <a:t>loss</a:t>
            </a:r>
            <a:r>
              <a:rPr sz="974" kern="1200" dirty="0">
                <a:solidFill>
                  <a:srgbClr val="4A5464"/>
                </a:solidFill>
                <a:latin typeface="Hiragino Sans GB W6"/>
                <a:ea typeface="Hiragino Sans GB W6"/>
                <a:cs typeface="Hiragino Sans GB W6"/>
              </a:rPr>
              <a:t>，</a:t>
            </a:r>
            <a:r>
              <a:rPr lang="zh-CN" altLang="en-US" sz="974" kern="1200" dirty="0">
                <a:solidFill>
                  <a:srgbClr val="4A5464"/>
                </a:solidFill>
                <a:latin typeface="Hiragino Sans GB W6"/>
                <a:ea typeface="Hiragino Sans GB W6"/>
                <a:cs typeface="Hiragino Sans GB W6"/>
              </a:rPr>
              <a:t>不能贸然连线</a:t>
            </a:r>
            <a:endParaRPr sz="974" kern="1200" dirty="0">
              <a:solidFill>
                <a:srgbClr val="4A5464"/>
              </a:solidFill>
              <a:latin typeface="Hiragino Sans GB W6"/>
              <a:ea typeface="Hiragino Sans GB W6"/>
              <a:cs typeface="Hiragino Sans GB W6"/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Rectangle 2"/>
          <p:cNvSpPr/>
          <p:nvPr/>
        </p:nvSpPr>
        <p:spPr>
          <a:xfrm>
            <a:off x="-1" y="0"/>
            <a:ext cx="56695" cy="6858000"/>
          </a:xfrm>
          <a:prstGeom prst="rect">
            <a:avLst/>
          </a:prstGeom>
          <a:solidFill>
            <a:srgbClr val="1F6F8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6" name="TextBox 3"/>
          <p:cNvSpPr txBox="1"/>
          <p:nvPr/>
        </p:nvSpPr>
        <p:spPr>
          <a:xfrm>
            <a:off x="566927" y="384047"/>
            <a:ext cx="1105811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1F6F8B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t>SOLUTION</a:t>
            </a:r>
          </a:p>
        </p:txBody>
      </p:sp>
      <p:sp>
        <p:nvSpPr>
          <p:cNvPr id="137" name="TextBox 4"/>
          <p:cNvSpPr txBox="1"/>
          <p:nvPr/>
        </p:nvSpPr>
        <p:spPr>
          <a:xfrm>
            <a:off x="566927" y="603504"/>
            <a:ext cx="11058116" cy="384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2500">
                <a:solidFill>
                  <a:srgbClr val="14181F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b="1" dirty="0" err="1"/>
              <a:t>解决办法</a:t>
            </a:r>
            <a:r>
              <a:rPr b="1" dirty="0" err="1">
                <a:latin typeface="+mj-lt"/>
                <a:ea typeface="+mj-ea"/>
                <a:cs typeface="+mj-cs"/>
                <a:sym typeface="Helvetica"/>
              </a:rPr>
              <a:t>：每条追溯都携带双侧原文</a:t>
            </a:r>
            <a:endParaRPr b="1"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138" name="TextBox 5"/>
          <p:cNvSpPr txBox="1"/>
          <p:nvPr/>
        </p:nvSpPr>
        <p:spPr>
          <a:xfrm>
            <a:off x="11231850" y="6473952"/>
            <a:ext cx="4572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9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lvl1pPr>
          </a:lstStyle>
          <a:p>
            <a:r>
              <a:t>03</a:t>
            </a:r>
          </a:p>
        </p:txBody>
      </p:sp>
      <p:sp>
        <p:nvSpPr>
          <p:cNvPr id="139" name="Rounded Rectangle 6"/>
          <p:cNvSpPr/>
          <p:nvPr/>
        </p:nvSpPr>
        <p:spPr>
          <a:xfrm>
            <a:off x="566927" y="1298447"/>
            <a:ext cx="3503159" cy="991334"/>
          </a:xfrm>
          <a:prstGeom prst="roundRect">
            <a:avLst>
              <a:gd name="adj" fmla="val 5073"/>
            </a:avLst>
          </a:prstGeom>
          <a:solidFill>
            <a:srgbClr val="F0F7F9"/>
          </a:solidFill>
          <a:ln w="12700">
            <a:solidFill>
              <a:srgbClr val="B8D5D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0" name="TextBox 7"/>
          <p:cNvSpPr txBox="1"/>
          <p:nvPr/>
        </p:nvSpPr>
        <p:spPr>
          <a:xfrm>
            <a:off x="627380" y="1567417"/>
            <a:ext cx="3356855" cy="453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300">
                <a:solidFill>
                  <a:srgbClr val="1F6F8B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600" b="1" dirty="0"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sz="1600" dirty="0"/>
              <a:t>Agent </a:t>
            </a:r>
            <a:r>
              <a:rPr sz="1600" b="1" dirty="0" err="1">
                <a:latin typeface="+mj-lt"/>
                <a:ea typeface="+mj-ea"/>
                <a:cs typeface="+mj-cs"/>
                <a:sym typeface="Helvetica"/>
              </a:rPr>
              <a:t>判断语义</a:t>
            </a:r>
            <a:endParaRPr sz="1600" b="1" dirty="0">
              <a:latin typeface="+mj-lt"/>
              <a:ea typeface="+mj-ea"/>
              <a:cs typeface="+mj-cs"/>
              <a:sym typeface="Helvetica"/>
            </a:endParaRPr>
          </a:p>
          <a:p>
            <a:pPr algn="ctr">
              <a:lnSpc>
                <a:spcPct val="114000"/>
              </a:lnSpc>
              <a:defRPr sz="9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050" dirty="0" err="1">
                <a:latin typeface="+mj-lt"/>
                <a:ea typeface="+mj-ea"/>
                <a:cs typeface="+mj-cs"/>
                <a:sym typeface="Helvetica"/>
              </a:rPr>
              <a:t>识别贡献</a:t>
            </a:r>
            <a:r>
              <a:rPr sz="1050" dirty="0"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sz="1050" dirty="0"/>
              <a:t>· </a:t>
            </a:r>
            <a:r>
              <a:rPr sz="1050" dirty="0" err="1">
                <a:latin typeface="+mj-lt"/>
                <a:ea typeface="+mj-ea"/>
                <a:cs typeface="+mj-cs"/>
                <a:sym typeface="Helvetica"/>
              </a:rPr>
              <a:t>理解公式</a:t>
            </a:r>
            <a:r>
              <a:rPr sz="1050" dirty="0"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sz="1050" dirty="0"/>
              <a:t>· </a:t>
            </a:r>
            <a:r>
              <a:rPr sz="1050" dirty="0" err="1">
                <a:latin typeface="+mj-lt"/>
                <a:ea typeface="+mj-ea"/>
                <a:cs typeface="+mj-cs"/>
                <a:sym typeface="Helvetica"/>
              </a:rPr>
              <a:t>判断对应</a:t>
            </a:r>
            <a:endParaRPr sz="1050"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141" name="Rounded Rectangle 8"/>
          <p:cNvSpPr/>
          <p:nvPr/>
        </p:nvSpPr>
        <p:spPr>
          <a:xfrm>
            <a:off x="4344406" y="1298447"/>
            <a:ext cx="3503159" cy="991334"/>
          </a:xfrm>
          <a:prstGeom prst="roundRect">
            <a:avLst>
              <a:gd name="adj" fmla="val 5073"/>
            </a:avLst>
          </a:prstGeom>
          <a:solidFill>
            <a:srgbClr val="EFF9F6"/>
          </a:solidFill>
          <a:ln w="12700">
            <a:solidFill>
              <a:srgbClr val="B3DED4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2" name="TextBox 9"/>
          <p:cNvSpPr txBox="1"/>
          <p:nvPr/>
        </p:nvSpPr>
        <p:spPr>
          <a:xfrm>
            <a:off x="4417557" y="1566904"/>
            <a:ext cx="3356855" cy="4544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300">
                <a:solidFill>
                  <a:srgbClr val="1F8F78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600" b="1" dirty="0" err="1">
                <a:latin typeface="+mj-lt"/>
                <a:ea typeface="+mj-ea"/>
                <a:cs typeface="+mj-cs"/>
                <a:sym typeface="Helvetica"/>
              </a:rPr>
              <a:t>本地校验事实</a:t>
            </a:r>
            <a:endParaRPr sz="1600" b="1" dirty="0">
              <a:latin typeface="+mj-lt"/>
              <a:ea typeface="+mj-ea"/>
              <a:cs typeface="+mj-cs"/>
              <a:sym typeface="Helvetica"/>
            </a:endParaRPr>
          </a:p>
          <a:p>
            <a:pPr algn="ctr">
              <a:lnSpc>
                <a:spcPct val="114000"/>
              </a:lnSpc>
              <a:defRPr sz="9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050" dirty="0"/>
              <a:t>quote · occurrence · hash · revision</a:t>
            </a:r>
          </a:p>
        </p:txBody>
      </p:sp>
      <p:sp>
        <p:nvSpPr>
          <p:cNvPr id="143" name="Connector 10"/>
          <p:cNvSpPr/>
          <p:nvPr/>
        </p:nvSpPr>
        <p:spPr>
          <a:xfrm>
            <a:off x="4106662" y="1794113"/>
            <a:ext cx="201169" cy="1"/>
          </a:xfrm>
          <a:prstGeom prst="line">
            <a:avLst/>
          </a:prstGeom>
          <a:ln w="12700">
            <a:solidFill>
              <a:srgbClr val="8B95A5"/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44" name="Rounded Rectangle 11"/>
          <p:cNvSpPr/>
          <p:nvPr/>
        </p:nvSpPr>
        <p:spPr>
          <a:xfrm>
            <a:off x="8121884" y="1298447"/>
            <a:ext cx="3503158" cy="991334"/>
          </a:xfrm>
          <a:prstGeom prst="roundRect">
            <a:avLst>
              <a:gd name="adj" fmla="val 5073"/>
            </a:avLst>
          </a:prstGeom>
          <a:solidFill>
            <a:srgbClr val="F5F2FC"/>
          </a:solidFill>
          <a:ln w="12700">
            <a:solidFill>
              <a:srgbClr val="CCC0E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5" name="TextBox 12"/>
          <p:cNvSpPr txBox="1"/>
          <p:nvPr/>
        </p:nvSpPr>
        <p:spPr>
          <a:xfrm>
            <a:off x="8195036" y="1567417"/>
            <a:ext cx="3356855" cy="453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300">
                <a:solidFill>
                  <a:srgbClr val="7A5CC4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600" b="1" dirty="0" err="1"/>
              <a:t>人工保留决策</a:t>
            </a:r>
            <a:endParaRPr sz="1600" b="1" dirty="0">
              <a:latin typeface="+mj-lt"/>
              <a:ea typeface="+mj-ea"/>
              <a:cs typeface="+mj-cs"/>
              <a:sym typeface="Helvetica"/>
            </a:endParaRPr>
          </a:p>
          <a:p>
            <a:pPr algn="ctr">
              <a:lnSpc>
                <a:spcPct val="114000"/>
              </a:lnSpc>
              <a:defRPr sz="9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050" dirty="0" err="1">
                <a:latin typeface="+mj-lt"/>
                <a:ea typeface="+mj-ea"/>
                <a:cs typeface="+mj-cs"/>
                <a:sym typeface="Helvetica"/>
              </a:rPr>
              <a:t>只产</a:t>
            </a:r>
            <a:r>
              <a:rPr sz="1050" dirty="0"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sz="1050" dirty="0"/>
              <a:t>proposed · </a:t>
            </a:r>
            <a:r>
              <a:rPr sz="1050" dirty="0" err="1">
                <a:latin typeface="+mj-lt"/>
                <a:ea typeface="+mj-ea"/>
                <a:cs typeface="+mj-cs"/>
                <a:sym typeface="Helvetica"/>
              </a:rPr>
              <a:t>人工确认写操作</a:t>
            </a:r>
            <a:endParaRPr sz="1050"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146" name="Connector 13"/>
          <p:cNvSpPr/>
          <p:nvPr/>
        </p:nvSpPr>
        <p:spPr>
          <a:xfrm>
            <a:off x="7884139" y="1794113"/>
            <a:ext cx="201169" cy="1"/>
          </a:xfrm>
          <a:prstGeom prst="line">
            <a:avLst/>
          </a:prstGeom>
          <a:ln w="12700">
            <a:solidFill>
              <a:srgbClr val="8B95A5"/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47" name="Rounded Rectangle 14"/>
          <p:cNvSpPr/>
          <p:nvPr/>
        </p:nvSpPr>
        <p:spPr>
          <a:xfrm>
            <a:off x="566927" y="2652463"/>
            <a:ext cx="1614420" cy="1208943"/>
          </a:xfrm>
          <a:prstGeom prst="roundRect">
            <a:avLst>
              <a:gd name="adj" fmla="val 4160"/>
            </a:avLst>
          </a:prstGeom>
          <a:solidFill>
            <a:srgbClr val="F0F7F9"/>
          </a:solidFill>
          <a:ln w="12700">
            <a:solidFill>
              <a:srgbClr val="B8D5D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8" name="TextBox 15"/>
          <p:cNvSpPr txBox="1"/>
          <p:nvPr/>
        </p:nvSpPr>
        <p:spPr>
          <a:xfrm>
            <a:off x="640080" y="3047807"/>
            <a:ext cx="1468116" cy="418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100">
                <a:solidFill>
                  <a:srgbClr val="1F6F8B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400" b="1" dirty="0" err="1">
                <a:latin typeface="+mj-lt"/>
                <a:ea typeface="+mj-ea"/>
                <a:cs typeface="+mj-cs"/>
                <a:sym typeface="Helvetica"/>
              </a:rPr>
              <a:t>论文</a:t>
            </a:r>
            <a:r>
              <a:rPr sz="1400" b="1" dirty="0"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sz="1400" dirty="0"/>
              <a:t>PDF</a:t>
            </a:r>
          </a:p>
          <a:p>
            <a:pPr algn="ctr">
              <a:lnSpc>
                <a:spcPct val="114000"/>
              </a:lnSpc>
              <a:defRPr sz="9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050" dirty="0" err="1"/>
              <a:t>MinerU</a:t>
            </a:r>
            <a:r>
              <a:rPr sz="1050" dirty="0"/>
              <a:t> </a:t>
            </a:r>
            <a:r>
              <a:rPr sz="1050" dirty="0" err="1">
                <a:latin typeface="+mj-lt"/>
                <a:ea typeface="+mj-ea"/>
                <a:cs typeface="+mj-cs"/>
                <a:sym typeface="Helvetica"/>
              </a:rPr>
              <a:t>结构化解析</a:t>
            </a:r>
            <a:endParaRPr sz="1050"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149" name="Rounded Rectangle 16"/>
          <p:cNvSpPr/>
          <p:nvPr/>
        </p:nvSpPr>
        <p:spPr>
          <a:xfrm>
            <a:off x="2455666" y="2652463"/>
            <a:ext cx="1614420" cy="1208943"/>
          </a:xfrm>
          <a:prstGeom prst="roundRect">
            <a:avLst>
              <a:gd name="adj" fmla="val 4160"/>
            </a:avLst>
          </a:prstGeom>
          <a:solidFill>
            <a:srgbClr val="FFFFFF"/>
          </a:solidFill>
          <a:ln w="12700">
            <a:solidFill>
              <a:srgbClr val="DFE4EC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50" name="TextBox 17"/>
          <p:cNvSpPr txBox="1"/>
          <p:nvPr/>
        </p:nvSpPr>
        <p:spPr>
          <a:xfrm>
            <a:off x="2528819" y="3049154"/>
            <a:ext cx="1468116" cy="41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100">
                <a:solidFill>
                  <a:srgbClr val="14181F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400" b="1" dirty="0" err="1">
                <a:latin typeface="+mj-lt"/>
                <a:ea typeface="+mj-ea"/>
                <a:cs typeface="+mj-cs"/>
                <a:sym typeface="Helvetica"/>
              </a:rPr>
              <a:t>追溯</a:t>
            </a:r>
            <a:r>
              <a:rPr sz="1400" b="1" dirty="0"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sz="1400" b="1" dirty="0" err="1">
                <a:latin typeface="+mj-lt"/>
                <a:ea typeface="+mj-ea"/>
                <a:cs typeface="+mj-cs"/>
                <a:sym typeface="Helvetica"/>
              </a:rPr>
              <a:t>协调器</a:t>
            </a:r>
            <a:endParaRPr sz="1400" b="1" dirty="0">
              <a:latin typeface="+mj-lt"/>
              <a:ea typeface="+mj-ea"/>
              <a:cs typeface="+mj-cs"/>
              <a:sym typeface="Helvetica"/>
            </a:endParaRPr>
          </a:p>
          <a:p>
            <a:pPr algn="ctr">
              <a:lnSpc>
                <a:spcPct val="114000"/>
              </a:lnSpc>
              <a:defRPr sz="9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050" dirty="0" err="1">
                <a:latin typeface="+mj-lt"/>
                <a:ea typeface="+mj-ea"/>
                <a:cs typeface="+mj-cs"/>
                <a:sym typeface="Helvetica"/>
              </a:rPr>
              <a:t>冻结快照</a:t>
            </a:r>
            <a:endParaRPr sz="1050"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151" name="Connector 18"/>
          <p:cNvSpPr/>
          <p:nvPr/>
        </p:nvSpPr>
        <p:spPr>
          <a:xfrm>
            <a:off x="2217922" y="3256934"/>
            <a:ext cx="201169" cy="1"/>
          </a:xfrm>
          <a:prstGeom prst="line">
            <a:avLst/>
          </a:prstGeom>
          <a:ln w="12700">
            <a:solidFill>
              <a:srgbClr val="8B95A5"/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52" name="Rounded Rectangle 19"/>
          <p:cNvSpPr/>
          <p:nvPr/>
        </p:nvSpPr>
        <p:spPr>
          <a:xfrm>
            <a:off x="4344406" y="2652463"/>
            <a:ext cx="1614420" cy="1208943"/>
          </a:xfrm>
          <a:prstGeom prst="roundRect">
            <a:avLst>
              <a:gd name="adj" fmla="val 4160"/>
            </a:avLst>
          </a:prstGeom>
          <a:solidFill>
            <a:srgbClr val="FDF8EC"/>
          </a:solidFill>
          <a:ln w="12700">
            <a:solidFill>
              <a:srgbClr val="E9D29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53" name="TextBox 20"/>
          <p:cNvSpPr txBox="1"/>
          <p:nvPr/>
        </p:nvSpPr>
        <p:spPr>
          <a:xfrm>
            <a:off x="4417557" y="3049154"/>
            <a:ext cx="1468116" cy="41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100">
                <a:solidFill>
                  <a:srgbClr val="D99B06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400" b="1" dirty="0" err="1">
                <a:latin typeface="+mj-lt"/>
                <a:ea typeface="+mj-ea"/>
                <a:cs typeface="+mj-cs"/>
                <a:sym typeface="Helvetica"/>
              </a:rPr>
              <a:t>追溯</a:t>
            </a:r>
            <a:r>
              <a:rPr sz="1400" b="1" dirty="0"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sz="1400" dirty="0"/>
              <a:t>Agent</a:t>
            </a:r>
          </a:p>
          <a:p>
            <a:pPr algn="ctr">
              <a:lnSpc>
                <a:spcPct val="114000"/>
              </a:lnSpc>
              <a:defRPr sz="9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050" dirty="0" err="1">
                <a:latin typeface="+mj-lt"/>
                <a:ea typeface="+mj-ea"/>
                <a:cs typeface="+mj-cs"/>
                <a:sym typeface="Helvetica"/>
              </a:rPr>
              <a:t>四阶段工作流</a:t>
            </a:r>
            <a:endParaRPr sz="1050"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154" name="Connector 21"/>
          <p:cNvSpPr/>
          <p:nvPr/>
        </p:nvSpPr>
        <p:spPr>
          <a:xfrm>
            <a:off x="4106662" y="3256934"/>
            <a:ext cx="201169" cy="1"/>
          </a:xfrm>
          <a:prstGeom prst="line">
            <a:avLst/>
          </a:prstGeom>
          <a:ln w="12700">
            <a:solidFill>
              <a:srgbClr val="8B95A5"/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55" name="Rounded Rectangle 22"/>
          <p:cNvSpPr/>
          <p:nvPr/>
        </p:nvSpPr>
        <p:spPr>
          <a:xfrm>
            <a:off x="6233145" y="2652463"/>
            <a:ext cx="1614420" cy="1208943"/>
          </a:xfrm>
          <a:prstGeom prst="roundRect">
            <a:avLst>
              <a:gd name="adj" fmla="val 4160"/>
            </a:avLst>
          </a:prstGeom>
          <a:solidFill>
            <a:srgbClr val="EFF9F6"/>
          </a:solidFill>
          <a:ln w="12700">
            <a:solidFill>
              <a:srgbClr val="B3DED4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56" name="TextBox 23"/>
          <p:cNvSpPr txBox="1"/>
          <p:nvPr/>
        </p:nvSpPr>
        <p:spPr>
          <a:xfrm>
            <a:off x="6306296" y="3049154"/>
            <a:ext cx="1468116" cy="41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100">
                <a:solidFill>
                  <a:srgbClr val="1F8F78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400" b="1" dirty="0" err="1">
                <a:latin typeface="+mj-lt"/>
                <a:ea typeface="+mj-ea"/>
                <a:cs typeface="+mj-cs"/>
                <a:sym typeface="Helvetica"/>
              </a:rPr>
              <a:t>证据校验</a:t>
            </a:r>
            <a:endParaRPr sz="1400" b="1" dirty="0">
              <a:latin typeface="+mj-lt"/>
              <a:ea typeface="+mj-ea"/>
              <a:cs typeface="+mj-cs"/>
              <a:sym typeface="Helvetica"/>
            </a:endParaRPr>
          </a:p>
          <a:p>
            <a:pPr algn="ctr">
              <a:lnSpc>
                <a:spcPct val="114000"/>
              </a:lnSpc>
              <a:defRPr sz="9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zh-CN" altLang="en-US" sz="1050" dirty="0">
                <a:latin typeface="+mj-lt"/>
                <a:ea typeface="+mj-ea"/>
                <a:cs typeface="+mj-cs"/>
                <a:sym typeface="Helvetica"/>
              </a:rPr>
              <a:t>未通过则废弃</a:t>
            </a:r>
            <a:endParaRPr sz="1050"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157" name="Connector 24"/>
          <p:cNvSpPr/>
          <p:nvPr/>
        </p:nvSpPr>
        <p:spPr>
          <a:xfrm>
            <a:off x="5995401" y="3256934"/>
            <a:ext cx="201169" cy="1"/>
          </a:xfrm>
          <a:prstGeom prst="line">
            <a:avLst/>
          </a:prstGeom>
          <a:ln w="12700">
            <a:solidFill>
              <a:srgbClr val="8B95A5"/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58" name="Rounded Rectangle 25"/>
          <p:cNvSpPr/>
          <p:nvPr/>
        </p:nvSpPr>
        <p:spPr>
          <a:xfrm>
            <a:off x="8121884" y="2652463"/>
            <a:ext cx="1614420" cy="1208943"/>
          </a:xfrm>
          <a:prstGeom prst="roundRect">
            <a:avLst>
              <a:gd name="adj" fmla="val 4160"/>
            </a:avLst>
          </a:prstGeom>
          <a:solidFill>
            <a:srgbClr val="FFFFFF"/>
          </a:solidFill>
          <a:ln w="12700">
            <a:solidFill>
              <a:srgbClr val="DFE4EC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59" name="TextBox 26"/>
          <p:cNvSpPr txBox="1"/>
          <p:nvPr/>
        </p:nvSpPr>
        <p:spPr>
          <a:xfrm>
            <a:off x="8195036" y="3047807"/>
            <a:ext cx="1468116" cy="418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100">
                <a:solidFill>
                  <a:srgbClr val="14181F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400" b="1" dirty="0" err="1">
                <a:latin typeface="+mj-lt"/>
                <a:ea typeface="+mj-ea"/>
                <a:cs typeface="+mj-cs"/>
                <a:sym typeface="Helvetica"/>
              </a:rPr>
              <a:t>双向索引</a:t>
            </a:r>
            <a:endParaRPr sz="1400" b="1" dirty="0">
              <a:latin typeface="+mj-lt"/>
              <a:ea typeface="+mj-ea"/>
              <a:cs typeface="+mj-cs"/>
              <a:sym typeface="Helvetica"/>
            </a:endParaRPr>
          </a:p>
          <a:p>
            <a:pPr algn="ctr">
              <a:lnSpc>
                <a:spcPct val="114000"/>
              </a:lnSpc>
              <a:defRPr sz="9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050" dirty="0" err="1">
                <a:latin typeface="+mj-lt"/>
                <a:ea typeface="+mj-ea"/>
                <a:cs typeface="+mj-cs"/>
                <a:sym typeface="Helvetica"/>
              </a:rPr>
              <a:t>论文</a:t>
            </a:r>
            <a:r>
              <a:rPr sz="1050" dirty="0" err="1"/>
              <a:t>↔</a:t>
            </a:r>
            <a:r>
              <a:rPr sz="1050" dirty="0" err="1">
                <a:latin typeface="+mj-lt"/>
                <a:ea typeface="+mj-ea"/>
                <a:cs typeface="+mj-cs"/>
                <a:sym typeface="Helvetica"/>
              </a:rPr>
              <a:t>代码</a:t>
            </a:r>
            <a:endParaRPr sz="1050"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160" name="Connector 27"/>
          <p:cNvSpPr/>
          <p:nvPr/>
        </p:nvSpPr>
        <p:spPr>
          <a:xfrm>
            <a:off x="7884139" y="3256934"/>
            <a:ext cx="201169" cy="1"/>
          </a:xfrm>
          <a:prstGeom prst="line">
            <a:avLst/>
          </a:prstGeom>
          <a:ln w="12700">
            <a:solidFill>
              <a:srgbClr val="8B95A5"/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61" name="Rounded Rectangle 28"/>
          <p:cNvSpPr/>
          <p:nvPr/>
        </p:nvSpPr>
        <p:spPr>
          <a:xfrm>
            <a:off x="10010623" y="2652463"/>
            <a:ext cx="1614420" cy="1208943"/>
          </a:xfrm>
          <a:prstGeom prst="roundRect">
            <a:avLst>
              <a:gd name="adj" fmla="val 4160"/>
            </a:avLst>
          </a:prstGeom>
          <a:solidFill>
            <a:srgbClr val="F5F2FC"/>
          </a:solidFill>
          <a:ln w="12700">
            <a:solidFill>
              <a:srgbClr val="CCC0E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62" name="TextBox 29"/>
          <p:cNvSpPr txBox="1"/>
          <p:nvPr/>
        </p:nvSpPr>
        <p:spPr>
          <a:xfrm>
            <a:off x="10083775" y="3047294"/>
            <a:ext cx="1468116" cy="4192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100">
                <a:solidFill>
                  <a:srgbClr val="7A5CC4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400" b="1" dirty="0" err="1">
                <a:latin typeface="+mj-lt"/>
                <a:ea typeface="+mj-ea"/>
                <a:cs typeface="+mj-cs"/>
                <a:sym typeface="Helvetica"/>
              </a:rPr>
              <a:t>人工审阅</a:t>
            </a:r>
            <a:endParaRPr sz="1400" b="1" dirty="0">
              <a:latin typeface="+mj-lt"/>
              <a:ea typeface="+mj-ea"/>
              <a:cs typeface="+mj-cs"/>
              <a:sym typeface="Helvetica"/>
            </a:endParaRPr>
          </a:p>
          <a:p>
            <a:pPr algn="ctr">
              <a:lnSpc>
                <a:spcPct val="114000"/>
              </a:lnSpc>
              <a:defRPr sz="9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050" dirty="0"/>
              <a:t>accept / reject</a:t>
            </a:r>
          </a:p>
        </p:txBody>
      </p:sp>
      <p:sp>
        <p:nvSpPr>
          <p:cNvPr id="163" name="Connector 30"/>
          <p:cNvSpPr/>
          <p:nvPr/>
        </p:nvSpPr>
        <p:spPr>
          <a:xfrm>
            <a:off x="9772878" y="3256934"/>
            <a:ext cx="201169" cy="1"/>
          </a:xfrm>
          <a:prstGeom prst="line">
            <a:avLst/>
          </a:prstGeom>
          <a:ln w="12700">
            <a:solidFill>
              <a:srgbClr val="8B95A5"/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64" name="Rounded Rectangle 31"/>
          <p:cNvSpPr/>
          <p:nvPr/>
        </p:nvSpPr>
        <p:spPr>
          <a:xfrm>
            <a:off x="566927" y="4079014"/>
            <a:ext cx="11058116" cy="507756"/>
          </a:xfrm>
          <a:prstGeom prst="roundRect">
            <a:avLst>
              <a:gd name="adj" fmla="val 9904"/>
            </a:avLst>
          </a:prstGeom>
          <a:solidFill>
            <a:srgbClr val="F5F2FC"/>
          </a:solidFill>
          <a:ln>
            <a:solidFill>
              <a:srgbClr val="CCC0E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65" name="TextBox 32"/>
          <p:cNvSpPr txBox="1"/>
          <p:nvPr/>
        </p:nvSpPr>
        <p:spPr>
          <a:xfrm>
            <a:off x="566927" y="4217797"/>
            <a:ext cx="11058116" cy="2301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100">
                <a:solidFill>
                  <a:srgbClr val="7A5CC4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400" b="1" dirty="0" err="1">
                <a:latin typeface="+mj-lt"/>
                <a:ea typeface="+mj-ea"/>
                <a:cs typeface="+mj-cs"/>
                <a:sym typeface="Helvetica"/>
              </a:rPr>
              <a:t>代码仓库</a:t>
            </a:r>
            <a:r>
              <a:rPr sz="1400" b="1" dirty="0"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sz="1400" dirty="0"/>
              <a:t>→ AST </a:t>
            </a:r>
            <a:r>
              <a:rPr sz="1400" b="1" dirty="0" err="1">
                <a:latin typeface="+mj-lt"/>
                <a:ea typeface="+mj-ea"/>
                <a:cs typeface="+mj-cs"/>
                <a:sym typeface="Helvetica"/>
              </a:rPr>
              <a:t>静态分析</a:t>
            </a:r>
            <a:r>
              <a:rPr sz="1400" b="1" dirty="0"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sz="1400" dirty="0"/>
              <a:t>→ </a:t>
            </a:r>
            <a:r>
              <a:rPr sz="1400" b="1" dirty="0" err="1">
                <a:latin typeface="+mj-lt"/>
                <a:ea typeface="+mj-ea"/>
                <a:cs typeface="+mj-cs"/>
                <a:sym typeface="Helvetica"/>
              </a:rPr>
              <a:t>符号</a:t>
            </a:r>
            <a:r>
              <a:rPr sz="1400" b="1" dirty="0"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sz="1400" dirty="0"/>
              <a:t>/ </a:t>
            </a:r>
            <a:r>
              <a:rPr sz="1400" b="1" dirty="0" err="1">
                <a:latin typeface="+mj-lt"/>
                <a:ea typeface="+mj-ea"/>
                <a:cs typeface="+mj-cs"/>
                <a:sym typeface="Helvetica"/>
              </a:rPr>
              <a:t>调用</a:t>
            </a:r>
            <a:r>
              <a:rPr sz="1400" b="1" dirty="0"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sz="1400" dirty="0"/>
              <a:t>/ </a:t>
            </a:r>
            <a:r>
              <a:rPr sz="1400" b="1" dirty="0" err="1">
                <a:latin typeface="+mj-lt"/>
                <a:ea typeface="+mj-ea"/>
                <a:cs typeface="+mj-cs"/>
                <a:sym typeface="Helvetica"/>
              </a:rPr>
              <a:t>张量流（同样汇入协调器</a:t>
            </a:r>
            <a:r>
              <a:rPr sz="1400" b="1" dirty="0">
                <a:latin typeface="+mj-lt"/>
                <a:ea typeface="+mj-ea"/>
                <a:cs typeface="+mj-cs"/>
                <a:sym typeface="Helvetica"/>
              </a:rPr>
              <a:t>）</a:t>
            </a:r>
          </a:p>
        </p:txBody>
      </p:sp>
      <p:sp>
        <p:nvSpPr>
          <p:cNvPr id="166" name="TextBox 33"/>
          <p:cNvSpPr txBox="1"/>
          <p:nvPr/>
        </p:nvSpPr>
        <p:spPr>
          <a:xfrm>
            <a:off x="566927" y="4852737"/>
            <a:ext cx="11058116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400">
                <a:solidFill>
                  <a:srgbClr val="14181F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b="1" dirty="0" err="1"/>
              <a:t>操作流程</a:t>
            </a:r>
            <a:r>
              <a:rPr b="1" dirty="0" err="1">
                <a:latin typeface="+mj-lt"/>
                <a:ea typeface="+mj-ea"/>
                <a:cs typeface="+mj-cs"/>
                <a:sym typeface="Helvetica"/>
              </a:rPr>
              <a:t>上的三个约束</a:t>
            </a:r>
            <a:endParaRPr b="1"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167" name="Rounded Rectangle 34"/>
          <p:cNvSpPr/>
          <p:nvPr/>
        </p:nvSpPr>
        <p:spPr>
          <a:xfrm>
            <a:off x="566927" y="5287957"/>
            <a:ext cx="3576311" cy="1039691"/>
          </a:xfrm>
          <a:prstGeom prst="roundRect">
            <a:avLst>
              <a:gd name="adj" fmla="val 4837"/>
            </a:avLst>
          </a:prstGeom>
          <a:solidFill>
            <a:srgbClr val="EFF9F6"/>
          </a:solidFill>
          <a:ln>
            <a:solidFill>
              <a:srgbClr val="B3DED4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168" name="Rectangle 35"/>
          <p:cNvSpPr/>
          <p:nvPr/>
        </p:nvSpPr>
        <p:spPr>
          <a:xfrm>
            <a:off x="566927" y="5287957"/>
            <a:ext cx="45721" cy="1039691"/>
          </a:xfrm>
          <a:prstGeom prst="rect">
            <a:avLst/>
          </a:prstGeom>
          <a:solidFill>
            <a:srgbClr val="1F8F7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169" name="TextBox 36"/>
          <p:cNvSpPr txBox="1"/>
          <p:nvPr/>
        </p:nvSpPr>
        <p:spPr>
          <a:xfrm>
            <a:off x="749808" y="5481387"/>
            <a:ext cx="3247127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 b="1">
                <a:solidFill>
                  <a:srgbClr val="1F8F78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b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600" b="1" dirty="0" err="1">
                <a:latin typeface="+mj-lt"/>
                <a:ea typeface="+mj-ea"/>
                <a:cs typeface="+mj-cs"/>
                <a:sym typeface="Helvetica"/>
              </a:rPr>
              <a:t>强制原文位置绑定</a:t>
            </a:r>
            <a:endParaRPr sz="1600" b="1"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170" name="TextBox 37"/>
          <p:cNvSpPr txBox="1"/>
          <p:nvPr/>
        </p:nvSpPr>
        <p:spPr>
          <a:xfrm>
            <a:off x="749808" y="5934332"/>
            <a:ext cx="3210550" cy="206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4000"/>
              </a:lnSpc>
              <a:defRPr sz="10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100"/>
              <a:t>· </a:t>
            </a:r>
            <a:r>
              <a:rPr sz="1100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双侧 </a:t>
            </a:r>
            <a:r>
              <a:rPr sz="1100">
                <a:solidFill>
                  <a:srgbClr val="4A5464"/>
                </a:solidFill>
              </a:rPr>
              <a:t>quote </a:t>
            </a:r>
            <a:r>
              <a:rPr sz="1100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必须在指定 </a:t>
            </a:r>
            <a:r>
              <a:rPr sz="1100">
                <a:solidFill>
                  <a:srgbClr val="4A5464"/>
                </a:solidFill>
              </a:rPr>
              <a:t>occurrence </a:t>
            </a:r>
            <a:r>
              <a:rPr sz="1100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处命中</a:t>
            </a:r>
          </a:p>
        </p:txBody>
      </p:sp>
      <p:sp>
        <p:nvSpPr>
          <p:cNvPr id="171" name="Rounded Rectangle 38"/>
          <p:cNvSpPr/>
          <p:nvPr/>
        </p:nvSpPr>
        <p:spPr>
          <a:xfrm>
            <a:off x="4307830" y="5287957"/>
            <a:ext cx="3576311" cy="1039691"/>
          </a:xfrm>
          <a:prstGeom prst="roundRect">
            <a:avLst>
              <a:gd name="adj" fmla="val 4837"/>
            </a:avLst>
          </a:prstGeom>
          <a:solidFill>
            <a:srgbClr val="F0F7F9"/>
          </a:solidFill>
          <a:ln>
            <a:solidFill>
              <a:srgbClr val="B8D5D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172" name="Rectangle 39"/>
          <p:cNvSpPr/>
          <p:nvPr/>
        </p:nvSpPr>
        <p:spPr>
          <a:xfrm>
            <a:off x="4307830" y="5287957"/>
            <a:ext cx="45721" cy="1039691"/>
          </a:xfrm>
          <a:prstGeom prst="rect">
            <a:avLst/>
          </a:prstGeom>
          <a:solidFill>
            <a:srgbClr val="1F6F8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173" name="TextBox 40"/>
          <p:cNvSpPr txBox="1"/>
          <p:nvPr/>
        </p:nvSpPr>
        <p:spPr>
          <a:xfrm>
            <a:off x="4490710" y="5481387"/>
            <a:ext cx="3247127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 b="1">
                <a:solidFill>
                  <a:srgbClr val="1F6F8B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b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600" b="1">
                <a:latin typeface="+mj-lt"/>
                <a:ea typeface="+mj-ea"/>
                <a:cs typeface="+mj-cs"/>
                <a:sym typeface="Helvetica"/>
              </a:rPr>
              <a:t>UI 解耦</a:t>
            </a:r>
          </a:p>
        </p:txBody>
      </p:sp>
      <p:sp>
        <p:nvSpPr>
          <p:cNvPr id="174" name="TextBox 41"/>
          <p:cNvSpPr txBox="1"/>
          <p:nvPr/>
        </p:nvSpPr>
        <p:spPr>
          <a:xfrm>
            <a:off x="4490710" y="5934332"/>
            <a:ext cx="3210550" cy="206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4000"/>
              </a:lnSpc>
              <a:defRPr sz="10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100"/>
              <a:t>· </a:t>
            </a:r>
            <a:r>
              <a:rPr sz="1100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选中 </a:t>
            </a:r>
            <a:r>
              <a:rPr sz="1100">
                <a:solidFill>
                  <a:srgbClr val="4A5464"/>
                </a:solidFill>
              </a:rPr>
              <a:t>/ </a:t>
            </a:r>
            <a:r>
              <a:rPr sz="1100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悬浮 </a:t>
            </a:r>
            <a:r>
              <a:rPr sz="1100">
                <a:solidFill>
                  <a:srgbClr val="4A5464"/>
                </a:solidFill>
              </a:rPr>
              <a:t>/ </a:t>
            </a:r>
            <a:r>
              <a:rPr sz="1100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滚动三通道互不干扰</a:t>
            </a:r>
          </a:p>
        </p:txBody>
      </p:sp>
      <p:sp>
        <p:nvSpPr>
          <p:cNvPr id="175" name="Rounded Rectangle 42"/>
          <p:cNvSpPr/>
          <p:nvPr/>
        </p:nvSpPr>
        <p:spPr>
          <a:xfrm>
            <a:off x="8048731" y="5287957"/>
            <a:ext cx="3576311" cy="1039691"/>
          </a:xfrm>
          <a:prstGeom prst="roundRect">
            <a:avLst>
              <a:gd name="adj" fmla="val 4837"/>
            </a:avLst>
          </a:prstGeom>
          <a:solidFill>
            <a:srgbClr val="FDF8EC"/>
          </a:solidFill>
          <a:ln>
            <a:solidFill>
              <a:srgbClr val="E9D29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176" name="Rectangle 43"/>
          <p:cNvSpPr/>
          <p:nvPr/>
        </p:nvSpPr>
        <p:spPr>
          <a:xfrm>
            <a:off x="8048731" y="5287957"/>
            <a:ext cx="45721" cy="1039691"/>
          </a:xfrm>
          <a:prstGeom prst="rect">
            <a:avLst/>
          </a:prstGeom>
          <a:solidFill>
            <a:srgbClr val="D99B0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177" name="TextBox 44"/>
          <p:cNvSpPr txBox="1"/>
          <p:nvPr/>
        </p:nvSpPr>
        <p:spPr>
          <a:xfrm>
            <a:off x="8231612" y="5481387"/>
            <a:ext cx="3247127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300">
                <a:solidFill>
                  <a:srgbClr val="D99B06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600" b="1" dirty="0" err="1"/>
              <a:t>适时</a:t>
            </a:r>
            <a:r>
              <a:rPr sz="1600" b="1" dirty="0" err="1">
                <a:latin typeface="+mj-lt"/>
                <a:ea typeface="+mj-ea"/>
                <a:cs typeface="+mj-cs"/>
                <a:sym typeface="Helvetica"/>
              </a:rPr>
              <a:t>降级</a:t>
            </a:r>
            <a:endParaRPr sz="1600" b="1"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178" name="TextBox 45"/>
          <p:cNvSpPr txBox="1"/>
          <p:nvPr/>
        </p:nvSpPr>
        <p:spPr>
          <a:xfrm>
            <a:off x="8231612" y="5934332"/>
            <a:ext cx="3210551" cy="206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4000"/>
              </a:lnSpc>
              <a:defRPr sz="10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100"/>
              <a:t>· </a:t>
            </a:r>
            <a:r>
              <a:rPr sz="1100">
                <a:solidFill>
                  <a:srgbClr val="4A5464"/>
                </a:solidFill>
              </a:rPr>
              <a:t>provider </a:t>
            </a:r>
            <a:r>
              <a:rPr sz="1100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不可用则等待，绝不用关键词伪造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Rectangle 2"/>
          <p:cNvSpPr/>
          <p:nvPr/>
        </p:nvSpPr>
        <p:spPr>
          <a:xfrm>
            <a:off x="-1" y="0"/>
            <a:ext cx="56695" cy="6858000"/>
          </a:xfrm>
          <a:prstGeom prst="rect">
            <a:avLst/>
          </a:prstGeom>
          <a:solidFill>
            <a:srgbClr val="1F6F8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82" name="TextBox 3"/>
          <p:cNvSpPr txBox="1"/>
          <p:nvPr/>
        </p:nvSpPr>
        <p:spPr>
          <a:xfrm>
            <a:off x="566927" y="384047"/>
            <a:ext cx="1105811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1F6F8B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t>DELIVERY</a:t>
            </a:r>
          </a:p>
        </p:txBody>
      </p:sp>
      <p:sp>
        <p:nvSpPr>
          <p:cNvPr id="183" name="TextBox 4"/>
          <p:cNvSpPr txBox="1"/>
          <p:nvPr/>
        </p:nvSpPr>
        <p:spPr>
          <a:xfrm>
            <a:off x="566927" y="603504"/>
            <a:ext cx="11058116" cy="384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2500">
                <a:solidFill>
                  <a:srgbClr val="14181F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b="1" dirty="0"/>
              <a:t>同</a:t>
            </a:r>
            <a:r>
              <a:rPr lang="zh-CN" altLang="en-US" b="1" dirty="0"/>
              <a:t>一</a:t>
            </a:r>
            <a:r>
              <a:rPr b="1" dirty="0"/>
              <a:t>套</a:t>
            </a:r>
            <a:r>
              <a:rPr lang="zh-CN" altLang="en-US" b="1" dirty="0"/>
              <a:t>代码</a:t>
            </a:r>
            <a:r>
              <a:rPr b="1" dirty="0"/>
              <a:t>，</a:t>
            </a:r>
            <a:r>
              <a:rPr b="1" dirty="0" err="1"/>
              <a:t>配套</a:t>
            </a:r>
            <a:r>
              <a:rPr b="1" dirty="0" err="1">
                <a:latin typeface="+mj-lt"/>
                <a:ea typeface="+mj-ea"/>
                <a:cs typeface="+mj-cs"/>
                <a:sym typeface="Helvetica"/>
              </a:rPr>
              <a:t>三种用户接口</a:t>
            </a:r>
            <a:endParaRPr b="1"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184" name="TextBox 5"/>
          <p:cNvSpPr txBox="1"/>
          <p:nvPr/>
        </p:nvSpPr>
        <p:spPr>
          <a:xfrm>
            <a:off x="11231850" y="6473952"/>
            <a:ext cx="4572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9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lvl1pPr>
          </a:lstStyle>
          <a:p>
            <a:r>
              <a:t>04</a:t>
            </a:r>
          </a:p>
        </p:txBody>
      </p:sp>
      <p:sp>
        <p:nvSpPr>
          <p:cNvPr id="185" name="Rounded Rectangle 6"/>
          <p:cNvSpPr/>
          <p:nvPr/>
        </p:nvSpPr>
        <p:spPr>
          <a:xfrm>
            <a:off x="566927" y="1298447"/>
            <a:ext cx="3503159" cy="1101635"/>
          </a:xfrm>
          <a:prstGeom prst="roundRect">
            <a:avLst>
              <a:gd name="adj" fmla="val 4565"/>
            </a:avLst>
          </a:prstGeom>
          <a:solidFill>
            <a:srgbClr val="F0F7F9"/>
          </a:solidFill>
          <a:ln w="12700">
            <a:solidFill>
              <a:srgbClr val="B8D5D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6600"/>
          </a:p>
        </p:txBody>
      </p:sp>
      <p:sp>
        <p:nvSpPr>
          <p:cNvPr id="186" name="TextBox 7"/>
          <p:cNvSpPr txBox="1"/>
          <p:nvPr/>
        </p:nvSpPr>
        <p:spPr>
          <a:xfrm>
            <a:off x="640080" y="1576565"/>
            <a:ext cx="3356855" cy="54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400">
                <a:solidFill>
                  <a:srgbClr val="1F6F8B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600" b="1" dirty="0" err="1">
                <a:latin typeface="+mj-lt"/>
                <a:ea typeface="+mj-ea"/>
                <a:cs typeface="+mj-cs"/>
                <a:sym typeface="Helvetica"/>
              </a:rPr>
              <a:t>桌面端</a:t>
            </a:r>
            <a:r>
              <a:rPr sz="1600" b="1" dirty="0"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sz="1600" dirty="0"/>
              <a:t>· Tauri 2</a:t>
            </a:r>
          </a:p>
          <a:p>
            <a:pPr algn="ctr">
              <a:lnSpc>
                <a:spcPct val="114000"/>
              </a:lnSpc>
              <a:defRPr sz="9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600" dirty="0"/>
              <a:t>WebView + </a:t>
            </a:r>
            <a:r>
              <a:rPr sz="1600" dirty="0" err="1"/>
              <a:t>FastAPI</a:t>
            </a:r>
            <a:r>
              <a:rPr sz="1600" dirty="0"/>
              <a:t> sidecar</a:t>
            </a:r>
          </a:p>
        </p:txBody>
      </p:sp>
      <p:sp>
        <p:nvSpPr>
          <p:cNvPr id="187" name="Rounded Rectangle 8"/>
          <p:cNvSpPr/>
          <p:nvPr/>
        </p:nvSpPr>
        <p:spPr>
          <a:xfrm>
            <a:off x="4344406" y="1298447"/>
            <a:ext cx="3503159" cy="1101635"/>
          </a:xfrm>
          <a:prstGeom prst="roundRect">
            <a:avLst>
              <a:gd name="adj" fmla="val 4565"/>
            </a:avLst>
          </a:prstGeom>
          <a:solidFill>
            <a:srgbClr val="F5F2FC"/>
          </a:solidFill>
          <a:ln w="12700">
            <a:solidFill>
              <a:srgbClr val="CCC0E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6600"/>
          </a:p>
        </p:txBody>
      </p:sp>
      <p:sp>
        <p:nvSpPr>
          <p:cNvPr id="188" name="TextBox 9"/>
          <p:cNvSpPr txBox="1"/>
          <p:nvPr/>
        </p:nvSpPr>
        <p:spPr>
          <a:xfrm>
            <a:off x="4417557" y="1577368"/>
            <a:ext cx="3356855" cy="5438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400">
                <a:solidFill>
                  <a:srgbClr val="7A5CC4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600" dirty="0"/>
              <a:t>VS Code </a:t>
            </a:r>
            <a:r>
              <a:rPr sz="1600" b="1" dirty="0" err="1">
                <a:latin typeface="+mj-lt"/>
                <a:ea typeface="+mj-ea"/>
                <a:cs typeface="+mj-cs"/>
                <a:sym typeface="Helvetica"/>
              </a:rPr>
              <a:t>插件</a:t>
            </a:r>
            <a:endParaRPr sz="1600" b="1" dirty="0">
              <a:latin typeface="+mj-lt"/>
              <a:ea typeface="+mj-ea"/>
              <a:cs typeface="+mj-cs"/>
              <a:sym typeface="Helvetica"/>
            </a:endParaRPr>
          </a:p>
          <a:p>
            <a:pPr algn="ctr">
              <a:lnSpc>
                <a:spcPct val="114000"/>
              </a:lnSpc>
              <a:defRPr sz="9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600" dirty="0" err="1">
                <a:latin typeface="+mj-lt"/>
                <a:ea typeface="+mj-ea"/>
                <a:cs typeface="+mj-cs"/>
                <a:sym typeface="Helvetica"/>
              </a:rPr>
              <a:t>工作区内</a:t>
            </a:r>
            <a:r>
              <a:rPr sz="1600" dirty="0"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sz="1600" dirty="0"/>
              <a:t>.</a:t>
            </a:r>
            <a:r>
              <a:rPr sz="1600" dirty="0" err="1"/>
              <a:t>tracelab</a:t>
            </a:r>
            <a:r>
              <a:rPr sz="1600" dirty="0"/>
              <a:t>/</a:t>
            </a:r>
          </a:p>
        </p:txBody>
      </p:sp>
      <p:sp>
        <p:nvSpPr>
          <p:cNvPr id="189" name="Rounded Rectangle 10"/>
          <p:cNvSpPr/>
          <p:nvPr/>
        </p:nvSpPr>
        <p:spPr>
          <a:xfrm>
            <a:off x="8121884" y="1298447"/>
            <a:ext cx="3503158" cy="1101635"/>
          </a:xfrm>
          <a:prstGeom prst="roundRect">
            <a:avLst>
              <a:gd name="adj" fmla="val 4565"/>
            </a:avLst>
          </a:prstGeom>
          <a:solidFill>
            <a:srgbClr val="EFF9F6"/>
          </a:solidFill>
          <a:ln w="12700">
            <a:solidFill>
              <a:srgbClr val="B3DED4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6600"/>
          </a:p>
        </p:txBody>
      </p:sp>
      <p:sp>
        <p:nvSpPr>
          <p:cNvPr id="190" name="TextBox 11"/>
          <p:cNvSpPr txBox="1"/>
          <p:nvPr/>
        </p:nvSpPr>
        <p:spPr>
          <a:xfrm>
            <a:off x="8195036" y="1577368"/>
            <a:ext cx="3356855" cy="5438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400">
                <a:solidFill>
                  <a:srgbClr val="1F8F78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600" dirty="0"/>
              <a:t>Sync </a:t>
            </a:r>
            <a:r>
              <a:rPr sz="1600" dirty="0" err="1"/>
              <a:t>Server</a:t>
            </a:r>
            <a:r>
              <a:rPr sz="1600" b="1" dirty="0" err="1">
                <a:latin typeface="+mj-lt"/>
                <a:ea typeface="+mj-ea"/>
                <a:cs typeface="+mj-cs"/>
                <a:sym typeface="Helvetica"/>
              </a:rPr>
              <a:t>（可选</a:t>
            </a:r>
            <a:r>
              <a:rPr sz="1600" b="1" dirty="0">
                <a:latin typeface="+mj-lt"/>
                <a:ea typeface="+mj-ea"/>
                <a:cs typeface="+mj-cs"/>
                <a:sym typeface="Helvetica"/>
              </a:rPr>
              <a:t>）</a:t>
            </a:r>
          </a:p>
          <a:p>
            <a:pPr algn="ctr">
              <a:lnSpc>
                <a:spcPct val="114000"/>
              </a:lnSpc>
              <a:defRPr sz="9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600" dirty="0" err="1">
                <a:latin typeface="+mj-lt"/>
                <a:ea typeface="+mj-ea"/>
                <a:cs typeface="+mj-cs"/>
                <a:sym typeface="Helvetica"/>
              </a:rPr>
              <a:t>账号</a:t>
            </a:r>
            <a:r>
              <a:rPr sz="1600" dirty="0"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sz="1600" dirty="0"/>
              <a:t>· </a:t>
            </a:r>
            <a:r>
              <a:rPr sz="1600" dirty="0" err="1">
                <a:latin typeface="+mj-lt"/>
                <a:ea typeface="+mj-ea"/>
                <a:cs typeface="+mj-cs"/>
                <a:sym typeface="Helvetica"/>
              </a:rPr>
              <a:t>同步</a:t>
            </a:r>
            <a:endParaRPr sz="1600" dirty="0"/>
          </a:p>
        </p:txBody>
      </p:sp>
      <p:graphicFrame>
        <p:nvGraphicFramePr>
          <p:cNvPr id="191" name="Table 12"/>
          <p:cNvGraphicFramePr/>
          <p:nvPr>
            <p:extLst>
              <p:ext uri="{D42A27DB-BD31-4B8C-83A1-F6EECF244321}">
                <p14:modId xmlns:p14="http://schemas.microsoft.com/office/powerpoint/2010/main" val="3394967624"/>
              </p:ext>
            </p:extLst>
          </p:nvPr>
        </p:nvGraphicFramePr>
        <p:xfrm>
          <a:off x="566927" y="2735361"/>
          <a:ext cx="11058114" cy="3185158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7319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7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310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642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1073"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000">
                          <a:solidFill>
                            <a:srgbClr val="14181F"/>
                          </a:solidFill>
                          <a:latin typeface="PingFang SC Semibold"/>
                          <a:ea typeface="PingFang SC Semibold"/>
                          <a:cs typeface="PingFang SC Semibold"/>
                          <a:sym typeface="PingFang SC Semibold"/>
                        </a:defRPr>
                      </a:pPr>
                      <a:r>
                        <a:rPr sz="1400" b="1" dirty="0" err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维度</a:t>
                      </a:r>
                      <a:endParaRPr sz="1400" b="1" dirty="0">
                        <a:latin typeface="+mj-lt"/>
                        <a:ea typeface="+mj-ea"/>
                        <a:cs typeface="+mj-cs"/>
                        <a:sym typeface="Helvetica"/>
                      </a:endParaRP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000">
                          <a:solidFill>
                            <a:srgbClr val="1F6F8B"/>
                          </a:solidFill>
                          <a:latin typeface="PingFang SC Semibold"/>
                          <a:ea typeface="PingFang SC Semibold"/>
                          <a:cs typeface="PingFang SC Semibold"/>
                          <a:sym typeface="PingFang SC Semibold"/>
                        </a:defRPr>
                      </a:pPr>
                      <a:r>
                        <a:rPr sz="1400" b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桌面端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0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000">
                          <a:solidFill>
                            <a:srgbClr val="14181F"/>
                          </a:solidFill>
                          <a:latin typeface="PingFang SC Semibold"/>
                          <a:ea typeface="PingFang SC Semibold"/>
                          <a:cs typeface="PingFang SC Semibold"/>
                          <a:sym typeface="PingFang SC Semibold"/>
                        </a:defRPr>
                      </a:pPr>
                      <a:r>
                        <a:rPr sz="1400"/>
                        <a:t>VS Code </a:t>
                      </a:r>
                      <a:r>
                        <a:rPr sz="1400" b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插件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800"/>
                      </a:pPr>
                      <a:r>
                        <a:rPr sz="1400">
                          <a:solidFill>
                            <a:srgbClr val="14181F"/>
                          </a:solidFill>
                          <a:latin typeface="PingFang SC Semibold"/>
                          <a:ea typeface="PingFang SC Semibold"/>
                          <a:cs typeface="PingFang SC Semibold"/>
                          <a:sym typeface="PingFang SC Semibold"/>
                        </a:rPr>
                        <a:t>Sync Server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EE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0817"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000">
                          <a:solidFill>
                            <a:srgbClr val="14181F"/>
                          </a:solidFill>
                          <a:latin typeface="PingFang SC Semibold"/>
                          <a:ea typeface="PingFang SC Semibold"/>
                          <a:cs typeface="PingFang SC Semibold"/>
                          <a:sym typeface="PingFang SC Semibold"/>
                        </a:defRPr>
                      </a:pPr>
                      <a:r>
                        <a:rPr sz="1400" b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运行框架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800"/>
                      </a:pPr>
                      <a:r>
                        <a:rPr sz="1400" dirty="0">
                          <a:solidFill>
                            <a:srgbClr val="4A5464"/>
                          </a:solidFill>
                          <a:latin typeface="PingFang SC Regular"/>
                          <a:ea typeface="PingFang SC Regular"/>
                          <a:cs typeface="PingFang SC Regular"/>
                          <a:sym typeface="PingFang SC Regular"/>
                        </a:rPr>
                        <a:t>Tauri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AFD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000">
                          <a:solidFill>
                            <a:srgbClr val="4A5464"/>
                          </a:solidFill>
                          <a:latin typeface="PingFang SC Regular"/>
                          <a:ea typeface="PingFang SC Regular"/>
                          <a:cs typeface="PingFang SC Regular"/>
                          <a:sym typeface="PingFang SC Regular"/>
                        </a:defRPr>
                      </a:pPr>
                      <a:r>
                        <a:rPr sz="1400"/>
                        <a:t> uv </a:t>
                      </a:r>
                      <a:r>
                        <a:rPr sz="14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托管 </a:t>
                      </a:r>
                      <a:r>
                        <a:rPr sz="1400"/>
                        <a:t>venv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800"/>
                      </a:pPr>
                      <a:r>
                        <a:rPr sz="1400">
                          <a:solidFill>
                            <a:srgbClr val="4A5464"/>
                          </a:solidFill>
                          <a:latin typeface="PingFang SC Regular"/>
                          <a:ea typeface="PingFang SC Regular"/>
                          <a:cs typeface="PingFang SC Regular"/>
                          <a:sym typeface="PingFang SC Regular"/>
                        </a:rPr>
                        <a:t>Nginx + FastAPI + Worker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0817"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000">
                          <a:solidFill>
                            <a:srgbClr val="14181F"/>
                          </a:solidFill>
                          <a:latin typeface="PingFang SC Semibold"/>
                          <a:ea typeface="PingFang SC Semibold"/>
                          <a:cs typeface="PingFang SC Semibold"/>
                          <a:sym typeface="PingFang SC Semibold"/>
                        </a:defRPr>
                      </a:pPr>
                      <a:r>
                        <a:rPr sz="1400" b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存储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800"/>
                      </a:pPr>
                      <a:r>
                        <a:rPr sz="1400" dirty="0">
                          <a:solidFill>
                            <a:srgbClr val="4A5464"/>
                          </a:solidFill>
                          <a:latin typeface="PingFang SC Regular"/>
                          <a:ea typeface="PingFang SC Regular"/>
                          <a:cs typeface="PingFang SC Regular"/>
                          <a:sym typeface="PingFang SC Regular"/>
                        </a:rPr>
                        <a:t>SQLite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AFD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000">
                          <a:solidFill>
                            <a:srgbClr val="4A5464"/>
                          </a:solidFill>
                          <a:latin typeface="PingFang SC Regular"/>
                          <a:ea typeface="PingFang SC Regular"/>
                          <a:cs typeface="PingFang SC Regular"/>
                          <a:sym typeface="PingFang SC Regular"/>
                        </a:defRPr>
                      </a:pPr>
                      <a:r>
                        <a:rPr sz="1400" dirty="0" err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工作区</a:t>
                      </a:r>
                      <a:r>
                        <a:rPr sz="1400" dirty="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 </a:t>
                      </a:r>
                      <a:r>
                        <a:rPr sz="1400" dirty="0"/>
                        <a:t>.</a:t>
                      </a:r>
                      <a:r>
                        <a:rPr sz="1400" dirty="0" err="1"/>
                        <a:t>tracelab</a:t>
                      </a:r>
                      <a:r>
                        <a:rPr sz="1400" dirty="0"/>
                        <a:t>/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000">
                          <a:solidFill>
                            <a:srgbClr val="4A5464"/>
                          </a:solidFill>
                          <a:latin typeface="PingFang SC Regular"/>
                          <a:ea typeface="PingFang SC Regular"/>
                          <a:cs typeface="PingFang SC Regular"/>
                          <a:sym typeface="PingFang SC Regular"/>
                        </a:defRPr>
                      </a:pPr>
                      <a:r>
                        <a:rPr sz="1400" dirty="0"/>
                        <a:t>PostgreSQL + </a:t>
                      </a:r>
                      <a:r>
                        <a:rPr sz="1400" dirty="0" err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不可变</a:t>
                      </a:r>
                      <a:r>
                        <a:rPr sz="1400" dirty="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 </a:t>
                      </a:r>
                      <a:r>
                        <a:rPr sz="1400" dirty="0"/>
                        <a:t>Blob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0817"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000">
                          <a:solidFill>
                            <a:srgbClr val="14181F"/>
                          </a:solidFill>
                          <a:latin typeface="PingFang SC Semibold"/>
                          <a:ea typeface="PingFang SC Semibold"/>
                          <a:cs typeface="PingFang SC Semibold"/>
                          <a:sym typeface="PingFang SC Semibold"/>
                        </a:defRPr>
                      </a:pPr>
                      <a:r>
                        <a:rPr sz="1400" b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平台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800"/>
                      </a:pPr>
                      <a:r>
                        <a:rPr sz="1400">
                          <a:solidFill>
                            <a:srgbClr val="4A5464"/>
                          </a:solidFill>
                          <a:latin typeface="PingFang SC Regular"/>
                          <a:ea typeface="PingFang SC Regular"/>
                          <a:cs typeface="PingFang SC Regular"/>
                          <a:sym typeface="PingFang SC Regular"/>
                        </a:rPr>
                        <a:t>macOS / Windows / Linux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AFD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000">
                          <a:solidFill>
                            <a:srgbClr val="4A5464"/>
                          </a:solidFill>
                          <a:latin typeface="PingFang SC Regular"/>
                          <a:ea typeface="PingFang SC Regular"/>
                          <a:cs typeface="PingFang SC Regular"/>
                          <a:sym typeface="PingFang SC Regular"/>
                        </a:defRPr>
                      </a:pPr>
                      <a:r>
                        <a:rPr sz="1400" dirty="0" err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三平台同一</a:t>
                      </a:r>
                      <a:r>
                        <a:rPr sz="1400" dirty="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 </a:t>
                      </a:r>
                      <a:r>
                        <a:rPr sz="1400" dirty="0"/>
                        <a:t>VSIX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000">
                          <a:solidFill>
                            <a:srgbClr val="4A5464"/>
                          </a:solidFill>
                          <a:latin typeface="PingFang SC Regular"/>
                          <a:ea typeface="PingFang SC Regular"/>
                          <a:cs typeface="PingFang SC Regular"/>
                          <a:sym typeface="PingFang SC Regular"/>
                        </a:defRPr>
                      </a:pPr>
                      <a:r>
                        <a:rPr sz="1400" dirty="0"/>
                        <a:t>Linux </a:t>
                      </a:r>
                      <a:r>
                        <a:rPr sz="1400" dirty="0" err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生产部署</a:t>
                      </a:r>
                      <a:endParaRPr sz="1400" dirty="0">
                        <a:latin typeface="+mj-lt"/>
                        <a:ea typeface="+mj-ea"/>
                        <a:cs typeface="+mj-cs"/>
                        <a:sym typeface="Helvetica"/>
                      </a:endParaRP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0817"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000">
                          <a:solidFill>
                            <a:srgbClr val="14181F"/>
                          </a:solidFill>
                          <a:latin typeface="PingFang SC Semibold"/>
                          <a:ea typeface="PingFang SC Semibold"/>
                          <a:cs typeface="PingFang SC Semibold"/>
                          <a:sym typeface="PingFang SC Semibold"/>
                        </a:defRPr>
                      </a:pPr>
                      <a:r>
                        <a:rPr sz="1400" b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需要服务器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000">
                          <a:solidFill>
                            <a:srgbClr val="4A5464"/>
                          </a:solidFill>
                          <a:latin typeface="PingFang SC Regular"/>
                          <a:ea typeface="PingFang SC Regular"/>
                          <a:cs typeface="PingFang SC Regular"/>
                          <a:sym typeface="PingFang SC Regular"/>
                        </a:defRPr>
                      </a:pPr>
                      <a:r>
                        <a:rPr sz="14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否（仅云同步时需要）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AFD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000">
                          <a:solidFill>
                            <a:srgbClr val="4A5464"/>
                          </a:solidFill>
                          <a:latin typeface="PingFang SC Regular"/>
                          <a:ea typeface="PingFang SC Regular"/>
                          <a:cs typeface="PingFang SC Regular"/>
                          <a:sym typeface="PingFang SC Regular"/>
                        </a:defRPr>
                      </a:pPr>
                      <a:r>
                        <a:rPr sz="14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否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000">
                          <a:solidFill>
                            <a:srgbClr val="4A5464"/>
                          </a:solidFill>
                          <a:latin typeface="PingFang SC Regular"/>
                          <a:ea typeface="PingFang SC Regular"/>
                          <a:cs typeface="PingFang SC Regular"/>
                          <a:sym typeface="PingFang SC Regular"/>
                        </a:defRPr>
                      </a:pPr>
                      <a:r>
                        <a:rPr sz="1400" dirty="0" err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本身即服务器</a:t>
                      </a:r>
                      <a:endParaRPr sz="1400" dirty="0">
                        <a:latin typeface="+mj-lt"/>
                        <a:ea typeface="+mj-ea"/>
                        <a:cs typeface="+mj-cs"/>
                        <a:sym typeface="Helvetica"/>
                      </a:endParaRP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0817"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000">
                          <a:solidFill>
                            <a:srgbClr val="14181F"/>
                          </a:solidFill>
                          <a:latin typeface="PingFang SC Semibold"/>
                          <a:ea typeface="PingFang SC Semibold"/>
                          <a:cs typeface="PingFang SC Semibold"/>
                          <a:sym typeface="PingFang SC Semibold"/>
                        </a:defRPr>
                      </a:pPr>
                      <a:r>
                        <a:rPr sz="1400" b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计算位置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000">
                          <a:solidFill>
                            <a:srgbClr val="1F8F78"/>
                          </a:solidFill>
                          <a:latin typeface="PingFang SC Semibold"/>
                          <a:ea typeface="PingFang SC Semibold"/>
                          <a:cs typeface="PingFang SC Semibold"/>
                          <a:sym typeface="PingFang SC Semibold"/>
                        </a:defRPr>
                      </a:pPr>
                      <a:r>
                        <a:rPr sz="1400" b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全部在用户设备本机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AFD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000">
                          <a:solidFill>
                            <a:srgbClr val="1F8F78"/>
                          </a:solidFill>
                          <a:latin typeface="PingFang SC Semibold"/>
                          <a:ea typeface="PingFang SC Semibold"/>
                          <a:cs typeface="PingFang SC Semibold"/>
                          <a:sym typeface="PingFang SC Semibold"/>
                        </a:defRPr>
                      </a:pPr>
                      <a:r>
                        <a:rPr sz="1400" b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全部在用户设备本机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000">
                          <a:solidFill>
                            <a:srgbClr val="D9564A"/>
                          </a:solidFill>
                          <a:latin typeface="PingFang SC Semibold"/>
                          <a:ea typeface="PingFang SC Semibold"/>
                          <a:cs typeface="PingFang SC Semibold"/>
                          <a:sym typeface="PingFang SC Semibold"/>
                        </a:defRPr>
                      </a:pPr>
                      <a:r>
                        <a:rPr sz="1400" b="1" dirty="0" err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不执行任何分析</a:t>
                      </a:r>
                      <a:endParaRPr sz="1400" b="1" dirty="0">
                        <a:latin typeface="+mj-lt"/>
                        <a:ea typeface="+mj-ea"/>
                        <a:cs typeface="+mj-cs"/>
                        <a:sym typeface="Helvetica"/>
                      </a:endParaRP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2" name="Rounded Rectangle 13"/>
          <p:cNvSpPr/>
          <p:nvPr/>
        </p:nvSpPr>
        <p:spPr>
          <a:xfrm>
            <a:off x="2672021" y="6114723"/>
            <a:ext cx="2446935" cy="359229"/>
          </a:xfrm>
          <a:prstGeom prst="roundRect">
            <a:avLst>
              <a:gd name="adj" fmla="val 14000"/>
            </a:avLst>
          </a:prstGeom>
          <a:solidFill>
            <a:srgbClr val="EFF9F6"/>
          </a:solidFill>
          <a:ln>
            <a:solidFill>
              <a:srgbClr val="B3DED4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93" name="TextBox 14"/>
          <p:cNvSpPr txBox="1"/>
          <p:nvPr/>
        </p:nvSpPr>
        <p:spPr>
          <a:xfrm>
            <a:off x="2672021" y="6205436"/>
            <a:ext cx="2446935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000">
                <a:solidFill>
                  <a:srgbClr val="1F8F78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b="1" dirty="0" err="1">
                <a:latin typeface="+mj-lt"/>
                <a:ea typeface="+mj-ea"/>
                <a:cs typeface="+mj-cs"/>
                <a:sym typeface="Helvetica"/>
              </a:rPr>
              <a:t>终端用户无需</a:t>
            </a:r>
            <a:r>
              <a:rPr b="1" dirty="0"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dirty="0"/>
              <a:t>Python / Node / Rust</a:t>
            </a:r>
          </a:p>
        </p:txBody>
      </p:sp>
      <p:sp>
        <p:nvSpPr>
          <p:cNvPr id="194" name="Rounded Rectangle 15"/>
          <p:cNvSpPr/>
          <p:nvPr/>
        </p:nvSpPr>
        <p:spPr>
          <a:xfrm>
            <a:off x="5219539" y="6114723"/>
            <a:ext cx="1481329" cy="359229"/>
          </a:xfrm>
          <a:prstGeom prst="roundRect">
            <a:avLst>
              <a:gd name="adj" fmla="val 14000"/>
            </a:avLst>
          </a:prstGeom>
          <a:solidFill>
            <a:srgbClr val="F0F7F9"/>
          </a:solidFill>
          <a:ln>
            <a:solidFill>
              <a:srgbClr val="B8D5D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95" name="TextBox 16"/>
          <p:cNvSpPr txBox="1"/>
          <p:nvPr/>
        </p:nvSpPr>
        <p:spPr>
          <a:xfrm>
            <a:off x="5219539" y="6205436"/>
            <a:ext cx="148132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000">
                <a:solidFill>
                  <a:srgbClr val="1F6F8B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项目默认 </a:t>
            </a:r>
            <a:r>
              <a:t>local_only</a:t>
            </a:r>
          </a:p>
        </p:txBody>
      </p:sp>
      <p:sp>
        <p:nvSpPr>
          <p:cNvPr id="196" name="Rounded Rectangle 17"/>
          <p:cNvSpPr/>
          <p:nvPr/>
        </p:nvSpPr>
        <p:spPr>
          <a:xfrm>
            <a:off x="6801451" y="6114723"/>
            <a:ext cx="2446935" cy="359229"/>
          </a:xfrm>
          <a:prstGeom prst="roundRect">
            <a:avLst>
              <a:gd name="adj" fmla="val 14000"/>
            </a:avLst>
          </a:prstGeom>
          <a:solidFill>
            <a:srgbClr val="FDF8EC"/>
          </a:solidFill>
          <a:ln>
            <a:solidFill>
              <a:srgbClr val="E9D29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97" name="TextBox 18"/>
          <p:cNvSpPr txBox="1"/>
          <p:nvPr/>
        </p:nvSpPr>
        <p:spPr>
          <a:xfrm>
            <a:off x="6801451" y="6205436"/>
            <a:ext cx="2446935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000">
                <a:solidFill>
                  <a:srgbClr val="D99B06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b="1" dirty="0" err="1">
                <a:latin typeface="+mj-lt"/>
                <a:ea typeface="+mj-ea"/>
                <a:cs typeface="+mj-cs"/>
                <a:sym typeface="Helvetica"/>
              </a:rPr>
              <a:t>服务器不运行</a:t>
            </a:r>
            <a:r>
              <a:rPr b="1" dirty="0"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dirty="0" err="1"/>
              <a:t>MinerU</a:t>
            </a:r>
            <a:r>
              <a:rPr dirty="0"/>
              <a:t> / LLM / Agent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Rectangle 1"/>
          <p:cNvSpPr/>
          <p:nvPr/>
        </p:nvSpPr>
        <p:spPr>
          <a:xfrm>
            <a:off x="-1" y="0"/>
            <a:ext cx="12191972" cy="6858000"/>
          </a:xfrm>
          <a:prstGeom prst="rect">
            <a:avLst/>
          </a:prstGeom>
          <a:solidFill>
            <a:srgbClr val="14262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00" name="TextBox 2"/>
          <p:cNvSpPr txBox="1"/>
          <p:nvPr/>
        </p:nvSpPr>
        <p:spPr>
          <a:xfrm>
            <a:off x="566927" y="1783079"/>
            <a:ext cx="3657601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6200">
                <a:solidFill>
                  <a:srgbClr val="2C4450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t>01</a:t>
            </a:r>
          </a:p>
        </p:txBody>
      </p:sp>
      <p:sp>
        <p:nvSpPr>
          <p:cNvPr id="201" name="TextBox 3"/>
          <p:cNvSpPr txBox="1"/>
          <p:nvPr/>
        </p:nvSpPr>
        <p:spPr>
          <a:xfrm>
            <a:off x="566927" y="2743200"/>
            <a:ext cx="9144001" cy="635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36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b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追溯流程设计</a:t>
            </a:r>
          </a:p>
        </p:txBody>
      </p:sp>
      <p:sp>
        <p:nvSpPr>
          <p:cNvPr id="202" name="TextBox 16"/>
          <p:cNvSpPr txBox="1"/>
          <p:nvPr/>
        </p:nvSpPr>
        <p:spPr>
          <a:xfrm>
            <a:off x="11231850" y="6473952"/>
            <a:ext cx="4572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900">
                <a:solidFill>
                  <a:srgbClr val="4C748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lvl1pPr>
          </a:lstStyle>
          <a:p>
            <a:r>
              <a:t>05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Rectangle 2"/>
          <p:cNvSpPr/>
          <p:nvPr/>
        </p:nvSpPr>
        <p:spPr>
          <a:xfrm>
            <a:off x="-1" y="0"/>
            <a:ext cx="56695" cy="6858000"/>
          </a:xfrm>
          <a:prstGeom prst="rect">
            <a:avLst/>
          </a:prstGeom>
          <a:solidFill>
            <a:srgbClr val="1F6F8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06" name="TextBox 3"/>
          <p:cNvSpPr txBox="1"/>
          <p:nvPr/>
        </p:nvSpPr>
        <p:spPr>
          <a:xfrm>
            <a:off x="566927" y="384047"/>
            <a:ext cx="1105811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1F6F8B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t>PIPELINE</a:t>
            </a:r>
          </a:p>
        </p:txBody>
      </p:sp>
      <p:sp>
        <p:nvSpPr>
          <p:cNvPr id="207" name="TextBox 4"/>
          <p:cNvSpPr txBox="1"/>
          <p:nvPr/>
        </p:nvSpPr>
        <p:spPr>
          <a:xfrm>
            <a:off x="566927" y="603504"/>
            <a:ext cx="11058116" cy="384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2500">
                <a:solidFill>
                  <a:srgbClr val="14181F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b="1" dirty="0" err="1">
                <a:latin typeface="+mj-lt"/>
                <a:ea typeface="+mj-ea"/>
                <a:cs typeface="+mj-cs"/>
                <a:sym typeface="Helvetica"/>
              </a:rPr>
              <a:t>从上传到看见高亮</a:t>
            </a:r>
            <a:endParaRPr b="1"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209" name="TextBox 6"/>
          <p:cNvSpPr txBox="1"/>
          <p:nvPr/>
        </p:nvSpPr>
        <p:spPr>
          <a:xfrm>
            <a:off x="11231850" y="6473952"/>
            <a:ext cx="4572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9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lvl1pPr>
          </a:lstStyle>
          <a:p>
            <a:r>
              <a:t>06</a:t>
            </a:r>
          </a:p>
        </p:txBody>
      </p:sp>
      <p:sp>
        <p:nvSpPr>
          <p:cNvPr id="210" name="TextBox 7"/>
          <p:cNvSpPr txBox="1"/>
          <p:nvPr/>
        </p:nvSpPr>
        <p:spPr>
          <a:xfrm>
            <a:off x="128015" y="1696211"/>
            <a:ext cx="457201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900" b="1">
                <a:solidFill>
                  <a:srgbClr val="8B95A5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b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000" b="1" dirty="0" err="1">
                <a:latin typeface="+mj-lt"/>
                <a:ea typeface="+mj-ea"/>
                <a:cs typeface="+mj-cs"/>
                <a:sym typeface="Helvetica"/>
              </a:rPr>
              <a:t>导入</a:t>
            </a:r>
            <a:endParaRPr sz="1000" b="1"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211" name="TextBox 8"/>
          <p:cNvSpPr txBox="1"/>
          <p:nvPr/>
        </p:nvSpPr>
        <p:spPr>
          <a:xfrm>
            <a:off x="128015" y="2916935"/>
            <a:ext cx="457201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900" b="1">
                <a:solidFill>
                  <a:srgbClr val="8B95A5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b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000" b="1" dirty="0" err="1">
                <a:latin typeface="+mj-lt"/>
                <a:ea typeface="+mj-ea"/>
                <a:cs typeface="+mj-cs"/>
                <a:sym typeface="Helvetica"/>
              </a:rPr>
              <a:t>调度</a:t>
            </a:r>
            <a:endParaRPr sz="1000" b="1"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212" name="TextBox 9"/>
          <p:cNvSpPr txBox="1"/>
          <p:nvPr/>
        </p:nvSpPr>
        <p:spPr>
          <a:xfrm>
            <a:off x="128015" y="4137659"/>
            <a:ext cx="457201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900" b="1">
                <a:solidFill>
                  <a:srgbClr val="8B95A5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b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000" b="1" dirty="0" err="1">
                <a:latin typeface="+mj-lt"/>
                <a:ea typeface="+mj-ea"/>
                <a:cs typeface="+mj-cs"/>
                <a:sym typeface="Helvetica"/>
              </a:rPr>
              <a:t>执行</a:t>
            </a:r>
            <a:endParaRPr sz="1000" b="1"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213" name="TextBox 10"/>
          <p:cNvSpPr txBox="1"/>
          <p:nvPr/>
        </p:nvSpPr>
        <p:spPr>
          <a:xfrm>
            <a:off x="128015" y="5399532"/>
            <a:ext cx="457201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900" b="1">
                <a:solidFill>
                  <a:srgbClr val="8B95A5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b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000" b="1" dirty="0" err="1">
                <a:latin typeface="+mj-lt"/>
                <a:ea typeface="+mj-ea"/>
                <a:cs typeface="+mj-cs"/>
                <a:sym typeface="Helvetica"/>
              </a:rPr>
              <a:t>交互</a:t>
            </a:r>
            <a:endParaRPr sz="1000" b="1"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214" name="Rounded Rectangle 11"/>
          <p:cNvSpPr/>
          <p:nvPr/>
        </p:nvSpPr>
        <p:spPr>
          <a:xfrm>
            <a:off x="566927" y="1298447"/>
            <a:ext cx="2880362" cy="1069849"/>
          </a:xfrm>
          <a:prstGeom prst="roundRect">
            <a:avLst>
              <a:gd name="adj" fmla="val 4700"/>
            </a:avLst>
          </a:prstGeom>
          <a:solidFill>
            <a:srgbClr val="F0F7F9"/>
          </a:solidFill>
          <a:ln w="12700">
            <a:solidFill>
              <a:srgbClr val="B8D5D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215" name="TextBox 12"/>
          <p:cNvSpPr txBox="1"/>
          <p:nvPr/>
        </p:nvSpPr>
        <p:spPr>
          <a:xfrm>
            <a:off x="640080" y="1606162"/>
            <a:ext cx="2734057" cy="4544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200">
                <a:solidFill>
                  <a:srgbClr val="1F6F8B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600"/>
              <a:t>① </a:t>
            </a:r>
            <a:r>
              <a:rPr sz="1600" b="1">
                <a:latin typeface="+mj-lt"/>
                <a:ea typeface="+mj-ea"/>
                <a:cs typeface="+mj-cs"/>
                <a:sym typeface="Helvetica"/>
              </a:rPr>
              <a:t>上传论文 </a:t>
            </a:r>
            <a:r>
              <a:rPr sz="1600"/>
              <a:t>PDF</a:t>
            </a:r>
          </a:p>
          <a:p>
            <a:pPr algn="ctr">
              <a:lnSpc>
                <a:spcPct val="114000"/>
              </a:lnSpc>
              <a:defRPr sz="9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050"/>
              <a:t>MinerU → pages_json</a:t>
            </a:r>
          </a:p>
        </p:txBody>
      </p:sp>
      <p:sp>
        <p:nvSpPr>
          <p:cNvPr id="216" name="Rounded Rectangle 13"/>
          <p:cNvSpPr/>
          <p:nvPr/>
        </p:nvSpPr>
        <p:spPr>
          <a:xfrm>
            <a:off x="3721608" y="1298447"/>
            <a:ext cx="2880361" cy="1069849"/>
          </a:xfrm>
          <a:prstGeom prst="roundRect">
            <a:avLst>
              <a:gd name="adj" fmla="val 4700"/>
            </a:avLst>
          </a:prstGeom>
          <a:solidFill>
            <a:srgbClr val="F5F2FC"/>
          </a:solidFill>
          <a:ln w="12700">
            <a:solidFill>
              <a:srgbClr val="CCC0E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217" name="TextBox 14"/>
          <p:cNvSpPr txBox="1"/>
          <p:nvPr/>
        </p:nvSpPr>
        <p:spPr>
          <a:xfrm>
            <a:off x="3794759" y="1606675"/>
            <a:ext cx="2734057" cy="453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200">
                <a:solidFill>
                  <a:srgbClr val="7A5CC4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600"/>
              <a:t>② </a:t>
            </a:r>
            <a:r>
              <a:rPr sz="1600" b="1">
                <a:latin typeface="+mj-lt"/>
                <a:ea typeface="+mj-ea"/>
                <a:cs typeface="+mj-cs"/>
                <a:sym typeface="Helvetica"/>
              </a:rPr>
              <a:t>导入 </a:t>
            </a:r>
            <a:r>
              <a:rPr sz="1600"/>
              <a:t>ZIP / GitHub</a:t>
            </a:r>
          </a:p>
          <a:p>
            <a:pPr algn="ctr">
              <a:lnSpc>
                <a:spcPct val="114000"/>
              </a:lnSpc>
              <a:defRPr sz="9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050"/>
              <a:t>AST → symbols / </a:t>
            </a:r>
            <a:r>
              <a:rPr sz="1050">
                <a:latin typeface="+mj-lt"/>
                <a:ea typeface="+mj-ea"/>
                <a:cs typeface="+mj-cs"/>
                <a:sym typeface="Helvetica"/>
              </a:rPr>
              <a:t>张量图</a:t>
            </a:r>
          </a:p>
        </p:txBody>
      </p:sp>
      <p:sp>
        <p:nvSpPr>
          <p:cNvPr id="218" name="Rounded Rectangle 15"/>
          <p:cNvSpPr/>
          <p:nvPr/>
        </p:nvSpPr>
        <p:spPr>
          <a:xfrm>
            <a:off x="566927" y="2560320"/>
            <a:ext cx="6035042" cy="987553"/>
          </a:xfrm>
          <a:prstGeom prst="roundRect">
            <a:avLst>
              <a:gd name="adj" fmla="val 5092"/>
            </a:avLst>
          </a:prstGeom>
          <a:solidFill>
            <a:srgbClr val="FFFFFF"/>
          </a:solidFill>
          <a:ln w="17780">
            <a:solidFill>
              <a:srgbClr val="1F6F8B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219" name="TextBox 16"/>
          <p:cNvSpPr txBox="1"/>
          <p:nvPr/>
        </p:nvSpPr>
        <p:spPr>
          <a:xfrm>
            <a:off x="566927" y="2827400"/>
            <a:ext cx="6035042" cy="453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200">
                <a:solidFill>
                  <a:srgbClr val="1F6F8B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600" dirty="0"/>
              <a:t>③ </a:t>
            </a:r>
            <a:r>
              <a:rPr sz="1600" b="1" dirty="0" err="1">
                <a:latin typeface="+mj-lt"/>
                <a:ea typeface="+mj-ea"/>
                <a:cs typeface="+mj-cs"/>
                <a:sym typeface="Helvetica"/>
              </a:rPr>
              <a:t>协调器</a:t>
            </a:r>
            <a:r>
              <a:rPr sz="1600" b="1" dirty="0"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sz="1600" dirty="0" err="1"/>
              <a:t>maybe_start_trace</a:t>
            </a:r>
            <a:r>
              <a:rPr sz="1600" dirty="0"/>
              <a:t> ·</a:t>
            </a:r>
            <a:r>
              <a:rPr lang="zh-CN" altLang="en-US" sz="1600" b="1" dirty="0"/>
              <a:t>防重复触发</a:t>
            </a:r>
            <a:endParaRPr sz="1600" b="1" dirty="0">
              <a:latin typeface="+mj-lt"/>
              <a:ea typeface="+mj-ea"/>
              <a:cs typeface="+mj-cs"/>
              <a:sym typeface="Helvetica"/>
            </a:endParaRPr>
          </a:p>
          <a:p>
            <a:pPr algn="ctr">
              <a:lnSpc>
                <a:spcPct val="114000"/>
              </a:lnSpc>
              <a:defRPr sz="9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050" dirty="0" err="1">
                <a:latin typeface="+mj-lt"/>
                <a:ea typeface="+mj-ea"/>
                <a:cs typeface="+mj-cs"/>
                <a:sym typeface="Helvetica"/>
              </a:rPr>
              <a:t>论文</a:t>
            </a:r>
            <a:r>
              <a:rPr sz="1050" dirty="0"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sz="1050" dirty="0"/>
              <a:t>succeeded </a:t>
            </a:r>
            <a:r>
              <a:rPr sz="1050" dirty="0">
                <a:latin typeface="+mj-lt"/>
                <a:ea typeface="+mj-ea"/>
                <a:cs typeface="+mj-cs"/>
                <a:sym typeface="Helvetica"/>
              </a:rPr>
              <a:t>＋ </a:t>
            </a:r>
            <a:r>
              <a:rPr sz="1050" dirty="0" err="1">
                <a:latin typeface="+mj-lt"/>
                <a:ea typeface="+mj-ea"/>
                <a:cs typeface="+mj-cs"/>
                <a:sym typeface="Helvetica"/>
              </a:rPr>
              <a:t>代码分析</a:t>
            </a:r>
            <a:r>
              <a:rPr sz="1050" dirty="0"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sz="1050" dirty="0"/>
              <a:t>current </a:t>
            </a:r>
            <a:r>
              <a:rPr sz="1050" dirty="0">
                <a:latin typeface="+mj-lt"/>
                <a:ea typeface="+mj-ea"/>
                <a:cs typeface="+mj-cs"/>
                <a:sym typeface="Helvetica"/>
              </a:rPr>
              <a:t>＋ </a:t>
            </a:r>
            <a:r>
              <a:rPr sz="1050" dirty="0"/>
              <a:t>provider </a:t>
            </a:r>
            <a:r>
              <a:rPr sz="1050" dirty="0" err="1">
                <a:latin typeface="+mj-lt"/>
                <a:ea typeface="+mj-ea"/>
                <a:cs typeface="+mj-cs"/>
                <a:sym typeface="Helvetica"/>
              </a:rPr>
              <a:t>可用</a:t>
            </a:r>
            <a:endParaRPr sz="1050"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220" name="Rounded Rectangle 17"/>
          <p:cNvSpPr/>
          <p:nvPr/>
        </p:nvSpPr>
        <p:spPr>
          <a:xfrm>
            <a:off x="566927" y="3739896"/>
            <a:ext cx="1828801" cy="1069849"/>
          </a:xfrm>
          <a:prstGeom prst="roundRect">
            <a:avLst>
              <a:gd name="adj" fmla="val 4700"/>
            </a:avLst>
          </a:prstGeom>
          <a:solidFill>
            <a:srgbClr val="FDF8EC"/>
          </a:solidFill>
          <a:ln w="12700">
            <a:solidFill>
              <a:srgbClr val="E9D29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221" name="TextBox 18"/>
          <p:cNvSpPr txBox="1"/>
          <p:nvPr/>
        </p:nvSpPr>
        <p:spPr>
          <a:xfrm>
            <a:off x="640080" y="4065693"/>
            <a:ext cx="1682497" cy="418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100">
                <a:solidFill>
                  <a:srgbClr val="D99B06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400" dirty="0"/>
              <a:t>④ </a:t>
            </a:r>
            <a:r>
              <a:rPr sz="1400" b="1" dirty="0">
                <a:latin typeface="+mj-lt"/>
                <a:ea typeface="+mj-ea"/>
                <a:cs typeface="+mj-cs"/>
                <a:sym typeface="Helvetica"/>
              </a:rPr>
              <a:t>单</a:t>
            </a:r>
            <a:r>
              <a:rPr lang="zh-CN" altLang="en-US" sz="1400" b="1" dirty="0">
                <a:latin typeface="+mj-lt"/>
                <a:ea typeface="+mj-ea"/>
                <a:cs typeface="+mj-cs"/>
                <a:sym typeface="Helvetica"/>
              </a:rPr>
              <a:t>次运行</a:t>
            </a:r>
            <a:r>
              <a:rPr sz="1400" b="1" dirty="0" err="1">
                <a:latin typeface="+mj-lt"/>
                <a:ea typeface="+mj-ea"/>
                <a:cs typeface="+mj-cs"/>
                <a:sym typeface="Helvetica"/>
              </a:rPr>
              <a:t>四阶段</a:t>
            </a:r>
            <a:endParaRPr sz="1400" b="1" dirty="0">
              <a:latin typeface="+mj-lt"/>
              <a:ea typeface="+mj-ea"/>
              <a:cs typeface="+mj-cs"/>
              <a:sym typeface="Helvetica"/>
            </a:endParaRPr>
          </a:p>
          <a:p>
            <a:pPr algn="ctr">
              <a:lnSpc>
                <a:spcPct val="114000"/>
              </a:lnSpc>
              <a:defRPr sz="9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050" dirty="0" err="1">
                <a:latin typeface="+mj-lt"/>
                <a:ea typeface="+mj-ea"/>
                <a:cs typeface="+mj-cs"/>
                <a:sym typeface="Helvetica"/>
              </a:rPr>
              <a:t>分批</a:t>
            </a:r>
            <a:r>
              <a:rPr sz="1050" dirty="0"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sz="1050" dirty="0"/>
              <a:t>publish</a:t>
            </a:r>
          </a:p>
        </p:txBody>
      </p:sp>
      <p:sp>
        <p:nvSpPr>
          <p:cNvPr id="222" name="Rounded Rectangle 19"/>
          <p:cNvSpPr/>
          <p:nvPr/>
        </p:nvSpPr>
        <p:spPr>
          <a:xfrm>
            <a:off x="2670048" y="3739896"/>
            <a:ext cx="1828801" cy="1069849"/>
          </a:xfrm>
          <a:prstGeom prst="roundRect">
            <a:avLst>
              <a:gd name="adj" fmla="val 4700"/>
            </a:avLst>
          </a:prstGeom>
          <a:solidFill>
            <a:srgbClr val="EFF9F6"/>
          </a:solidFill>
          <a:ln w="12700">
            <a:solidFill>
              <a:srgbClr val="B3DED4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223" name="TextBox 20"/>
          <p:cNvSpPr txBox="1"/>
          <p:nvPr/>
        </p:nvSpPr>
        <p:spPr>
          <a:xfrm>
            <a:off x="2743200" y="4065693"/>
            <a:ext cx="1682496" cy="418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100">
                <a:solidFill>
                  <a:srgbClr val="1F8F78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400" dirty="0"/>
              <a:t>⑤ </a:t>
            </a:r>
            <a:r>
              <a:rPr sz="1400" b="1" dirty="0" err="1">
                <a:latin typeface="+mj-lt"/>
                <a:ea typeface="+mj-ea"/>
                <a:cs typeface="+mj-cs"/>
                <a:sym typeface="Helvetica"/>
              </a:rPr>
              <a:t>校验</a:t>
            </a:r>
            <a:r>
              <a:rPr sz="1400" b="1" dirty="0"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sz="1400" dirty="0"/>
              <a:t>→ </a:t>
            </a:r>
            <a:r>
              <a:rPr sz="1400" b="1" dirty="0" err="1"/>
              <a:t>落实</a:t>
            </a:r>
            <a:endParaRPr sz="1400" b="1" dirty="0">
              <a:latin typeface="+mj-lt"/>
              <a:ea typeface="+mj-ea"/>
              <a:cs typeface="+mj-cs"/>
              <a:sym typeface="Helvetica"/>
            </a:endParaRPr>
          </a:p>
          <a:p>
            <a:pPr algn="ctr">
              <a:lnSpc>
                <a:spcPct val="114000"/>
              </a:lnSpc>
              <a:defRPr sz="9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050" dirty="0">
                <a:latin typeface="+mj-lt"/>
                <a:ea typeface="+mj-ea"/>
                <a:cs typeface="+mj-cs"/>
                <a:sym typeface="Helvetica"/>
              </a:rPr>
              <a:t>发 </a:t>
            </a:r>
            <a:r>
              <a:rPr sz="1050" dirty="0"/>
              <a:t>SSE </a:t>
            </a:r>
            <a:r>
              <a:rPr sz="1050" dirty="0" err="1">
                <a:latin typeface="+mj-lt"/>
                <a:ea typeface="+mj-ea"/>
                <a:cs typeface="+mj-cs"/>
                <a:sym typeface="Helvetica"/>
              </a:rPr>
              <a:t>事件</a:t>
            </a:r>
            <a:endParaRPr sz="1050"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224" name="Connector 21"/>
          <p:cNvSpPr/>
          <p:nvPr/>
        </p:nvSpPr>
        <p:spPr>
          <a:xfrm>
            <a:off x="2432304" y="4274820"/>
            <a:ext cx="201169" cy="1"/>
          </a:xfrm>
          <a:prstGeom prst="line">
            <a:avLst/>
          </a:prstGeom>
          <a:ln w="12700">
            <a:solidFill>
              <a:srgbClr val="8B95A5"/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endParaRPr sz="2400"/>
          </a:p>
        </p:txBody>
      </p:sp>
      <p:sp>
        <p:nvSpPr>
          <p:cNvPr id="225" name="Rounded Rectangle 22"/>
          <p:cNvSpPr/>
          <p:nvPr/>
        </p:nvSpPr>
        <p:spPr>
          <a:xfrm>
            <a:off x="4773167" y="3739896"/>
            <a:ext cx="1828801" cy="1069849"/>
          </a:xfrm>
          <a:prstGeom prst="roundRect">
            <a:avLst>
              <a:gd name="adj" fmla="val 4700"/>
            </a:avLst>
          </a:prstGeom>
          <a:solidFill>
            <a:srgbClr val="FFFFFF"/>
          </a:solidFill>
          <a:ln w="12700">
            <a:solidFill>
              <a:srgbClr val="DFE4EC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226" name="TextBox 23"/>
          <p:cNvSpPr txBox="1"/>
          <p:nvPr/>
        </p:nvSpPr>
        <p:spPr>
          <a:xfrm>
            <a:off x="4846320" y="4159020"/>
            <a:ext cx="1682497" cy="2316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14000"/>
              </a:lnSpc>
              <a:defRPr sz="1100">
                <a:solidFill>
                  <a:srgbClr val="14181F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rPr sz="1400" b="1" dirty="0"/>
              <a:t>⑦ </a:t>
            </a:r>
            <a:r>
              <a:rPr sz="1400" b="1" dirty="0" err="1"/>
              <a:t>finish_analysis</a:t>
            </a:r>
            <a:endParaRPr sz="1400" b="1" dirty="0"/>
          </a:p>
        </p:txBody>
      </p:sp>
      <p:sp>
        <p:nvSpPr>
          <p:cNvPr id="227" name="Connector 24"/>
          <p:cNvSpPr/>
          <p:nvPr/>
        </p:nvSpPr>
        <p:spPr>
          <a:xfrm>
            <a:off x="4535423" y="4274820"/>
            <a:ext cx="201169" cy="1"/>
          </a:xfrm>
          <a:prstGeom prst="line">
            <a:avLst/>
          </a:prstGeom>
          <a:ln w="12700">
            <a:solidFill>
              <a:srgbClr val="8B95A5"/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endParaRPr sz="2400"/>
          </a:p>
        </p:txBody>
      </p:sp>
      <p:sp>
        <p:nvSpPr>
          <p:cNvPr id="228" name="Rounded Rectangle 25"/>
          <p:cNvSpPr/>
          <p:nvPr/>
        </p:nvSpPr>
        <p:spPr>
          <a:xfrm>
            <a:off x="566927" y="5001767"/>
            <a:ext cx="6035042" cy="1069849"/>
          </a:xfrm>
          <a:prstGeom prst="roundRect">
            <a:avLst>
              <a:gd name="adj" fmla="val 4700"/>
            </a:avLst>
          </a:prstGeom>
          <a:solidFill>
            <a:srgbClr val="F0F7F9"/>
          </a:solidFill>
          <a:ln>
            <a:solidFill>
              <a:srgbClr val="B8D5D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229" name="TextBox 26"/>
          <p:cNvSpPr txBox="1"/>
          <p:nvPr/>
        </p:nvSpPr>
        <p:spPr>
          <a:xfrm>
            <a:off x="566927" y="5309995"/>
            <a:ext cx="6035042" cy="453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200">
                <a:solidFill>
                  <a:srgbClr val="1F6F8B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600"/>
              <a:t>⑥ useTrace 处理</a:t>
            </a:r>
            <a:r>
              <a:rPr sz="1600" b="1"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sz="1600"/>
              <a:t>SSE</a:t>
            </a:r>
            <a:r>
              <a:rPr sz="1600" b="1">
                <a:latin typeface="+mj-lt"/>
                <a:ea typeface="+mj-ea"/>
                <a:cs typeface="+mj-cs"/>
                <a:sym typeface="Helvetica"/>
              </a:rPr>
              <a:t> 事件 增量合并 </a:t>
            </a:r>
            <a:r>
              <a:rPr sz="1600"/>
              <a:t>→ </a:t>
            </a:r>
            <a:r>
              <a:rPr sz="1600" b="1">
                <a:latin typeface="+mj-lt"/>
                <a:ea typeface="+mj-ea"/>
                <a:cs typeface="+mj-cs"/>
                <a:sym typeface="Helvetica"/>
              </a:rPr>
              <a:t>渐进渲染</a:t>
            </a:r>
          </a:p>
          <a:p>
            <a:pPr algn="ctr">
              <a:lnSpc>
                <a:spcPct val="114000"/>
              </a:lnSpc>
              <a:defRPr sz="9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050"/>
              <a:t>CodeMirror </a:t>
            </a:r>
            <a:r>
              <a:rPr sz="1050">
                <a:latin typeface="+mj-lt"/>
                <a:ea typeface="+mj-ea"/>
                <a:cs typeface="+mj-cs"/>
                <a:sym typeface="Helvetica"/>
              </a:rPr>
              <a:t>实时刷新</a:t>
            </a:r>
          </a:p>
        </p:txBody>
      </p:sp>
      <p:sp>
        <p:nvSpPr>
          <p:cNvPr id="230" name="Rounded Rectangle 27"/>
          <p:cNvSpPr/>
          <p:nvPr/>
        </p:nvSpPr>
        <p:spPr>
          <a:xfrm>
            <a:off x="6876288" y="1298447"/>
            <a:ext cx="4748754" cy="4773169"/>
          </a:xfrm>
          <a:prstGeom prst="roundRect">
            <a:avLst>
              <a:gd name="adj" fmla="val 2000"/>
            </a:avLst>
          </a:prstGeom>
          <a:solidFill>
            <a:srgbClr val="FBFCFD"/>
          </a:solidFill>
          <a:ln>
            <a:solidFill>
              <a:srgbClr val="DFE4EC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231" name="TextBox 28"/>
          <p:cNvSpPr txBox="1"/>
          <p:nvPr/>
        </p:nvSpPr>
        <p:spPr>
          <a:xfrm>
            <a:off x="7077456" y="1517903"/>
            <a:ext cx="4346419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 b="1">
                <a:solidFill>
                  <a:srgbClr val="14181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b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600" b="1">
                <a:latin typeface="+mj-lt"/>
                <a:ea typeface="+mj-ea"/>
                <a:cs typeface="+mj-cs"/>
                <a:sym typeface="Helvetica"/>
              </a:rPr>
              <a:t>链路特征</a:t>
            </a:r>
          </a:p>
        </p:txBody>
      </p:sp>
      <p:sp>
        <p:nvSpPr>
          <p:cNvPr id="232" name="Connector 29"/>
          <p:cNvSpPr/>
          <p:nvPr/>
        </p:nvSpPr>
        <p:spPr>
          <a:xfrm>
            <a:off x="7077456" y="1984248"/>
            <a:ext cx="4346419" cy="1"/>
          </a:xfrm>
          <a:prstGeom prst="line">
            <a:avLst/>
          </a:prstGeom>
          <a:ln>
            <a:solidFill>
              <a:srgbClr val="DFE4EC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endParaRPr sz="2400"/>
          </a:p>
        </p:txBody>
      </p:sp>
      <p:sp>
        <p:nvSpPr>
          <p:cNvPr id="233" name="Rectangle 30"/>
          <p:cNvSpPr/>
          <p:nvPr/>
        </p:nvSpPr>
        <p:spPr>
          <a:xfrm>
            <a:off x="7077456" y="2148839"/>
            <a:ext cx="45721" cy="822961"/>
          </a:xfrm>
          <a:prstGeom prst="rect">
            <a:avLst/>
          </a:prstGeom>
          <a:solidFill>
            <a:srgbClr val="1F8F7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234" name="TextBox 31"/>
          <p:cNvSpPr txBox="1"/>
          <p:nvPr/>
        </p:nvSpPr>
        <p:spPr>
          <a:xfrm>
            <a:off x="7242047" y="2176272"/>
            <a:ext cx="4108675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200">
                <a:solidFill>
                  <a:srgbClr val="1F8F78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600" b="1" dirty="0" err="1"/>
              <a:t>半</a:t>
            </a:r>
            <a:r>
              <a:rPr sz="1600" b="1" dirty="0" err="1">
                <a:latin typeface="+mj-lt"/>
                <a:ea typeface="+mj-ea"/>
                <a:cs typeface="+mj-cs"/>
                <a:sym typeface="Helvetica"/>
              </a:rPr>
              <a:t>自动触发</a:t>
            </a:r>
            <a:endParaRPr sz="1600" b="1"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235" name="TextBox 32"/>
          <p:cNvSpPr txBox="1"/>
          <p:nvPr/>
        </p:nvSpPr>
        <p:spPr>
          <a:xfrm>
            <a:off x="7242047" y="2532888"/>
            <a:ext cx="4108675" cy="1615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9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050" dirty="0" err="1"/>
              <a:t>上传时即可初步解析，点击</a:t>
            </a:r>
            <a:r>
              <a:rPr sz="1050" dirty="0" err="1">
                <a:latin typeface="+mj-lt"/>
                <a:ea typeface="+mj-ea"/>
                <a:cs typeface="+mj-cs"/>
                <a:sym typeface="Helvetica"/>
              </a:rPr>
              <a:t>「生成追溯」按钮便能深度思考</a:t>
            </a:r>
            <a:endParaRPr sz="1050"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236" name="Rectangle 33"/>
          <p:cNvSpPr/>
          <p:nvPr/>
        </p:nvSpPr>
        <p:spPr>
          <a:xfrm>
            <a:off x="7077456" y="3136392"/>
            <a:ext cx="45721" cy="822961"/>
          </a:xfrm>
          <a:prstGeom prst="rect">
            <a:avLst/>
          </a:prstGeom>
          <a:solidFill>
            <a:srgbClr val="1F6F8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237" name="TextBox 34"/>
          <p:cNvSpPr txBox="1"/>
          <p:nvPr/>
        </p:nvSpPr>
        <p:spPr>
          <a:xfrm>
            <a:off x="7242047" y="3163823"/>
            <a:ext cx="4108675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 b="1">
                <a:solidFill>
                  <a:srgbClr val="1F6F8B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b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600" b="1">
                <a:latin typeface="+mj-lt"/>
                <a:ea typeface="+mj-ea"/>
                <a:cs typeface="+mj-cs"/>
                <a:sym typeface="Helvetica"/>
              </a:rPr>
              <a:t>渐进可见</a:t>
            </a:r>
          </a:p>
        </p:txBody>
      </p:sp>
      <p:sp>
        <p:nvSpPr>
          <p:cNvPr id="238" name="TextBox 35"/>
          <p:cNvSpPr txBox="1"/>
          <p:nvPr/>
        </p:nvSpPr>
        <p:spPr>
          <a:xfrm>
            <a:off x="7242047" y="3520440"/>
            <a:ext cx="4108675" cy="1615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050" dirty="0" err="1">
                <a:latin typeface="+mj-lt"/>
                <a:ea typeface="+mj-ea"/>
                <a:cs typeface="+mj-cs"/>
                <a:sym typeface="Helvetica"/>
              </a:rPr>
              <a:t>边分析边渲染，实时推送处理结果</a:t>
            </a:r>
            <a:endParaRPr sz="1050"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239" name="Rectangle 36"/>
          <p:cNvSpPr/>
          <p:nvPr/>
        </p:nvSpPr>
        <p:spPr>
          <a:xfrm>
            <a:off x="7077456" y="4123944"/>
            <a:ext cx="45721" cy="822961"/>
          </a:xfrm>
          <a:prstGeom prst="rect">
            <a:avLst/>
          </a:prstGeom>
          <a:solidFill>
            <a:srgbClr val="7A5CC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240" name="TextBox 37"/>
          <p:cNvSpPr txBox="1"/>
          <p:nvPr/>
        </p:nvSpPr>
        <p:spPr>
          <a:xfrm>
            <a:off x="7242047" y="4151376"/>
            <a:ext cx="4108675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 b="1">
                <a:solidFill>
                  <a:srgbClr val="7A5CC4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b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600" b="1">
                <a:latin typeface="+mj-lt"/>
                <a:ea typeface="+mj-ea"/>
                <a:cs typeface="+mj-cs"/>
                <a:sym typeface="Helvetica"/>
              </a:rPr>
              <a:t>可中止可续跑</a:t>
            </a:r>
          </a:p>
        </p:txBody>
      </p:sp>
      <p:sp>
        <p:nvSpPr>
          <p:cNvPr id="241" name="TextBox 38"/>
          <p:cNvSpPr txBox="1"/>
          <p:nvPr/>
        </p:nvSpPr>
        <p:spPr>
          <a:xfrm>
            <a:off x="7242047" y="4507991"/>
            <a:ext cx="4108675" cy="1615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050">
                <a:latin typeface="+mj-lt"/>
                <a:ea typeface="+mj-ea"/>
                <a:cs typeface="+mj-cs"/>
                <a:sym typeface="Helvetica"/>
              </a:rPr>
              <a:t>已发现结果即使临时终止也能正常参考</a:t>
            </a:r>
          </a:p>
        </p:txBody>
      </p:sp>
      <p:sp>
        <p:nvSpPr>
          <p:cNvPr id="242" name="Rectangle 39"/>
          <p:cNvSpPr/>
          <p:nvPr/>
        </p:nvSpPr>
        <p:spPr>
          <a:xfrm>
            <a:off x="7077456" y="5111496"/>
            <a:ext cx="45721" cy="822961"/>
          </a:xfrm>
          <a:prstGeom prst="rect">
            <a:avLst/>
          </a:prstGeom>
          <a:solidFill>
            <a:srgbClr val="D99B0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243" name="TextBox 40"/>
          <p:cNvSpPr txBox="1"/>
          <p:nvPr/>
        </p:nvSpPr>
        <p:spPr>
          <a:xfrm>
            <a:off x="7242047" y="5138928"/>
            <a:ext cx="4108675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 b="1">
                <a:solidFill>
                  <a:srgbClr val="D99B06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rPr sz="1600"/>
              <a:t>张量图与链路分离</a:t>
            </a:r>
          </a:p>
        </p:txBody>
      </p:sp>
      <p:sp>
        <p:nvSpPr>
          <p:cNvPr id="244" name="TextBox 41"/>
          <p:cNvSpPr txBox="1"/>
          <p:nvPr/>
        </p:nvSpPr>
        <p:spPr>
          <a:xfrm>
            <a:off x="7242047" y="5495544"/>
            <a:ext cx="4108675" cy="1615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050">
                <a:latin typeface="+mj-lt"/>
                <a:ea typeface="+mj-ea"/>
                <a:cs typeface="+mj-cs"/>
                <a:sym typeface="Helvetica"/>
              </a:rPr>
              <a:t>张量图生成失败不影响追溯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Rectangle 2"/>
          <p:cNvSpPr/>
          <p:nvPr/>
        </p:nvSpPr>
        <p:spPr>
          <a:xfrm>
            <a:off x="-1" y="0"/>
            <a:ext cx="56695" cy="6858000"/>
          </a:xfrm>
          <a:prstGeom prst="rect">
            <a:avLst/>
          </a:prstGeom>
          <a:solidFill>
            <a:srgbClr val="1F6F8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48" name="TextBox 3"/>
          <p:cNvSpPr txBox="1"/>
          <p:nvPr/>
        </p:nvSpPr>
        <p:spPr>
          <a:xfrm>
            <a:off x="566927" y="384047"/>
            <a:ext cx="1105811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1F6F8B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t>CORE WORKFLOW</a:t>
            </a:r>
          </a:p>
        </p:txBody>
      </p:sp>
      <p:sp>
        <p:nvSpPr>
          <p:cNvPr id="249" name="TextBox 4"/>
          <p:cNvSpPr txBox="1"/>
          <p:nvPr/>
        </p:nvSpPr>
        <p:spPr>
          <a:xfrm>
            <a:off x="566927" y="603504"/>
            <a:ext cx="11058116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500" b="1">
                <a:solidFill>
                  <a:srgbClr val="14181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b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为 Agent 设计的四段工作流</a:t>
            </a:r>
          </a:p>
        </p:txBody>
      </p:sp>
      <p:sp>
        <p:nvSpPr>
          <p:cNvPr id="250" name="TextBox 5"/>
          <p:cNvSpPr txBox="1"/>
          <p:nvPr/>
        </p:nvSpPr>
        <p:spPr>
          <a:xfrm>
            <a:off x="566927" y="1021235"/>
            <a:ext cx="10509476" cy="2128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11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lvl1pPr>
          </a:lstStyle>
          <a:p>
            <a:r>
              <a:rPr sz="1200" dirty="0" err="1"/>
              <a:t>我们将工作流程拆分成四个阶段，写入sysprompt对Agent进行流程约束</a:t>
            </a:r>
            <a:r>
              <a:rPr sz="1200" dirty="0"/>
              <a:t>，</a:t>
            </a:r>
            <a:r>
              <a:rPr lang="zh-CN" altLang="en-US" sz="1200" dirty="0"/>
              <a:t>使其</a:t>
            </a:r>
            <a:r>
              <a:rPr sz="1200" dirty="0" err="1"/>
              <a:t>系统性执行流程</a:t>
            </a:r>
            <a:endParaRPr sz="1200" dirty="0"/>
          </a:p>
        </p:txBody>
      </p:sp>
      <p:sp>
        <p:nvSpPr>
          <p:cNvPr id="251" name="TextBox 6"/>
          <p:cNvSpPr txBox="1"/>
          <p:nvPr/>
        </p:nvSpPr>
        <p:spPr>
          <a:xfrm>
            <a:off x="11231850" y="6473952"/>
            <a:ext cx="4572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9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lvl1pPr>
          </a:lstStyle>
          <a:p>
            <a:r>
              <a:t>07</a:t>
            </a:r>
          </a:p>
        </p:txBody>
      </p:sp>
      <p:sp>
        <p:nvSpPr>
          <p:cNvPr id="252" name="Rounded Rectangle 7"/>
          <p:cNvSpPr/>
          <p:nvPr/>
        </p:nvSpPr>
        <p:spPr>
          <a:xfrm>
            <a:off x="566927" y="1298447"/>
            <a:ext cx="2654801" cy="2810437"/>
          </a:xfrm>
          <a:prstGeom prst="roundRect">
            <a:avLst>
              <a:gd name="adj" fmla="val 2000"/>
            </a:avLst>
          </a:prstGeom>
          <a:solidFill>
            <a:srgbClr val="F0F7F9"/>
          </a:solidFill>
          <a:ln>
            <a:solidFill>
              <a:srgbClr val="B8D5D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53" name="Rounded Rectangle 8"/>
          <p:cNvSpPr/>
          <p:nvPr/>
        </p:nvSpPr>
        <p:spPr>
          <a:xfrm>
            <a:off x="566927" y="1298447"/>
            <a:ext cx="2654801" cy="419101"/>
          </a:xfrm>
          <a:prstGeom prst="roundRect">
            <a:avLst>
              <a:gd name="adj" fmla="val 12000"/>
            </a:avLst>
          </a:prstGeom>
          <a:solidFill>
            <a:srgbClr val="1F6F8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54" name="TextBox 9"/>
          <p:cNvSpPr txBox="1"/>
          <p:nvPr/>
        </p:nvSpPr>
        <p:spPr>
          <a:xfrm>
            <a:off x="566927" y="1376455"/>
            <a:ext cx="2654801" cy="2630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200">
                <a:solidFill>
                  <a:srgbClr val="FFFFFF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600" dirty="0"/>
              <a:t>① SCOUT  </a:t>
            </a:r>
            <a:r>
              <a:rPr sz="1600" b="1" dirty="0" err="1">
                <a:latin typeface="+mj-lt"/>
                <a:ea typeface="+mj-ea"/>
                <a:cs typeface="+mj-cs"/>
                <a:sym typeface="Helvetica"/>
              </a:rPr>
              <a:t>挑论文重点</a:t>
            </a:r>
            <a:endParaRPr sz="1600" b="1"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255" name="TextBox 10"/>
          <p:cNvSpPr txBox="1"/>
          <p:nvPr/>
        </p:nvSpPr>
        <p:spPr>
          <a:xfrm>
            <a:off x="731519" y="2231363"/>
            <a:ext cx="2325617" cy="13637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42000"/>
              </a:lnSpc>
              <a:defRPr sz="10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600" dirty="0"/>
              <a:t>· </a:t>
            </a:r>
            <a:r>
              <a:rPr sz="1600" dirty="0" err="1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解剖文章结构</a:t>
            </a:r>
            <a:endParaRPr sz="1600" dirty="0">
              <a:solidFill>
                <a:srgbClr val="4A5464"/>
              </a:solidFill>
              <a:latin typeface="+mj-lt"/>
              <a:ea typeface="+mj-ea"/>
              <a:cs typeface="+mj-cs"/>
              <a:sym typeface="Helvetica"/>
            </a:endParaRPr>
          </a:p>
          <a:p>
            <a:pPr>
              <a:lnSpc>
                <a:spcPct val="142000"/>
              </a:lnSpc>
              <a:defRPr sz="10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600" dirty="0"/>
              <a:t>· </a:t>
            </a:r>
            <a:r>
              <a:rPr sz="1600" dirty="0" err="1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提炼</a:t>
            </a:r>
            <a:r>
              <a:rPr sz="1600" dirty="0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sz="1600" dirty="0">
                <a:solidFill>
                  <a:srgbClr val="4A5464"/>
                </a:solidFill>
              </a:rPr>
              <a:t>3~8 </a:t>
            </a:r>
            <a:r>
              <a:rPr sz="1600" dirty="0" err="1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个核心贡献</a:t>
            </a:r>
            <a:endParaRPr sz="1600" dirty="0">
              <a:solidFill>
                <a:srgbClr val="4A5464"/>
              </a:solidFill>
              <a:latin typeface="+mj-lt"/>
              <a:ea typeface="+mj-ea"/>
              <a:cs typeface="+mj-cs"/>
              <a:sym typeface="Helvetica"/>
            </a:endParaRPr>
          </a:p>
          <a:p>
            <a:pPr>
              <a:lnSpc>
                <a:spcPct val="142000"/>
              </a:lnSpc>
              <a:defRPr sz="10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600" dirty="0"/>
              <a:t>· </a:t>
            </a:r>
            <a:r>
              <a:rPr sz="1600" dirty="0" err="1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标记</a:t>
            </a:r>
            <a:r>
              <a:rPr sz="1600" dirty="0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sz="1600" dirty="0">
                <a:solidFill>
                  <a:srgbClr val="4A5464"/>
                </a:solidFill>
              </a:rPr>
              <a:t>must-inspect</a:t>
            </a:r>
          </a:p>
          <a:p>
            <a:pPr>
              <a:lnSpc>
                <a:spcPct val="142000"/>
              </a:lnSpc>
              <a:defRPr sz="10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600" dirty="0"/>
              <a:t>· </a:t>
            </a:r>
            <a:r>
              <a:rPr sz="1600" dirty="0" err="1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排除背景</a:t>
            </a:r>
            <a:r>
              <a:rPr sz="1600" dirty="0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sz="1600" dirty="0">
                <a:solidFill>
                  <a:srgbClr val="4A5464"/>
                </a:solidFill>
              </a:rPr>
              <a:t>/ </a:t>
            </a:r>
            <a:r>
              <a:rPr sz="1600" dirty="0" err="1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相关工作</a:t>
            </a:r>
            <a:endParaRPr sz="1600" dirty="0">
              <a:solidFill>
                <a:srgbClr val="4A5464"/>
              </a:solidFill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256" name="Rounded Rectangle 11"/>
          <p:cNvSpPr/>
          <p:nvPr/>
        </p:nvSpPr>
        <p:spPr>
          <a:xfrm>
            <a:off x="3368032" y="1298447"/>
            <a:ext cx="2654800" cy="2810437"/>
          </a:xfrm>
          <a:prstGeom prst="roundRect">
            <a:avLst>
              <a:gd name="adj" fmla="val 2000"/>
            </a:avLst>
          </a:prstGeom>
          <a:solidFill>
            <a:srgbClr val="F5F2FC"/>
          </a:solidFill>
          <a:ln>
            <a:solidFill>
              <a:srgbClr val="CCC0E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57" name="Rounded Rectangle 12"/>
          <p:cNvSpPr/>
          <p:nvPr/>
        </p:nvSpPr>
        <p:spPr>
          <a:xfrm>
            <a:off x="3368032" y="1298447"/>
            <a:ext cx="2654800" cy="419101"/>
          </a:xfrm>
          <a:prstGeom prst="roundRect">
            <a:avLst>
              <a:gd name="adj" fmla="val 12000"/>
            </a:avLst>
          </a:prstGeom>
          <a:solidFill>
            <a:srgbClr val="7A5CC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58" name="TextBox 13"/>
          <p:cNvSpPr txBox="1"/>
          <p:nvPr/>
        </p:nvSpPr>
        <p:spPr>
          <a:xfrm>
            <a:off x="3368032" y="1376455"/>
            <a:ext cx="2654800" cy="2630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200">
                <a:solidFill>
                  <a:srgbClr val="FFFFFF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600" dirty="0"/>
              <a:t>② MAP  </a:t>
            </a:r>
            <a:r>
              <a:rPr sz="1600" b="1" dirty="0" err="1">
                <a:latin typeface="+mj-lt"/>
                <a:ea typeface="+mj-ea"/>
                <a:cs typeface="+mj-cs"/>
                <a:sym typeface="Helvetica"/>
              </a:rPr>
              <a:t>画代码职责地图</a:t>
            </a:r>
            <a:endParaRPr sz="1600" b="1"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259" name="TextBox 14"/>
          <p:cNvSpPr txBox="1"/>
          <p:nvPr/>
        </p:nvSpPr>
        <p:spPr>
          <a:xfrm>
            <a:off x="3532623" y="2406186"/>
            <a:ext cx="2325617" cy="1014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42000"/>
              </a:lnSpc>
              <a:defRPr sz="10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600" dirty="0"/>
              <a:t>· </a:t>
            </a:r>
            <a:r>
              <a:rPr sz="1600" dirty="0" err="1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扫描仓库</a:t>
            </a:r>
            <a:r>
              <a:rPr sz="1600" dirty="0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 - </a:t>
            </a:r>
            <a:r>
              <a:rPr sz="1600" dirty="0" err="1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代码定位</a:t>
            </a:r>
            <a:endParaRPr sz="1600" dirty="0">
              <a:solidFill>
                <a:srgbClr val="4A5464"/>
              </a:solidFill>
              <a:latin typeface="+mj-lt"/>
              <a:ea typeface="+mj-ea"/>
              <a:cs typeface="+mj-cs"/>
              <a:sym typeface="Helvetica"/>
            </a:endParaRPr>
          </a:p>
          <a:p>
            <a:pPr>
              <a:lnSpc>
                <a:spcPct val="142000"/>
              </a:lnSpc>
              <a:defRPr sz="10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600" dirty="0"/>
              <a:t>· </a:t>
            </a:r>
            <a:r>
              <a:rPr sz="1600" dirty="0" err="1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模型</a:t>
            </a:r>
            <a:r>
              <a:rPr sz="1600" dirty="0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sz="1600" dirty="0">
                <a:solidFill>
                  <a:srgbClr val="4A5464"/>
                </a:solidFill>
              </a:rPr>
              <a:t>/ </a:t>
            </a:r>
            <a:r>
              <a:rPr sz="1600" dirty="0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loss </a:t>
            </a:r>
            <a:r>
              <a:rPr sz="1600" dirty="0">
                <a:solidFill>
                  <a:srgbClr val="4A5464"/>
                </a:solidFill>
              </a:rPr>
              <a:t>/ </a:t>
            </a:r>
            <a:r>
              <a:rPr sz="1600" dirty="0" err="1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张量</a:t>
            </a:r>
            <a:endParaRPr sz="1600" dirty="0">
              <a:solidFill>
                <a:srgbClr val="4A5464"/>
              </a:solidFill>
              <a:latin typeface="+mj-lt"/>
              <a:ea typeface="+mj-ea"/>
              <a:cs typeface="+mj-cs"/>
              <a:sym typeface="Helvetica"/>
            </a:endParaRPr>
          </a:p>
          <a:p>
            <a:pPr>
              <a:lnSpc>
                <a:spcPct val="142000"/>
              </a:lnSpc>
              <a:defRPr sz="10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600" dirty="0"/>
              <a:t>· </a:t>
            </a:r>
            <a:r>
              <a:rPr sz="1600" dirty="0" err="1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主循环</a:t>
            </a:r>
            <a:r>
              <a:rPr sz="1600" dirty="0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sz="1600" dirty="0">
                <a:solidFill>
                  <a:srgbClr val="4A5464"/>
                </a:solidFill>
              </a:rPr>
              <a:t>/ </a:t>
            </a:r>
            <a:r>
              <a:rPr sz="1600" dirty="0" err="1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约束</a:t>
            </a:r>
            <a:r>
              <a:rPr sz="1600" dirty="0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sz="1600" dirty="0">
                <a:solidFill>
                  <a:srgbClr val="4A5464"/>
                </a:solidFill>
              </a:rPr>
              <a:t>/ </a:t>
            </a:r>
            <a:r>
              <a:rPr sz="1600" dirty="0" err="1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更新规则</a:t>
            </a:r>
            <a:endParaRPr sz="1600" dirty="0">
              <a:solidFill>
                <a:srgbClr val="4A5464"/>
              </a:solidFill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260" name="Connector 15"/>
          <p:cNvSpPr/>
          <p:nvPr/>
        </p:nvSpPr>
        <p:spPr>
          <a:xfrm>
            <a:off x="3230871" y="2703665"/>
            <a:ext cx="118872" cy="1"/>
          </a:xfrm>
          <a:prstGeom prst="line">
            <a:avLst/>
          </a:prstGeom>
          <a:ln w="15240">
            <a:solidFill>
              <a:srgbClr val="7A5CC4"/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261" name="Rounded Rectangle 16"/>
          <p:cNvSpPr/>
          <p:nvPr/>
        </p:nvSpPr>
        <p:spPr>
          <a:xfrm>
            <a:off x="6169137" y="1298447"/>
            <a:ext cx="2654800" cy="2810437"/>
          </a:xfrm>
          <a:prstGeom prst="roundRect">
            <a:avLst>
              <a:gd name="adj" fmla="val 2000"/>
            </a:avLst>
          </a:prstGeom>
          <a:solidFill>
            <a:srgbClr val="FDF8EC"/>
          </a:solidFill>
          <a:ln>
            <a:solidFill>
              <a:srgbClr val="E9D29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62" name="Rounded Rectangle 17"/>
          <p:cNvSpPr/>
          <p:nvPr/>
        </p:nvSpPr>
        <p:spPr>
          <a:xfrm>
            <a:off x="6169137" y="1298447"/>
            <a:ext cx="2654800" cy="419101"/>
          </a:xfrm>
          <a:prstGeom prst="roundRect">
            <a:avLst>
              <a:gd name="adj" fmla="val 12000"/>
            </a:avLst>
          </a:prstGeom>
          <a:solidFill>
            <a:srgbClr val="D99B0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63" name="TextBox 18"/>
          <p:cNvSpPr txBox="1"/>
          <p:nvPr/>
        </p:nvSpPr>
        <p:spPr>
          <a:xfrm>
            <a:off x="6169137" y="1376455"/>
            <a:ext cx="2654800" cy="2630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200">
                <a:solidFill>
                  <a:srgbClr val="FFFFFF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600" dirty="0"/>
              <a:t>③ REGION  </a:t>
            </a:r>
            <a:r>
              <a:rPr sz="1600" b="1" dirty="0" err="1">
                <a:latin typeface="+mj-lt"/>
                <a:ea typeface="+mj-ea"/>
                <a:cs typeface="+mj-cs"/>
                <a:sym typeface="Helvetica"/>
              </a:rPr>
              <a:t>逐条取证</a:t>
            </a:r>
            <a:endParaRPr sz="1600" b="1"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264" name="TextBox 19"/>
          <p:cNvSpPr txBox="1"/>
          <p:nvPr/>
        </p:nvSpPr>
        <p:spPr>
          <a:xfrm>
            <a:off x="6333728" y="2231363"/>
            <a:ext cx="2325617" cy="13637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42000"/>
              </a:lnSpc>
              <a:defRPr sz="10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600" dirty="0"/>
              <a:t>· </a:t>
            </a:r>
            <a:r>
              <a:rPr sz="1600" dirty="0" err="1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论文语义</a:t>
            </a:r>
            <a:r>
              <a:rPr sz="1600" dirty="0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sz="1600" dirty="0">
                <a:solidFill>
                  <a:srgbClr val="4A5464"/>
                </a:solidFill>
              </a:rPr>
              <a:t>→ </a:t>
            </a:r>
            <a:r>
              <a:rPr sz="1600" dirty="0" err="1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搜索意图</a:t>
            </a:r>
            <a:endParaRPr sz="1600" dirty="0">
              <a:solidFill>
                <a:srgbClr val="4A5464"/>
              </a:solidFill>
              <a:latin typeface="+mj-lt"/>
              <a:ea typeface="+mj-ea"/>
              <a:cs typeface="+mj-cs"/>
              <a:sym typeface="Helvetica"/>
            </a:endParaRPr>
          </a:p>
          <a:p>
            <a:pPr>
              <a:lnSpc>
                <a:spcPct val="142000"/>
              </a:lnSpc>
              <a:defRPr sz="10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600" dirty="0"/>
              <a:t>· </a:t>
            </a:r>
            <a:r>
              <a:rPr sz="1600" dirty="0" err="1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反证：排除配置</a:t>
            </a:r>
            <a:r>
              <a:rPr sz="1600" dirty="0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sz="1600" dirty="0">
                <a:solidFill>
                  <a:srgbClr val="4A5464"/>
                </a:solidFill>
              </a:rPr>
              <a:t>/ </a:t>
            </a:r>
            <a:r>
              <a:rPr sz="1600" dirty="0" err="1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包装</a:t>
            </a:r>
            <a:r>
              <a:rPr sz="1600" dirty="0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sz="1600" dirty="0">
                <a:solidFill>
                  <a:srgbClr val="4A5464"/>
                </a:solidFill>
              </a:rPr>
              <a:t>/ </a:t>
            </a:r>
            <a:r>
              <a:rPr sz="1600" dirty="0" err="1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测试</a:t>
            </a:r>
            <a:endParaRPr sz="1600" dirty="0">
              <a:solidFill>
                <a:srgbClr val="4A5464"/>
              </a:solidFill>
              <a:latin typeface="+mj-lt"/>
              <a:ea typeface="+mj-ea"/>
              <a:cs typeface="+mj-cs"/>
              <a:sym typeface="Helvetica"/>
            </a:endParaRPr>
          </a:p>
          <a:p>
            <a:pPr>
              <a:lnSpc>
                <a:spcPct val="142000"/>
              </a:lnSpc>
              <a:defRPr sz="10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600" dirty="0"/>
              <a:t>· </a:t>
            </a:r>
            <a:r>
              <a:rPr sz="1600" dirty="0" err="1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检验置信度后准备提交</a:t>
            </a:r>
            <a:endParaRPr sz="1600" dirty="0">
              <a:solidFill>
                <a:srgbClr val="4A5464"/>
              </a:solidFill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265" name="Connector 20"/>
          <p:cNvSpPr/>
          <p:nvPr/>
        </p:nvSpPr>
        <p:spPr>
          <a:xfrm>
            <a:off x="6031977" y="2703665"/>
            <a:ext cx="118872" cy="1"/>
          </a:xfrm>
          <a:prstGeom prst="line">
            <a:avLst/>
          </a:prstGeom>
          <a:ln w="15240">
            <a:solidFill>
              <a:srgbClr val="D99B06"/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266" name="Rounded Rectangle 21"/>
          <p:cNvSpPr/>
          <p:nvPr/>
        </p:nvSpPr>
        <p:spPr>
          <a:xfrm>
            <a:off x="8970240" y="1298447"/>
            <a:ext cx="2654801" cy="2810437"/>
          </a:xfrm>
          <a:prstGeom prst="roundRect">
            <a:avLst>
              <a:gd name="adj" fmla="val 2000"/>
            </a:avLst>
          </a:prstGeom>
          <a:solidFill>
            <a:srgbClr val="EFF9F6"/>
          </a:solidFill>
          <a:ln>
            <a:solidFill>
              <a:srgbClr val="B3DED4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67" name="Rounded Rectangle 22"/>
          <p:cNvSpPr/>
          <p:nvPr/>
        </p:nvSpPr>
        <p:spPr>
          <a:xfrm>
            <a:off x="8970240" y="1298447"/>
            <a:ext cx="2654801" cy="419101"/>
          </a:xfrm>
          <a:prstGeom prst="roundRect">
            <a:avLst>
              <a:gd name="adj" fmla="val 12000"/>
            </a:avLst>
          </a:prstGeom>
          <a:solidFill>
            <a:srgbClr val="1F8F7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68" name="TextBox 23"/>
          <p:cNvSpPr txBox="1"/>
          <p:nvPr/>
        </p:nvSpPr>
        <p:spPr>
          <a:xfrm>
            <a:off x="8970240" y="1376455"/>
            <a:ext cx="2654801" cy="2630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200">
                <a:solidFill>
                  <a:srgbClr val="FFFFFF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600" dirty="0"/>
              <a:t>④ MERGE  </a:t>
            </a:r>
            <a:r>
              <a:rPr sz="1600" b="1" dirty="0" err="1">
                <a:latin typeface="+mj-lt"/>
                <a:ea typeface="+mj-ea"/>
                <a:cs typeface="+mj-cs"/>
                <a:sym typeface="Helvetica"/>
              </a:rPr>
              <a:t>归并自校</a:t>
            </a:r>
            <a:endParaRPr sz="1600" b="1"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269" name="TextBox 24"/>
          <p:cNvSpPr txBox="1"/>
          <p:nvPr/>
        </p:nvSpPr>
        <p:spPr>
          <a:xfrm>
            <a:off x="9134833" y="2581009"/>
            <a:ext cx="2325617" cy="664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42000"/>
              </a:lnSpc>
              <a:defRPr sz="10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600" dirty="0"/>
              <a:t>· </a:t>
            </a:r>
            <a:r>
              <a:rPr sz="1600" dirty="0" err="1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合并相邻同义目标</a:t>
            </a:r>
            <a:endParaRPr sz="1600" dirty="0">
              <a:solidFill>
                <a:srgbClr val="4A5464"/>
              </a:solidFill>
              <a:latin typeface="+mj-lt"/>
              <a:ea typeface="+mj-ea"/>
              <a:cs typeface="+mj-cs"/>
              <a:sym typeface="Helvetica"/>
            </a:endParaRPr>
          </a:p>
          <a:p>
            <a:pPr>
              <a:lnSpc>
                <a:spcPct val="142000"/>
              </a:lnSpc>
              <a:defRPr sz="10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600" dirty="0"/>
              <a:t>· </a:t>
            </a:r>
            <a:r>
              <a:rPr sz="1600" dirty="0" err="1"/>
              <a:t>确认</a:t>
            </a:r>
            <a:r>
              <a:rPr sz="1600" dirty="0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sz="1600" dirty="0">
                <a:solidFill>
                  <a:srgbClr val="4A5464"/>
                </a:solidFill>
              </a:rPr>
              <a:t>occurrence</a:t>
            </a:r>
          </a:p>
        </p:txBody>
      </p:sp>
      <p:sp>
        <p:nvSpPr>
          <p:cNvPr id="270" name="Connector 25"/>
          <p:cNvSpPr/>
          <p:nvPr/>
        </p:nvSpPr>
        <p:spPr>
          <a:xfrm>
            <a:off x="8833080" y="2703665"/>
            <a:ext cx="118872" cy="1"/>
          </a:xfrm>
          <a:prstGeom prst="line">
            <a:avLst/>
          </a:prstGeom>
          <a:ln w="15240">
            <a:solidFill>
              <a:srgbClr val="1F8F78"/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271" name="TextBox 26"/>
          <p:cNvSpPr txBox="1"/>
          <p:nvPr/>
        </p:nvSpPr>
        <p:spPr>
          <a:xfrm>
            <a:off x="566927" y="4380064"/>
            <a:ext cx="11058116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 b="1">
                <a:solidFill>
                  <a:srgbClr val="14181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基于语义的判据设计 — 参考案例</a:t>
            </a:r>
          </a:p>
        </p:txBody>
      </p:sp>
      <p:sp>
        <p:nvSpPr>
          <p:cNvPr id="272" name="Rounded Rectangle 27"/>
          <p:cNvSpPr/>
          <p:nvPr/>
        </p:nvSpPr>
        <p:spPr>
          <a:xfrm>
            <a:off x="566927" y="4823817"/>
            <a:ext cx="4480561" cy="764242"/>
          </a:xfrm>
          <a:prstGeom prst="roundRect">
            <a:avLst>
              <a:gd name="adj" fmla="val 6580"/>
            </a:avLst>
          </a:prstGeom>
          <a:solidFill>
            <a:srgbClr val="F0F7F9"/>
          </a:solidFill>
          <a:ln>
            <a:solidFill>
              <a:srgbClr val="B8D5D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000"/>
          </a:p>
        </p:txBody>
      </p:sp>
      <p:sp>
        <p:nvSpPr>
          <p:cNvPr id="273" name="TextBox 28"/>
          <p:cNvSpPr txBox="1"/>
          <p:nvPr/>
        </p:nvSpPr>
        <p:spPr>
          <a:xfrm>
            <a:off x="566928" y="5013835"/>
            <a:ext cx="4480560" cy="3842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100">
                <a:solidFill>
                  <a:srgbClr val="1F6F8B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200" b="1">
                <a:latin typeface="+mj-lt"/>
                <a:ea typeface="+mj-ea"/>
                <a:cs typeface="+mj-cs"/>
                <a:sym typeface="Helvetica"/>
              </a:rPr>
              <a:t>论文给出 </a:t>
            </a:r>
            <a:r>
              <a:rPr sz="1200"/>
              <a:t>hybrid force </a:t>
            </a:r>
            <a:r>
              <a:rPr sz="1200" b="1">
                <a:latin typeface="+mj-lt"/>
                <a:ea typeface="+mj-ea"/>
                <a:cs typeface="+mj-cs"/>
                <a:sym typeface="Helvetica"/>
              </a:rPr>
              <a:t>损失公式</a:t>
            </a:r>
          </a:p>
          <a:p>
            <a:pPr algn="ctr">
              <a:lnSpc>
                <a:spcPct val="114000"/>
              </a:lnSpc>
              <a:defRPr sz="9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000"/>
              <a:t>must-inspect · salience 0.9</a:t>
            </a:r>
          </a:p>
        </p:txBody>
      </p:sp>
      <p:sp>
        <p:nvSpPr>
          <p:cNvPr id="274" name="Rounded Rectangle 29"/>
          <p:cNvSpPr/>
          <p:nvPr/>
        </p:nvSpPr>
        <p:spPr>
          <a:xfrm>
            <a:off x="5230367" y="4823817"/>
            <a:ext cx="4480561" cy="764242"/>
          </a:xfrm>
          <a:prstGeom prst="roundRect">
            <a:avLst>
              <a:gd name="adj" fmla="val 6580"/>
            </a:avLst>
          </a:prstGeom>
          <a:solidFill>
            <a:srgbClr val="F5F2FC"/>
          </a:solidFill>
          <a:ln>
            <a:solidFill>
              <a:srgbClr val="CCC0E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000"/>
          </a:p>
        </p:txBody>
      </p:sp>
      <p:sp>
        <p:nvSpPr>
          <p:cNvPr id="275" name="TextBox 30"/>
          <p:cNvSpPr txBox="1"/>
          <p:nvPr/>
        </p:nvSpPr>
        <p:spPr>
          <a:xfrm>
            <a:off x="5230367" y="5015695"/>
            <a:ext cx="4480561" cy="3804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100">
                <a:solidFill>
                  <a:srgbClr val="7A5CC4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200" b="1">
                <a:latin typeface="+mj-lt"/>
                <a:ea typeface="+mj-ea"/>
                <a:cs typeface="+mj-cs"/>
                <a:sym typeface="Helvetica"/>
              </a:rPr>
              <a:t>代码里存在函数名叫 </a:t>
            </a:r>
            <a:r>
              <a:rPr sz="1200"/>
              <a:t>loss</a:t>
            </a:r>
          </a:p>
          <a:p>
            <a:pPr algn="ctr">
              <a:lnSpc>
                <a:spcPct val="114000"/>
              </a:lnSpc>
              <a:defRPr sz="9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000">
                <a:latin typeface="+mj-lt"/>
                <a:ea typeface="+mj-ea"/>
                <a:cs typeface="+mj-cs"/>
                <a:sym typeface="Helvetica"/>
              </a:rPr>
              <a:t>命名相符，语义未知</a:t>
            </a:r>
          </a:p>
        </p:txBody>
      </p:sp>
      <p:sp>
        <p:nvSpPr>
          <p:cNvPr id="276" name="Rounded Rectangle 31"/>
          <p:cNvSpPr/>
          <p:nvPr/>
        </p:nvSpPr>
        <p:spPr>
          <a:xfrm>
            <a:off x="566927" y="5711323"/>
            <a:ext cx="4480561" cy="616324"/>
          </a:xfrm>
          <a:prstGeom prst="roundRect">
            <a:avLst>
              <a:gd name="adj" fmla="val 8160"/>
            </a:avLst>
          </a:prstGeom>
          <a:solidFill>
            <a:srgbClr val="FDF1F0"/>
          </a:solidFill>
          <a:ln>
            <a:solidFill>
              <a:srgbClr val="EEBDB8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000"/>
          </a:p>
        </p:txBody>
      </p:sp>
      <p:sp>
        <p:nvSpPr>
          <p:cNvPr id="277" name="TextBox 32"/>
          <p:cNvSpPr txBox="1"/>
          <p:nvPr/>
        </p:nvSpPr>
        <p:spPr>
          <a:xfrm>
            <a:off x="566928" y="5922375"/>
            <a:ext cx="4480560" cy="1942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14000"/>
              </a:lnSpc>
              <a:defRPr sz="1100" b="1">
                <a:solidFill>
                  <a:srgbClr val="D9564A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b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200" b="1">
                <a:latin typeface="+mj-lt"/>
                <a:ea typeface="+mj-ea"/>
                <a:cs typeface="+mj-cs"/>
                <a:sym typeface="Helvetica"/>
              </a:rPr>
              <a:t>✕ 不因名字相同就连线</a:t>
            </a:r>
          </a:p>
        </p:txBody>
      </p:sp>
      <p:sp>
        <p:nvSpPr>
          <p:cNvPr id="278" name="Rounded Rectangle 33"/>
          <p:cNvSpPr/>
          <p:nvPr/>
        </p:nvSpPr>
        <p:spPr>
          <a:xfrm>
            <a:off x="5230367" y="5711323"/>
            <a:ext cx="4480561" cy="616324"/>
          </a:xfrm>
          <a:prstGeom prst="roundRect">
            <a:avLst>
              <a:gd name="adj" fmla="val 8160"/>
            </a:avLst>
          </a:prstGeom>
          <a:solidFill>
            <a:srgbClr val="EFF9F6"/>
          </a:solidFill>
          <a:ln>
            <a:solidFill>
              <a:srgbClr val="B3DED4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000"/>
          </a:p>
        </p:txBody>
      </p:sp>
      <p:sp>
        <p:nvSpPr>
          <p:cNvPr id="279" name="TextBox 34"/>
          <p:cNvSpPr txBox="1"/>
          <p:nvPr/>
        </p:nvSpPr>
        <p:spPr>
          <a:xfrm>
            <a:off x="5230367" y="5922375"/>
            <a:ext cx="4480561" cy="1942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14000"/>
              </a:lnSpc>
              <a:defRPr sz="1100" b="1">
                <a:solidFill>
                  <a:srgbClr val="1F8F78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b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200" b="1">
                <a:latin typeface="+mj-lt"/>
                <a:ea typeface="+mj-ea"/>
                <a:cs typeface="+mj-cs"/>
                <a:sym typeface="Helvetica"/>
              </a:rPr>
              <a:t>✓ 读函数体，确认按该公式组合参数及代码流程</a:t>
            </a:r>
          </a:p>
        </p:txBody>
      </p:sp>
      <p:sp>
        <p:nvSpPr>
          <p:cNvPr id="280" name="Rounded Rectangle 35"/>
          <p:cNvSpPr/>
          <p:nvPr/>
        </p:nvSpPr>
        <p:spPr>
          <a:xfrm>
            <a:off x="9893807" y="4823817"/>
            <a:ext cx="1731235" cy="1503831"/>
          </a:xfrm>
          <a:prstGeom prst="roundRect">
            <a:avLst>
              <a:gd name="adj" fmla="val 3344"/>
            </a:avLst>
          </a:prstGeom>
          <a:solidFill>
            <a:srgbClr val="FFFFFF"/>
          </a:solidFill>
          <a:ln>
            <a:solidFill>
              <a:srgbClr val="DFE4EC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000"/>
          </a:p>
        </p:txBody>
      </p:sp>
      <p:sp>
        <p:nvSpPr>
          <p:cNvPr id="281" name="TextBox 36"/>
          <p:cNvSpPr txBox="1"/>
          <p:nvPr/>
        </p:nvSpPr>
        <p:spPr>
          <a:xfrm>
            <a:off x="9893807" y="5168922"/>
            <a:ext cx="1731235" cy="8136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200">
                <a:solidFill>
                  <a:srgbClr val="14181F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400" b="1">
                <a:latin typeface="+mj-lt"/>
                <a:ea typeface="+mj-ea"/>
                <a:cs typeface="+mj-cs"/>
                <a:sym typeface="Helvetica"/>
              </a:rPr>
              <a:t>扫描保证 </a:t>
            </a:r>
            <a:r>
              <a:rPr sz="1400"/>
              <a:t>≠ </a:t>
            </a:r>
            <a:r>
              <a:rPr sz="1400" b="1">
                <a:latin typeface="+mj-lt"/>
                <a:ea typeface="+mj-ea"/>
                <a:cs typeface="+mj-cs"/>
                <a:sym typeface="Helvetica"/>
              </a:rPr>
              <a:t>强行关联</a:t>
            </a:r>
          </a:p>
          <a:p>
            <a:pPr algn="ctr">
              <a:lnSpc>
                <a:spcPct val="114000"/>
              </a:lnSpc>
              <a:defRPr sz="1000">
                <a:solidFill>
                  <a:srgbClr val="1F8F78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050"/>
              <a:t>linked</a:t>
            </a:r>
          </a:p>
          <a:p>
            <a:pPr algn="ctr">
              <a:lnSpc>
                <a:spcPct val="114000"/>
              </a:lnSpc>
              <a:defRPr sz="1000">
                <a:solidFill>
                  <a:srgbClr val="D99B06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050"/>
              <a:t>unresolved</a:t>
            </a:r>
          </a:p>
          <a:p>
            <a:pPr algn="ctr">
              <a:lnSpc>
                <a:spcPct val="114000"/>
              </a:lnSpc>
              <a:defRPr sz="1000">
                <a:solidFill>
                  <a:srgbClr val="8B95A5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050"/>
              <a:t>excluded_with_reason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Rectangle 2"/>
          <p:cNvSpPr/>
          <p:nvPr/>
        </p:nvSpPr>
        <p:spPr>
          <a:xfrm>
            <a:off x="-1" y="0"/>
            <a:ext cx="56695" cy="6858000"/>
          </a:xfrm>
          <a:prstGeom prst="rect">
            <a:avLst/>
          </a:prstGeom>
          <a:solidFill>
            <a:srgbClr val="1F6F8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85" name="TextBox 3"/>
          <p:cNvSpPr txBox="1"/>
          <p:nvPr/>
        </p:nvSpPr>
        <p:spPr>
          <a:xfrm>
            <a:off x="566927" y="384047"/>
            <a:ext cx="1105811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1F6F8B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t>FACT LAYER</a:t>
            </a:r>
          </a:p>
        </p:txBody>
      </p:sp>
      <p:sp>
        <p:nvSpPr>
          <p:cNvPr id="286" name="TextBox 4"/>
          <p:cNvSpPr txBox="1"/>
          <p:nvPr/>
        </p:nvSpPr>
        <p:spPr>
          <a:xfrm>
            <a:off x="566927" y="603504"/>
            <a:ext cx="11058116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500" b="1">
                <a:solidFill>
                  <a:srgbClr val="14181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b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可靠性 — 目标的身份由内容决定</a:t>
            </a:r>
          </a:p>
        </p:txBody>
      </p:sp>
      <p:sp>
        <p:nvSpPr>
          <p:cNvPr id="287" name="TextBox 5"/>
          <p:cNvSpPr txBox="1"/>
          <p:nvPr/>
        </p:nvSpPr>
        <p:spPr>
          <a:xfrm>
            <a:off x="566927" y="1143062"/>
            <a:ext cx="10509476" cy="2125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5000"/>
              </a:lnSpc>
              <a:defRPr sz="11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200" dirty="0" err="1">
                <a:latin typeface="+mj-lt"/>
                <a:ea typeface="+mj-ea"/>
                <a:cs typeface="+mj-cs"/>
                <a:sym typeface="Helvetica"/>
              </a:rPr>
              <a:t>先考虑事实，再考虑语义</a:t>
            </a:r>
            <a:r>
              <a:rPr sz="1200" dirty="0"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sz="1200" dirty="0"/>
              <a:t>—— </a:t>
            </a:r>
            <a:r>
              <a:rPr sz="1200" dirty="0" err="1">
                <a:latin typeface="+mj-lt"/>
                <a:ea typeface="+mj-ea"/>
                <a:cs typeface="+mj-cs"/>
                <a:sym typeface="Helvetica"/>
              </a:rPr>
              <a:t>事实不可靠时，任何</a:t>
            </a:r>
            <a:r>
              <a:rPr sz="1200" dirty="0"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sz="1200" dirty="0"/>
              <a:t>Agent </a:t>
            </a:r>
            <a:r>
              <a:rPr sz="1200" dirty="0" err="1">
                <a:latin typeface="+mj-lt"/>
                <a:ea typeface="+mj-ea"/>
                <a:cs typeface="+mj-cs"/>
                <a:sym typeface="Helvetica"/>
              </a:rPr>
              <a:t>都只会把错误定位放大</a:t>
            </a:r>
            <a:endParaRPr sz="1200"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288" name="TextBox 6"/>
          <p:cNvSpPr txBox="1"/>
          <p:nvPr/>
        </p:nvSpPr>
        <p:spPr>
          <a:xfrm>
            <a:off x="11231850" y="6473952"/>
            <a:ext cx="4572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9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lvl1pPr>
          </a:lstStyle>
          <a:p>
            <a:r>
              <a:t>08</a:t>
            </a:r>
          </a:p>
        </p:txBody>
      </p:sp>
      <p:sp>
        <p:nvSpPr>
          <p:cNvPr id="289" name="Rounded Rectangle 7"/>
          <p:cNvSpPr/>
          <p:nvPr/>
        </p:nvSpPr>
        <p:spPr>
          <a:xfrm>
            <a:off x="566927" y="1535269"/>
            <a:ext cx="4572001" cy="968189"/>
          </a:xfrm>
          <a:prstGeom prst="roundRect">
            <a:avLst>
              <a:gd name="adj" fmla="val 5194"/>
            </a:avLst>
          </a:prstGeom>
          <a:solidFill>
            <a:srgbClr val="FDF1F0"/>
          </a:solidFill>
          <a:ln>
            <a:solidFill>
              <a:srgbClr val="EEBDB8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90" name="TextBox 8"/>
          <p:cNvSpPr txBox="1"/>
          <p:nvPr/>
        </p:nvSpPr>
        <p:spPr>
          <a:xfrm>
            <a:off x="566927" y="1823637"/>
            <a:ext cx="4572001" cy="3914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200">
                <a:solidFill>
                  <a:srgbClr val="D9564A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dirty="0"/>
              <a:t>block ID </a:t>
            </a:r>
            <a:r>
              <a:rPr b="1" dirty="0" err="1">
                <a:latin typeface="+mj-lt"/>
                <a:ea typeface="+mj-ea"/>
                <a:cs typeface="+mj-cs"/>
                <a:sym typeface="Helvetica"/>
              </a:rPr>
              <a:t>会随</a:t>
            </a:r>
            <a:r>
              <a:rPr b="1" dirty="0"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dirty="0" err="1"/>
              <a:t>MinerU</a:t>
            </a:r>
            <a:r>
              <a:rPr dirty="0"/>
              <a:t> </a:t>
            </a:r>
            <a:r>
              <a:rPr b="1" dirty="0" err="1">
                <a:latin typeface="+mj-lt"/>
                <a:ea typeface="+mj-ea"/>
                <a:cs typeface="+mj-cs"/>
                <a:sym typeface="Helvetica"/>
              </a:rPr>
              <a:t>输出顺序漂移</a:t>
            </a:r>
            <a:endParaRPr b="1" dirty="0">
              <a:latin typeface="+mj-lt"/>
              <a:ea typeface="+mj-ea"/>
              <a:cs typeface="+mj-cs"/>
              <a:sym typeface="Helvetica"/>
            </a:endParaRPr>
          </a:p>
          <a:p>
            <a:pPr algn="ctr">
              <a:lnSpc>
                <a:spcPct val="114000"/>
              </a:lnSpc>
              <a:defRPr sz="9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100" dirty="0" err="1">
                <a:latin typeface="+mj-lt"/>
                <a:ea typeface="+mj-ea"/>
                <a:cs typeface="+mj-cs"/>
                <a:sym typeface="Helvetica"/>
              </a:rPr>
              <a:t>同一个</a:t>
            </a:r>
            <a:r>
              <a:rPr sz="1100" dirty="0"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sz="1100" dirty="0"/>
              <a:t>p3-b53 </a:t>
            </a:r>
            <a:r>
              <a:rPr sz="1100" dirty="0" err="1">
                <a:latin typeface="+mj-lt"/>
                <a:ea typeface="+mj-ea"/>
                <a:cs typeface="+mj-cs"/>
                <a:sym typeface="Helvetica"/>
              </a:rPr>
              <a:t>可能指向不同内容</a:t>
            </a:r>
            <a:r>
              <a:rPr sz="1100" dirty="0"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sz="1100" dirty="0"/>
              <a:t>→ </a:t>
            </a:r>
            <a:r>
              <a:rPr sz="1100" dirty="0" err="1">
                <a:latin typeface="+mj-lt"/>
                <a:ea typeface="+mj-ea"/>
                <a:cs typeface="+mj-cs"/>
                <a:sym typeface="Helvetica"/>
              </a:rPr>
              <a:t>静默错误高亮</a:t>
            </a:r>
            <a:endParaRPr sz="1100"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291" name="Rounded Rectangle 9"/>
          <p:cNvSpPr/>
          <p:nvPr/>
        </p:nvSpPr>
        <p:spPr>
          <a:xfrm>
            <a:off x="566927" y="2664822"/>
            <a:ext cx="4572001" cy="968189"/>
          </a:xfrm>
          <a:prstGeom prst="roundRect">
            <a:avLst>
              <a:gd name="adj" fmla="val 5194"/>
            </a:avLst>
          </a:prstGeom>
          <a:solidFill>
            <a:srgbClr val="FDF1F0"/>
          </a:solidFill>
          <a:ln>
            <a:solidFill>
              <a:srgbClr val="EEBDB8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92" name="TextBox 10"/>
          <p:cNvSpPr txBox="1"/>
          <p:nvPr/>
        </p:nvSpPr>
        <p:spPr>
          <a:xfrm>
            <a:off x="566927" y="2953190"/>
            <a:ext cx="4572001" cy="3914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200">
                <a:solidFill>
                  <a:srgbClr val="D9564A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b="1" dirty="0">
                <a:latin typeface="+mj-lt"/>
                <a:ea typeface="+mj-ea"/>
                <a:cs typeface="+mj-cs"/>
                <a:sym typeface="Helvetica"/>
              </a:rPr>
              <a:t>「</a:t>
            </a:r>
            <a:r>
              <a:rPr b="1" dirty="0" err="1">
                <a:latin typeface="+mj-lt"/>
                <a:ea typeface="+mj-ea"/>
                <a:cs typeface="+mj-cs"/>
                <a:sym typeface="Helvetica"/>
              </a:rPr>
              <a:t>包含匹配」无法区分重复行</a:t>
            </a:r>
            <a:endParaRPr b="1" dirty="0">
              <a:latin typeface="+mj-lt"/>
              <a:ea typeface="+mj-ea"/>
              <a:cs typeface="+mj-cs"/>
              <a:sym typeface="Helvetica"/>
            </a:endParaRPr>
          </a:p>
          <a:p>
            <a:pPr algn="ctr">
              <a:lnSpc>
                <a:spcPct val="114000"/>
              </a:lnSpc>
              <a:defRPr sz="9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100" dirty="0"/>
              <a:t>return x / x = </a:t>
            </a:r>
            <a:r>
              <a:rPr sz="1100" dirty="0" err="1"/>
              <a:t>self.norm</a:t>
            </a:r>
            <a:r>
              <a:rPr sz="1100" dirty="0"/>
              <a:t>(x) </a:t>
            </a:r>
            <a:r>
              <a:rPr sz="1100" dirty="0" err="1">
                <a:latin typeface="+mj-lt"/>
                <a:ea typeface="+mj-ea"/>
                <a:cs typeface="+mj-cs"/>
                <a:sym typeface="Helvetica"/>
              </a:rPr>
              <a:t>必然匹配到错误的一处</a:t>
            </a:r>
            <a:endParaRPr sz="1100"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293" name="Rounded Rectangle 11"/>
          <p:cNvSpPr/>
          <p:nvPr/>
        </p:nvSpPr>
        <p:spPr>
          <a:xfrm>
            <a:off x="566927" y="3794375"/>
            <a:ext cx="4572001" cy="2017059"/>
          </a:xfrm>
          <a:prstGeom prst="roundRect">
            <a:avLst>
              <a:gd name="adj" fmla="val 2493"/>
            </a:avLst>
          </a:prstGeom>
          <a:solidFill>
            <a:srgbClr val="F0F7F9"/>
          </a:solidFill>
          <a:ln>
            <a:solidFill>
              <a:srgbClr val="B8D5D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94" name="TextBox 12"/>
          <p:cNvSpPr txBox="1"/>
          <p:nvPr/>
        </p:nvSpPr>
        <p:spPr>
          <a:xfrm>
            <a:off x="749807" y="3982634"/>
            <a:ext cx="4206242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1F6F8B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rPr sz="1600" dirty="0" err="1"/>
              <a:t>代替id使用复合条件进行target导航</a:t>
            </a:r>
            <a:endParaRPr sz="1600" dirty="0"/>
          </a:p>
        </p:txBody>
      </p:sp>
      <p:sp>
        <p:nvSpPr>
          <p:cNvPr id="295" name="TextBox 13"/>
          <p:cNvSpPr txBox="1"/>
          <p:nvPr/>
        </p:nvSpPr>
        <p:spPr>
          <a:xfrm>
            <a:off x="749807" y="4412939"/>
            <a:ext cx="4206242" cy="871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0000"/>
              </a:lnSpc>
              <a:defRPr sz="1000">
                <a:solidFill>
                  <a:srgbClr val="14181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sz="1200" dirty="0" err="1"/>
              <a:t>PaperTarget</a:t>
            </a:r>
            <a:r>
              <a:rPr sz="1200" dirty="0"/>
              <a:t> = (</a:t>
            </a:r>
            <a:r>
              <a:rPr sz="1200" dirty="0" err="1"/>
              <a:t>section_path</a:t>
            </a:r>
            <a:r>
              <a:rPr sz="1200" dirty="0"/>
              <a:t>, quote,</a:t>
            </a:r>
          </a:p>
          <a:p>
            <a:pPr>
              <a:lnSpc>
                <a:spcPct val="120000"/>
              </a:lnSpc>
              <a:defRPr sz="1000">
                <a:solidFill>
                  <a:srgbClr val="14181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sz="1200" dirty="0"/>
              <a:t>               occurrence, </a:t>
            </a:r>
            <a:r>
              <a:rPr sz="1200" dirty="0" err="1"/>
              <a:t>quote_hash</a:t>
            </a:r>
            <a:r>
              <a:rPr sz="1200" dirty="0"/>
              <a:t>)</a:t>
            </a:r>
          </a:p>
          <a:p>
            <a:pPr>
              <a:lnSpc>
                <a:spcPct val="120000"/>
              </a:lnSpc>
              <a:defRPr sz="1000">
                <a:solidFill>
                  <a:srgbClr val="14181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sz="1200" dirty="0" err="1"/>
              <a:t>CodeTarget</a:t>
            </a:r>
            <a:r>
              <a:rPr sz="1200" dirty="0"/>
              <a:t>  = (path, </a:t>
            </a:r>
            <a:r>
              <a:rPr sz="1200" dirty="0" err="1"/>
              <a:t>code_quote_hash</a:t>
            </a:r>
            <a:r>
              <a:rPr sz="1200" dirty="0"/>
              <a:t>,</a:t>
            </a:r>
          </a:p>
          <a:p>
            <a:pPr>
              <a:lnSpc>
                <a:spcPct val="120000"/>
              </a:lnSpc>
              <a:defRPr sz="1000">
                <a:solidFill>
                  <a:srgbClr val="14181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sz="1200" dirty="0"/>
              <a:t>               occurrence)</a:t>
            </a:r>
          </a:p>
        </p:txBody>
      </p:sp>
      <p:sp>
        <p:nvSpPr>
          <p:cNvPr id="296" name="Rounded Rectangle 14"/>
          <p:cNvSpPr/>
          <p:nvPr/>
        </p:nvSpPr>
        <p:spPr>
          <a:xfrm>
            <a:off x="566927" y="5972799"/>
            <a:ext cx="4572001" cy="402337"/>
          </a:xfrm>
          <a:prstGeom prst="roundRect">
            <a:avLst>
              <a:gd name="adj" fmla="val 12500"/>
            </a:avLst>
          </a:prstGeom>
          <a:solidFill>
            <a:srgbClr val="EFF9F6"/>
          </a:solidFill>
          <a:ln>
            <a:solidFill>
              <a:srgbClr val="B3DED4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97" name="TextBox 15"/>
          <p:cNvSpPr txBox="1"/>
          <p:nvPr/>
        </p:nvSpPr>
        <p:spPr>
          <a:xfrm>
            <a:off x="421538" y="6057828"/>
            <a:ext cx="4572001" cy="2630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100">
                <a:solidFill>
                  <a:srgbClr val="1F8F78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600" dirty="0"/>
              <a:t>block ID </a:t>
            </a:r>
            <a:r>
              <a:rPr sz="1600" b="1" dirty="0" err="1">
                <a:latin typeface="+mj-lt"/>
                <a:ea typeface="+mj-ea"/>
                <a:cs typeface="+mj-cs"/>
                <a:sym typeface="Helvetica"/>
              </a:rPr>
              <a:t>与行号仅用于导航提示</a:t>
            </a:r>
            <a:endParaRPr sz="1600" b="1"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298" name="TextBox 16"/>
          <p:cNvSpPr txBox="1"/>
          <p:nvPr/>
        </p:nvSpPr>
        <p:spPr>
          <a:xfrm>
            <a:off x="5358384" y="1508375"/>
            <a:ext cx="6266659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300">
                <a:solidFill>
                  <a:srgbClr val="14181F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600" dirty="0"/>
              <a:t>occurrence </a:t>
            </a:r>
            <a:r>
              <a:rPr sz="1600" b="1" dirty="0" err="1">
                <a:latin typeface="+mj-lt"/>
                <a:ea typeface="+mj-ea"/>
                <a:cs typeface="+mj-cs"/>
                <a:sym typeface="Helvetica"/>
              </a:rPr>
              <a:t>解决什么问题</a:t>
            </a:r>
            <a:endParaRPr sz="1600" b="1"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299" name="Rounded Rectangle 17"/>
          <p:cNvSpPr/>
          <p:nvPr/>
        </p:nvSpPr>
        <p:spPr>
          <a:xfrm>
            <a:off x="5358384" y="1884892"/>
            <a:ext cx="6266659" cy="1021977"/>
          </a:xfrm>
          <a:prstGeom prst="roundRect">
            <a:avLst>
              <a:gd name="adj" fmla="val 4921"/>
            </a:avLst>
          </a:prstGeom>
          <a:solidFill>
            <a:srgbClr val="FFFFFF"/>
          </a:solidFill>
          <a:ln>
            <a:solidFill>
              <a:srgbClr val="DFE4EC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00" name="TextBox 18"/>
          <p:cNvSpPr txBox="1"/>
          <p:nvPr/>
        </p:nvSpPr>
        <p:spPr>
          <a:xfrm>
            <a:off x="5504688" y="2019363"/>
            <a:ext cx="5974051" cy="4051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35000"/>
              </a:lnSpc>
              <a:defRPr sz="1000">
                <a:solidFill>
                  <a:srgbClr val="4A5464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…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学习率 </a:t>
            </a:r>
            <a:r>
              <a:t>α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控制步长，其中 </a:t>
            </a:r>
            <a:r>
              <a:rPr>
                <a:solidFill>
                  <a:srgbClr val="1F6F8B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rPr>
              <a:t>α</a:t>
            </a:r>
            <a:r>
              <a:t> ∈ (0,1]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，当 </a:t>
            </a:r>
            <a:r>
              <a:t>α → 0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时</a:t>
            </a:r>
            <a:r>
              <a:t>…</a:t>
            </a:r>
          </a:p>
          <a:p>
            <a:pPr>
              <a:lnSpc>
                <a:spcPct val="135000"/>
              </a:lnSpc>
              <a:defRPr sz="9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声明 </a:t>
            </a:r>
            <a:r>
              <a:t>occurrence = 2 →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精确锚定第二处；只有 </a:t>
            </a:r>
            <a:r>
              <a:t>(block_id, quote)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则落在第一处</a:t>
            </a:r>
          </a:p>
        </p:txBody>
      </p:sp>
      <p:sp>
        <p:nvSpPr>
          <p:cNvPr id="301" name="TextBox 19"/>
          <p:cNvSpPr txBox="1"/>
          <p:nvPr/>
        </p:nvSpPr>
        <p:spPr>
          <a:xfrm>
            <a:off x="5358384" y="3095127"/>
            <a:ext cx="6266659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 b="1">
                <a:solidFill>
                  <a:srgbClr val="14181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b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重锚算法：重解析后如何找回旧目标</a:t>
            </a:r>
          </a:p>
        </p:txBody>
      </p:sp>
      <p:sp>
        <p:nvSpPr>
          <p:cNvPr id="302" name="Rounded Rectangle 20"/>
          <p:cNvSpPr/>
          <p:nvPr/>
        </p:nvSpPr>
        <p:spPr>
          <a:xfrm>
            <a:off x="5358384" y="3498539"/>
            <a:ext cx="6266659" cy="672353"/>
          </a:xfrm>
          <a:prstGeom prst="roundRect">
            <a:avLst>
              <a:gd name="adj" fmla="val 7480"/>
            </a:avLst>
          </a:prstGeom>
          <a:solidFill>
            <a:srgbClr val="EFF9F6"/>
          </a:solidFill>
          <a:ln>
            <a:solidFill>
              <a:srgbClr val="B3DED4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303" name="TextBox 21"/>
          <p:cNvSpPr txBox="1"/>
          <p:nvPr/>
        </p:nvSpPr>
        <p:spPr>
          <a:xfrm>
            <a:off x="5504688" y="3552328"/>
            <a:ext cx="3291841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100">
                <a:solidFill>
                  <a:srgbClr val="1F8F78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400" dirty="0"/>
              <a:t>① </a:t>
            </a:r>
            <a:r>
              <a:rPr sz="1400" dirty="0" err="1"/>
              <a:t>quote_hash</a:t>
            </a:r>
            <a:r>
              <a:rPr sz="1400" dirty="0"/>
              <a:t> </a:t>
            </a:r>
            <a:r>
              <a:rPr sz="1400" b="1" dirty="0" err="1">
                <a:latin typeface="+mj-lt"/>
                <a:ea typeface="+mj-ea"/>
                <a:cs typeface="+mj-cs"/>
                <a:sym typeface="Helvetica"/>
              </a:rPr>
              <a:t>全库精确匹配</a:t>
            </a:r>
            <a:endParaRPr sz="1400" b="1"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304" name="TextBox 22"/>
          <p:cNvSpPr txBox="1"/>
          <p:nvPr/>
        </p:nvSpPr>
        <p:spPr>
          <a:xfrm>
            <a:off x="8878823" y="3565775"/>
            <a:ext cx="2645635" cy="1615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9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050" dirty="0" err="1">
                <a:latin typeface="+mj-lt"/>
                <a:ea typeface="+mj-ea"/>
                <a:cs typeface="+mj-cs"/>
                <a:sym typeface="Helvetica"/>
              </a:rPr>
              <a:t>命中唯一</a:t>
            </a:r>
            <a:r>
              <a:rPr sz="1050" dirty="0"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sz="1050" dirty="0"/>
              <a:t>→ </a:t>
            </a:r>
            <a:r>
              <a:rPr sz="1050" dirty="0" err="1">
                <a:latin typeface="+mj-lt"/>
                <a:ea typeface="+mj-ea"/>
                <a:cs typeface="+mj-cs"/>
                <a:sym typeface="Helvetica"/>
              </a:rPr>
              <a:t>直接重</a:t>
            </a:r>
            <a:r>
              <a:rPr lang="zh-CN" altLang="en-US" sz="1050" dirty="0">
                <a:latin typeface="+mj-lt"/>
                <a:ea typeface="+mj-ea"/>
                <a:cs typeface="+mj-cs"/>
                <a:sym typeface="Helvetica"/>
              </a:rPr>
              <a:t>新</a:t>
            </a:r>
            <a:r>
              <a:rPr sz="1050" dirty="0">
                <a:latin typeface="+mj-lt"/>
                <a:ea typeface="+mj-ea"/>
                <a:cs typeface="+mj-cs"/>
                <a:sym typeface="Helvetica"/>
              </a:rPr>
              <a:t>锚</a:t>
            </a:r>
            <a:r>
              <a:rPr lang="zh-CN" altLang="en-US" sz="1050" dirty="0">
                <a:latin typeface="+mj-lt"/>
                <a:ea typeface="+mj-ea"/>
                <a:cs typeface="+mj-cs"/>
                <a:sym typeface="Helvetica"/>
              </a:rPr>
              <a:t>定</a:t>
            </a:r>
            <a:endParaRPr sz="1050"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305" name="Rounded Rectangle 23"/>
          <p:cNvSpPr/>
          <p:nvPr/>
        </p:nvSpPr>
        <p:spPr>
          <a:xfrm>
            <a:off x="5358384" y="4278469"/>
            <a:ext cx="6266659" cy="672353"/>
          </a:xfrm>
          <a:prstGeom prst="roundRect">
            <a:avLst>
              <a:gd name="adj" fmla="val 7480"/>
            </a:avLst>
          </a:prstGeom>
          <a:solidFill>
            <a:srgbClr val="FDF8EC"/>
          </a:solidFill>
          <a:ln>
            <a:solidFill>
              <a:srgbClr val="E9D29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306" name="TextBox 24"/>
          <p:cNvSpPr txBox="1"/>
          <p:nvPr/>
        </p:nvSpPr>
        <p:spPr>
          <a:xfrm>
            <a:off x="5504688" y="4332258"/>
            <a:ext cx="3291841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100">
                <a:solidFill>
                  <a:srgbClr val="D99B06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400"/>
              <a:t>② </a:t>
            </a:r>
            <a:r>
              <a:rPr sz="1400" b="1">
                <a:latin typeface="+mj-lt"/>
                <a:ea typeface="+mj-ea"/>
                <a:cs typeface="+mj-cs"/>
                <a:sym typeface="Helvetica"/>
              </a:rPr>
              <a:t>同 </a:t>
            </a:r>
            <a:r>
              <a:rPr sz="1400"/>
              <a:t>section_path </a:t>
            </a:r>
            <a:r>
              <a:rPr sz="1400" b="1">
                <a:latin typeface="+mj-lt"/>
                <a:ea typeface="+mj-ea"/>
                <a:cs typeface="+mj-cs"/>
                <a:sym typeface="Helvetica"/>
              </a:rPr>
              <a:t>内规范化匹配</a:t>
            </a:r>
          </a:p>
        </p:txBody>
      </p:sp>
      <p:sp>
        <p:nvSpPr>
          <p:cNvPr id="307" name="TextBox 25"/>
          <p:cNvSpPr txBox="1"/>
          <p:nvPr/>
        </p:nvSpPr>
        <p:spPr>
          <a:xfrm>
            <a:off x="8878823" y="4345704"/>
            <a:ext cx="2645635" cy="1615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9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050" dirty="0"/>
              <a:t> </a:t>
            </a:r>
            <a:r>
              <a:rPr sz="1050" dirty="0">
                <a:latin typeface="+mj-lt"/>
                <a:ea typeface="+mj-ea"/>
                <a:cs typeface="+mj-cs"/>
                <a:sym typeface="Helvetica"/>
              </a:rPr>
              <a:t>标 </a:t>
            </a:r>
            <a:r>
              <a:rPr sz="1050" dirty="0" err="1"/>
              <a:t>content_changed</a:t>
            </a:r>
            <a:r>
              <a:rPr sz="1050" dirty="0"/>
              <a:t> </a:t>
            </a:r>
            <a:r>
              <a:rPr sz="1050" dirty="0" err="1">
                <a:latin typeface="+mj-lt"/>
                <a:ea typeface="+mj-ea"/>
                <a:cs typeface="+mj-cs"/>
                <a:sym typeface="Helvetica"/>
              </a:rPr>
              <a:t>提示复核</a:t>
            </a:r>
            <a:endParaRPr sz="1050"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308" name="Rounded Rectangle 26"/>
          <p:cNvSpPr/>
          <p:nvPr/>
        </p:nvSpPr>
        <p:spPr>
          <a:xfrm>
            <a:off x="5358384" y="5058399"/>
            <a:ext cx="6266659" cy="672352"/>
          </a:xfrm>
          <a:prstGeom prst="roundRect">
            <a:avLst>
              <a:gd name="adj" fmla="val 7480"/>
            </a:avLst>
          </a:prstGeom>
          <a:solidFill>
            <a:srgbClr val="F5F2FC"/>
          </a:solidFill>
          <a:ln>
            <a:solidFill>
              <a:srgbClr val="CCC0E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309" name="TextBox 27"/>
          <p:cNvSpPr txBox="1"/>
          <p:nvPr/>
        </p:nvSpPr>
        <p:spPr>
          <a:xfrm>
            <a:off x="5504688" y="5112186"/>
            <a:ext cx="3291841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100">
                <a:solidFill>
                  <a:srgbClr val="7A5CC4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400" dirty="0"/>
              <a:t>③ </a:t>
            </a:r>
            <a:r>
              <a:rPr sz="1400" b="1" dirty="0" err="1">
                <a:latin typeface="+mj-lt"/>
                <a:ea typeface="+mj-ea"/>
                <a:cs typeface="+mj-cs"/>
                <a:sym typeface="Helvetica"/>
              </a:rPr>
              <a:t>命中多处</a:t>
            </a:r>
            <a:r>
              <a:rPr sz="1400" b="1" dirty="0"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sz="1400" dirty="0"/>
              <a:t>→ </a:t>
            </a:r>
            <a:r>
              <a:rPr sz="1400" b="1" dirty="0" err="1">
                <a:latin typeface="+mj-lt"/>
                <a:ea typeface="+mj-ea"/>
                <a:cs typeface="+mj-cs"/>
                <a:sym typeface="Helvetica"/>
              </a:rPr>
              <a:t>按旧</a:t>
            </a:r>
            <a:r>
              <a:rPr sz="1400" b="1" dirty="0"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sz="1400" dirty="0"/>
              <a:t>occurrence </a:t>
            </a:r>
            <a:r>
              <a:rPr sz="1400" b="1" dirty="0" err="1">
                <a:latin typeface="+mj-lt"/>
                <a:ea typeface="+mj-ea"/>
                <a:cs typeface="+mj-cs"/>
                <a:sym typeface="Helvetica"/>
              </a:rPr>
              <a:t>就近</a:t>
            </a:r>
            <a:r>
              <a:rPr lang="zh-CN" altLang="en-US" sz="1400" b="1" dirty="0">
                <a:latin typeface="+mj-lt"/>
                <a:ea typeface="+mj-ea"/>
                <a:cs typeface="+mj-cs"/>
                <a:sym typeface="Helvetica"/>
              </a:rPr>
              <a:t>选择</a:t>
            </a:r>
            <a:endParaRPr sz="1400" b="1"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310" name="TextBox 28"/>
          <p:cNvSpPr txBox="1"/>
          <p:nvPr/>
        </p:nvSpPr>
        <p:spPr>
          <a:xfrm>
            <a:off x="8878823" y="5125634"/>
            <a:ext cx="2645635" cy="1615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rPr sz="1050" dirty="0" err="1"/>
              <a:t>模糊检索</a:t>
            </a:r>
            <a:endParaRPr sz="1050" dirty="0"/>
          </a:p>
        </p:txBody>
      </p:sp>
      <p:sp>
        <p:nvSpPr>
          <p:cNvPr id="311" name="Rounded Rectangle 29"/>
          <p:cNvSpPr/>
          <p:nvPr/>
        </p:nvSpPr>
        <p:spPr>
          <a:xfrm>
            <a:off x="5358384" y="5838328"/>
            <a:ext cx="6266659" cy="457201"/>
          </a:xfrm>
          <a:prstGeom prst="roundRect">
            <a:avLst>
              <a:gd name="adj" fmla="val 11000"/>
            </a:avLst>
          </a:prstGeom>
          <a:solidFill>
            <a:srgbClr val="FDF1F0"/>
          </a:solidFill>
          <a:ln>
            <a:solidFill>
              <a:srgbClr val="EEBDB8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312" name="TextBox 30"/>
          <p:cNvSpPr txBox="1"/>
          <p:nvPr/>
        </p:nvSpPr>
        <p:spPr>
          <a:xfrm>
            <a:off x="5504688" y="5892117"/>
            <a:ext cx="3291841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100">
                <a:solidFill>
                  <a:srgbClr val="D9564A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400"/>
              <a:t>④ </a:t>
            </a:r>
            <a:r>
              <a:rPr sz="1400" b="1">
                <a:latin typeface="+mj-lt"/>
                <a:ea typeface="+mj-ea"/>
                <a:cs typeface="+mj-cs"/>
                <a:sym typeface="Helvetica"/>
              </a:rPr>
              <a:t>完全无法定位 </a:t>
            </a:r>
            <a:r>
              <a:rPr sz="1400"/>
              <a:t>→ stale</a:t>
            </a:r>
          </a:p>
        </p:txBody>
      </p:sp>
      <p:sp>
        <p:nvSpPr>
          <p:cNvPr id="313" name="TextBox 31"/>
          <p:cNvSpPr txBox="1"/>
          <p:nvPr/>
        </p:nvSpPr>
        <p:spPr>
          <a:xfrm>
            <a:off x="8878823" y="5905563"/>
            <a:ext cx="2645635" cy="1615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9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050"/>
              <a:t>保留信息作参考</a:t>
            </a:r>
            <a:r>
              <a:rPr sz="1050">
                <a:latin typeface="+mj-lt"/>
                <a:ea typeface="+mj-ea"/>
                <a:cs typeface="+mj-cs"/>
                <a:sym typeface="Helvetica"/>
              </a:rPr>
              <a:t>，不参与高亮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Rectangle 2"/>
          <p:cNvSpPr/>
          <p:nvPr/>
        </p:nvSpPr>
        <p:spPr>
          <a:xfrm>
            <a:off x="-1" y="0"/>
            <a:ext cx="56695" cy="6858000"/>
          </a:xfrm>
          <a:prstGeom prst="rect">
            <a:avLst/>
          </a:prstGeom>
          <a:solidFill>
            <a:srgbClr val="1F6F8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17" name="TextBox 3"/>
          <p:cNvSpPr txBox="1"/>
          <p:nvPr/>
        </p:nvSpPr>
        <p:spPr>
          <a:xfrm>
            <a:off x="566927" y="384047"/>
            <a:ext cx="1105811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1F6F8B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t>VALIDATION</a:t>
            </a:r>
          </a:p>
        </p:txBody>
      </p:sp>
      <p:sp>
        <p:nvSpPr>
          <p:cNvPr id="318" name="TextBox 4"/>
          <p:cNvSpPr txBox="1"/>
          <p:nvPr/>
        </p:nvSpPr>
        <p:spPr>
          <a:xfrm>
            <a:off x="566927" y="603504"/>
            <a:ext cx="11058116" cy="384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2500">
                <a:solidFill>
                  <a:srgbClr val="14181F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b="1" dirty="0" err="1">
                <a:latin typeface="+mj-lt"/>
                <a:ea typeface="+mj-ea"/>
                <a:cs typeface="+mj-cs"/>
                <a:sym typeface="Helvetica"/>
              </a:rPr>
              <a:t>追溯关系建立的降级校验流程</a:t>
            </a:r>
            <a:r>
              <a:rPr b="1" dirty="0">
                <a:latin typeface="+mj-lt"/>
                <a:ea typeface="+mj-ea"/>
                <a:cs typeface="+mj-cs"/>
                <a:sym typeface="Helvetica"/>
              </a:rPr>
              <a:t> </a:t>
            </a:r>
          </a:p>
        </p:txBody>
      </p:sp>
      <p:sp>
        <p:nvSpPr>
          <p:cNvPr id="319" name="TextBox 5"/>
          <p:cNvSpPr txBox="1"/>
          <p:nvPr/>
        </p:nvSpPr>
        <p:spPr>
          <a:xfrm>
            <a:off x="566927" y="1153612"/>
            <a:ext cx="10509476" cy="2094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5000"/>
              </a:lnSpc>
              <a:defRPr sz="11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en-US" altLang="zh-CN" sz="1200" dirty="0">
                <a:latin typeface="+mj-lt"/>
                <a:ea typeface="+mj-ea"/>
                <a:cs typeface="+mj-cs"/>
                <a:sym typeface="Helvetica"/>
              </a:rPr>
              <a:t>Agent</a:t>
            </a:r>
            <a:r>
              <a:rPr lang="zh-CN" altLang="en-US" sz="1200" dirty="0">
                <a:latin typeface="+mj-lt"/>
                <a:ea typeface="+mj-ea"/>
                <a:cs typeface="+mj-cs"/>
                <a:sym typeface="Helvetica"/>
              </a:rPr>
              <a:t>产生的原文位置引用</a:t>
            </a:r>
            <a:r>
              <a:rPr sz="1200" dirty="0" err="1">
                <a:latin typeface="+mj-lt"/>
                <a:ea typeface="+mj-ea"/>
                <a:cs typeface="+mj-cs"/>
                <a:sym typeface="Helvetica"/>
              </a:rPr>
              <a:t>必须真实出现在追溯原文中，只是允许放宽匹配方式</a:t>
            </a:r>
            <a:endParaRPr sz="1200"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320" name="TextBox 6"/>
          <p:cNvSpPr txBox="1"/>
          <p:nvPr/>
        </p:nvSpPr>
        <p:spPr>
          <a:xfrm>
            <a:off x="11231850" y="6473952"/>
            <a:ext cx="4572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9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lvl1pPr>
          </a:lstStyle>
          <a:p>
            <a:r>
              <a:t>09</a:t>
            </a:r>
          </a:p>
        </p:txBody>
      </p:sp>
      <p:sp>
        <p:nvSpPr>
          <p:cNvPr id="321" name="Rounded Rectangle 7"/>
          <p:cNvSpPr/>
          <p:nvPr/>
        </p:nvSpPr>
        <p:spPr>
          <a:xfrm>
            <a:off x="566927" y="1601053"/>
            <a:ext cx="2021429" cy="1582794"/>
          </a:xfrm>
          <a:prstGeom prst="roundRect">
            <a:avLst>
              <a:gd name="adj" fmla="val 3177"/>
            </a:avLst>
          </a:prstGeom>
          <a:solidFill>
            <a:srgbClr val="FFFFFF"/>
          </a:solidFill>
          <a:ln w="12700">
            <a:solidFill>
              <a:srgbClr val="DFE4EC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322" name="TextBox 8"/>
          <p:cNvSpPr txBox="1"/>
          <p:nvPr/>
        </p:nvSpPr>
        <p:spPr>
          <a:xfrm>
            <a:off x="640080" y="2165241"/>
            <a:ext cx="1875124" cy="4544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200">
                <a:solidFill>
                  <a:srgbClr val="14181F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600" b="1">
                <a:latin typeface="+mj-lt"/>
                <a:ea typeface="+mj-ea"/>
                <a:cs typeface="+mj-cs"/>
                <a:sym typeface="Helvetica"/>
              </a:rPr>
              <a:t>候选发布</a:t>
            </a:r>
          </a:p>
          <a:p>
            <a:pPr algn="ctr">
              <a:lnSpc>
                <a:spcPct val="114000"/>
              </a:lnSpc>
              <a:defRPr sz="9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050"/>
              <a:t>resolve_anchor</a:t>
            </a:r>
          </a:p>
        </p:txBody>
      </p:sp>
      <p:sp>
        <p:nvSpPr>
          <p:cNvPr id="323" name="Rounded Rectangle 9"/>
          <p:cNvSpPr/>
          <p:nvPr/>
        </p:nvSpPr>
        <p:spPr>
          <a:xfrm>
            <a:off x="2826099" y="1601053"/>
            <a:ext cx="2021429" cy="1582794"/>
          </a:xfrm>
          <a:prstGeom prst="roundRect">
            <a:avLst>
              <a:gd name="adj" fmla="val 3177"/>
            </a:avLst>
          </a:prstGeom>
          <a:solidFill>
            <a:srgbClr val="EFF9F6"/>
          </a:solidFill>
          <a:ln w="12700">
            <a:solidFill>
              <a:srgbClr val="B3DED4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324" name="TextBox 10"/>
          <p:cNvSpPr txBox="1"/>
          <p:nvPr/>
        </p:nvSpPr>
        <p:spPr>
          <a:xfrm>
            <a:off x="2899251" y="2073647"/>
            <a:ext cx="1875124" cy="6376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200">
                <a:solidFill>
                  <a:srgbClr val="1F8F78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600"/>
              <a:t>L1 · exact</a:t>
            </a:r>
          </a:p>
          <a:p>
            <a:pPr algn="ctr">
              <a:lnSpc>
                <a:spcPct val="114000"/>
              </a:lnSpc>
              <a:defRPr sz="9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050">
                <a:latin typeface="+mj-lt"/>
                <a:ea typeface="+mj-ea"/>
                <a:cs typeface="+mj-cs"/>
                <a:sym typeface="Helvetica"/>
              </a:rPr>
              <a:t>原文精确匹配第 </a:t>
            </a:r>
            <a:r>
              <a:rPr sz="1050"/>
              <a:t>n </a:t>
            </a:r>
            <a:r>
              <a:rPr sz="1050">
                <a:latin typeface="+mj-lt"/>
                <a:ea typeface="+mj-ea"/>
                <a:cs typeface="+mj-cs"/>
                <a:sym typeface="Helvetica"/>
              </a:rPr>
              <a:t>次</a:t>
            </a:r>
          </a:p>
          <a:p>
            <a:pPr algn="ctr">
              <a:lnSpc>
                <a:spcPct val="114000"/>
              </a:lnSpc>
              <a:defRPr sz="9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050"/>
              <a:t>→ </a:t>
            </a:r>
            <a:r>
              <a:rPr sz="1050">
                <a:latin typeface="+mj-lt"/>
                <a:ea typeface="+mj-ea"/>
                <a:cs typeface="+mj-cs"/>
                <a:sym typeface="Helvetica"/>
              </a:rPr>
              <a:t>字符级高亮</a:t>
            </a:r>
          </a:p>
        </p:txBody>
      </p:sp>
      <p:sp>
        <p:nvSpPr>
          <p:cNvPr id="325" name="Connector 11"/>
          <p:cNvSpPr/>
          <p:nvPr/>
        </p:nvSpPr>
        <p:spPr>
          <a:xfrm>
            <a:off x="2624932" y="2392449"/>
            <a:ext cx="164593" cy="1"/>
          </a:xfrm>
          <a:prstGeom prst="line">
            <a:avLst/>
          </a:prstGeom>
          <a:ln w="12700">
            <a:solidFill>
              <a:srgbClr val="8B95A5"/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endParaRPr sz="2400"/>
          </a:p>
        </p:txBody>
      </p:sp>
      <p:sp>
        <p:nvSpPr>
          <p:cNvPr id="326" name="Rounded Rectangle 12"/>
          <p:cNvSpPr/>
          <p:nvPr/>
        </p:nvSpPr>
        <p:spPr>
          <a:xfrm>
            <a:off x="5085270" y="1601053"/>
            <a:ext cx="2021429" cy="1582794"/>
          </a:xfrm>
          <a:prstGeom prst="roundRect">
            <a:avLst>
              <a:gd name="adj" fmla="val 3177"/>
            </a:avLst>
          </a:prstGeom>
          <a:solidFill>
            <a:srgbClr val="FDF8EC"/>
          </a:solidFill>
          <a:ln w="12700">
            <a:solidFill>
              <a:srgbClr val="E9D29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327" name="TextBox 13"/>
          <p:cNvSpPr txBox="1"/>
          <p:nvPr/>
        </p:nvSpPr>
        <p:spPr>
          <a:xfrm>
            <a:off x="5158423" y="2073647"/>
            <a:ext cx="1875124" cy="6376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200">
                <a:solidFill>
                  <a:srgbClr val="D99B06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600"/>
              <a:t>L2 · normalized</a:t>
            </a:r>
          </a:p>
          <a:p>
            <a:pPr algn="ctr">
              <a:lnSpc>
                <a:spcPct val="114000"/>
              </a:lnSpc>
              <a:defRPr sz="9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050">
                <a:latin typeface="+mj-lt"/>
                <a:ea typeface="+mj-ea"/>
                <a:cs typeface="+mj-cs"/>
                <a:sym typeface="Helvetica"/>
              </a:rPr>
              <a:t>折叠空白后匹配</a:t>
            </a:r>
          </a:p>
          <a:p>
            <a:pPr algn="ctr">
              <a:lnSpc>
                <a:spcPct val="114000"/>
              </a:lnSpc>
              <a:defRPr sz="9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050"/>
              <a:t>→ </a:t>
            </a:r>
            <a:r>
              <a:rPr sz="1050">
                <a:latin typeface="+mj-lt"/>
                <a:ea typeface="+mj-ea"/>
                <a:cs typeface="+mj-cs"/>
                <a:sym typeface="Helvetica"/>
              </a:rPr>
              <a:t>缩进重排后仍可锚</a:t>
            </a:r>
          </a:p>
        </p:txBody>
      </p:sp>
      <p:sp>
        <p:nvSpPr>
          <p:cNvPr id="328" name="Connector 14"/>
          <p:cNvSpPr/>
          <p:nvPr/>
        </p:nvSpPr>
        <p:spPr>
          <a:xfrm>
            <a:off x="4884103" y="2392449"/>
            <a:ext cx="164593" cy="1"/>
          </a:xfrm>
          <a:prstGeom prst="line">
            <a:avLst/>
          </a:prstGeom>
          <a:ln w="12700">
            <a:solidFill>
              <a:srgbClr val="8B95A5"/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endParaRPr sz="2400"/>
          </a:p>
        </p:txBody>
      </p:sp>
      <p:sp>
        <p:nvSpPr>
          <p:cNvPr id="329" name="Rounded Rectangle 15"/>
          <p:cNvSpPr/>
          <p:nvPr/>
        </p:nvSpPr>
        <p:spPr>
          <a:xfrm>
            <a:off x="7344443" y="1601053"/>
            <a:ext cx="2021429" cy="1582794"/>
          </a:xfrm>
          <a:prstGeom prst="roundRect">
            <a:avLst>
              <a:gd name="adj" fmla="val 3177"/>
            </a:avLst>
          </a:prstGeom>
          <a:solidFill>
            <a:srgbClr val="F5F2FC"/>
          </a:solidFill>
          <a:ln w="12700">
            <a:solidFill>
              <a:srgbClr val="CCC0E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330" name="TextBox 16"/>
          <p:cNvSpPr txBox="1"/>
          <p:nvPr/>
        </p:nvSpPr>
        <p:spPr>
          <a:xfrm>
            <a:off x="7417595" y="2073647"/>
            <a:ext cx="1875124" cy="6376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200">
                <a:solidFill>
                  <a:srgbClr val="7A5CC4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600"/>
              <a:t>L3 · approximate</a:t>
            </a:r>
          </a:p>
          <a:p>
            <a:pPr algn="ctr">
              <a:lnSpc>
                <a:spcPct val="114000"/>
              </a:lnSpc>
              <a:defRPr sz="9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050">
                <a:latin typeface="+mj-lt"/>
                <a:ea typeface="+mj-ea"/>
                <a:cs typeface="+mj-cs"/>
                <a:sym typeface="Helvetica"/>
              </a:rPr>
              <a:t>仅字母数字签名匹配</a:t>
            </a:r>
          </a:p>
          <a:p>
            <a:pPr algn="ctr">
              <a:lnSpc>
                <a:spcPct val="114000"/>
              </a:lnSpc>
              <a:defRPr sz="9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050"/>
              <a:t>→ TeX / KaTeX </a:t>
            </a:r>
            <a:r>
              <a:rPr sz="1050">
                <a:latin typeface="+mj-lt"/>
                <a:ea typeface="+mj-ea"/>
                <a:cs typeface="+mj-cs"/>
                <a:sym typeface="Helvetica"/>
              </a:rPr>
              <a:t>差异可锚</a:t>
            </a:r>
          </a:p>
        </p:txBody>
      </p:sp>
      <p:sp>
        <p:nvSpPr>
          <p:cNvPr id="331" name="Connector 17"/>
          <p:cNvSpPr/>
          <p:nvPr/>
        </p:nvSpPr>
        <p:spPr>
          <a:xfrm>
            <a:off x="7143274" y="2392449"/>
            <a:ext cx="164593" cy="1"/>
          </a:xfrm>
          <a:prstGeom prst="line">
            <a:avLst/>
          </a:prstGeom>
          <a:ln w="12700">
            <a:solidFill>
              <a:srgbClr val="8B95A5"/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endParaRPr sz="2400"/>
          </a:p>
        </p:txBody>
      </p:sp>
      <p:sp>
        <p:nvSpPr>
          <p:cNvPr id="332" name="Rounded Rectangle 18"/>
          <p:cNvSpPr/>
          <p:nvPr/>
        </p:nvSpPr>
        <p:spPr>
          <a:xfrm>
            <a:off x="9603613" y="1601053"/>
            <a:ext cx="2021429" cy="1582794"/>
          </a:xfrm>
          <a:prstGeom prst="roundRect">
            <a:avLst>
              <a:gd name="adj" fmla="val 3177"/>
            </a:avLst>
          </a:prstGeom>
          <a:solidFill>
            <a:srgbClr val="FDF1F0"/>
          </a:solidFill>
          <a:ln w="12700">
            <a:solidFill>
              <a:srgbClr val="EEBDB8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333" name="TextBox 19"/>
          <p:cNvSpPr txBox="1"/>
          <p:nvPr/>
        </p:nvSpPr>
        <p:spPr>
          <a:xfrm>
            <a:off x="9676765" y="2074993"/>
            <a:ext cx="1875124" cy="6349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200">
                <a:solidFill>
                  <a:srgbClr val="D9564A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600"/>
              <a:t>AnchorError</a:t>
            </a:r>
          </a:p>
          <a:p>
            <a:pPr algn="ctr">
              <a:lnSpc>
                <a:spcPct val="114000"/>
              </a:lnSpc>
              <a:defRPr sz="9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050">
                <a:latin typeface="+mj-lt"/>
                <a:ea typeface="+mj-ea"/>
                <a:cs typeface="+mj-cs"/>
                <a:sym typeface="Helvetica"/>
              </a:rPr>
              <a:t>记为 </a:t>
            </a:r>
            <a:r>
              <a:rPr sz="1050"/>
              <a:t>unresolved</a:t>
            </a:r>
          </a:p>
          <a:p>
            <a:pPr algn="ctr">
              <a:lnSpc>
                <a:spcPct val="114000"/>
              </a:lnSpc>
              <a:defRPr sz="9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050">
                <a:latin typeface="+mj-lt"/>
                <a:ea typeface="+mj-ea"/>
                <a:cs typeface="+mj-cs"/>
                <a:sym typeface="Helvetica"/>
              </a:rPr>
              <a:t>不落库</a:t>
            </a:r>
          </a:p>
        </p:txBody>
      </p:sp>
      <p:sp>
        <p:nvSpPr>
          <p:cNvPr id="334" name="Connector 20"/>
          <p:cNvSpPr/>
          <p:nvPr/>
        </p:nvSpPr>
        <p:spPr>
          <a:xfrm>
            <a:off x="9402446" y="2392449"/>
            <a:ext cx="164593" cy="1"/>
          </a:xfrm>
          <a:prstGeom prst="line">
            <a:avLst/>
          </a:prstGeom>
          <a:ln w="12700">
            <a:solidFill>
              <a:srgbClr val="8B95A5"/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endParaRPr sz="2400"/>
          </a:p>
        </p:txBody>
      </p:sp>
      <p:sp>
        <p:nvSpPr>
          <p:cNvPr id="335" name="TextBox 21"/>
          <p:cNvSpPr txBox="1"/>
          <p:nvPr/>
        </p:nvSpPr>
        <p:spPr>
          <a:xfrm>
            <a:off x="4692078" y="2135643"/>
            <a:ext cx="548641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800">
                <a:solidFill>
                  <a:srgbClr val="D99B06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000" dirty="0" err="1">
                <a:latin typeface="+mj-lt"/>
                <a:ea typeface="+mj-ea"/>
                <a:cs typeface="+mj-cs"/>
                <a:sym typeface="Helvetica"/>
              </a:rPr>
              <a:t>未命中</a:t>
            </a:r>
            <a:endParaRPr sz="1000"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336" name="TextBox 22"/>
          <p:cNvSpPr txBox="1"/>
          <p:nvPr/>
        </p:nvSpPr>
        <p:spPr>
          <a:xfrm>
            <a:off x="6951249" y="2121479"/>
            <a:ext cx="548641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800">
                <a:solidFill>
                  <a:srgbClr val="D99B06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000">
                <a:latin typeface="+mj-lt"/>
                <a:ea typeface="+mj-ea"/>
                <a:cs typeface="+mj-cs"/>
                <a:sym typeface="Helvetica"/>
              </a:rPr>
              <a:t>未命中</a:t>
            </a:r>
          </a:p>
        </p:txBody>
      </p:sp>
      <p:sp>
        <p:nvSpPr>
          <p:cNvPr id="337" name="TextBox 23"/>
          <p:cNvSpPr txBox="1"/>
          <p:nvPr/>
        </p:nvSpPr>
        <p:spPr>
          <a:xfrm>
            <a:off x="9210421" y="2144008"/>
            <a:ext cx="548641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800">
                <a:solidFill>
                  <a:srgbClr val="D99B06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000" dirty="0" err="1">
                <a:latin typeface="+mj-lt"/>
                <a:ea typeface="+mj-ea"/>
                <a:cs typeface="+mj-cs"/>
                <a:sym typeface="Helvetica"/>
              </a:rPr>
              <a:t>未命中</a:t>
            </a:r>
            <a:endParaRPr sz="1000"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338" name="Rounded Rectangle 24"/>
          <p:cNvSpPr/>
          <p:nvPr/>
        </p:nvSpPr>
        <p:spPr>
          <a:xfrm>
            <a:off x="566927" y="3668897"/>
            <a:ext cx="11058116" cy="402337"/>
          </a:xfrm>
          <a:prstGeom prst="roundRect">
            <a:avLst>
              <a:gd name="adj" fmla="val 12500"/>
            </a:avLst>
          </a:prstGeom>
          <a:solidFill>
            <a:srgbClr val="EFF9F6"/>
          </a:solidFill>
          <a:ln>
            <a:solidFill>
              <a:srgbClr val="B3DED4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39" name="TextBox 25"/>
          <p:cNvSpPr txBox="1"/>
          <p:nvPr/>
        </p:nvSpPr>
        <p:spPr>
          <a:xfrm>
            <a:off x="566927" y="3779591"/>
            <a:ext cx="11058116" cy="1809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100">
                <a:solidFill>
                  <a:srgbClr val="1F8F78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b="1" dirty="0" err="1">
                <a:latin typeface="+mj-lt"/>
                <a:ea typeface="+mj-ea"/>
                <a:cs typeface="+mj-cs"/>
                <a:sym typeface="Helvetica"/>
              </a:rPr>
              <a:t>任一级命中即返回，并附</a:t>
            </a:r>
            <a:r>
              <a:rPr b="1" dirty="0"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dirty="0" err="1"/>
              <a:t>quote_hash</a:t>
            </a:r>
            <a:r>
              <a:rPr b="1" dirty="0" err="1">
                <a:latin typeface="+mj-lt"/>
                <a:ea typeface="+mj-ea"/>
                <a:cs typeface="+mj-cs"/>
                <a:sym typeface="Helvetica"/>
              </a:rPr>
              <a:t>；公式块比对</a:t>
            </a:r>
            <a:r>
              <a:rPr b="1" dirty="0"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dirty="0" err="1"/>
              <a:t>KaTeX</a:t>
            </a:r>
            <a:r>
              <a:rPr dirty="0"/>
              <a:t> </a:t>
            </a:r>
            <a:r>
              <a:rPr b="1" dirty="0">
                <a:latin typeface="+mj-lt"/>
                <a:ea typeface="+mj-ea"/>
                <a:cs typeface="+mj-cs"/>
                <a:sym typeface="Helvetica"/>
              </a:rPr>
              <a:t>的</a:t>
            </a:r>
            <a:r>
              <a:rPr lang="zh-CN" altLang="en-US" b="1" dirty="0">
                <a:latin typeface="+mj-lt"/>
                <a:ea typeface="+mj-ea"/>
                <a:cs typeface="+mj-cs"/>
                <a:sym typeface="Helvetica"/>
              </a:rPr>
              <a:t>格式识别 </a:t>
            </a:r>
            <a:r>
              <a:rPr dirty="0" err="1"/>
              <a:t>TeX</a:t>
            </a:r>
            <a:r>
              <a:rPr dirty="0"/>
              <a:t> </a:t>
            </a:r>
            <a:r>
              <a:rPr b="1" dirty="0">
                <a:latin typeface="+mj-lt"/>
                <a:ea typeface="+mj-ea"/>
                <a:cs typeface="+mj-cs"/>
                <a:sym typeface="Helvetica"/>
              </a:rPr>
              <a:t>源</a:t>
            </a:r>
          </a:p>
        </p:txBody>
      </p:sp>
      <p:sp>
        <p:nvSpPr>
          <p:cNvPr id="340" name="TextBox 26"/>
          <p:cNvSpPr txBox="1"/>
          <p:nvPr/>
        </p:nvSpPr>
        <p:spPr>
          <a:xfrm>
            <a:off x="566928" y="4460294"/>
            <a:ext cx="5669280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 b="1">
                <a:solidFill>
                  <a:srgbClr val="14181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b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600" b="1">
                <a:latin typeface="+mj-lt"/>
                <a:ea typeface="+mj-ea"/>
                <a:cs typeface="+mj-cs"/>
                <a:sym typeface="Helvetica"/>
              </a:rPr>
              <a:t>发布前逐条检查（节选）</a:t>
            </a:r>
          </a:p>
        </p:txBody>
      </p:sp>
      <p:sp>
        <p:nvSpPr>
          <p:cNvPr id="341" name="Rounded Rectangle 27"/>
          <p:cNvSpPr/>
          <p:nvPr/>
        </p:nvSpPr>
        <p:spPr>
          <a:xfrm>
            <a:off x="566927" y="4894285"/>
            <a:ext cx="173737" cy="242525"/>
          </a:xfrm>
          <a:prstGeom prst="roundRect">
            <a:avLst>
              <a:gd name="adj" fmla="val 50000"/>
            </a:avLst>
          </a:prstGeom>
          <a:solidFill>
            <a:srgbClr val="1F8F7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342" name="TextBox 28"/>
          <p:cNvSpPr txBox="1"/>
          <p:nvPr/>
        </p:nvSpPr>
        <p:spPr>
          <a:xfrm>
            <a:off x="822959" y="4868757"/>
            <a:ext cx="2697482" cy="1615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9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050"/>
              <a:t>paper target </a:t>
            </a:r>
            <a:r>
              <a:rPr sz="1050">
                <a:latin typeface="+mj-lt"/>
                <a:ea typeface="+mj-ea"/>
                <a:cs typeface="+mj-cs"/>
                <a:sym typeface="Helvetica"/>
              </a:rPr>
              <a:t>属于快照中的当前论文</a:t>
            </a:r>
          </a:p>
        </p:txBody>
      </p:sp>
      <p:sp>
        <p:nvSpPr>
          <p:cNvPr id="343" name="Rounded Rectangle 29"/>
          <p:cNvSpPr/>
          <p:nvPr/>
        </p:nvSpPr>
        <p:spPr>
          <a:xfrm>
            <a:off x="566927" y="5430394"/>
            <a:ext cx="173737" cy="242525"/>
          </a:xfrm>
          <a:prstGeom prst="roundRect">
            <a:avLst>
              <a:gd name="adj" fmla="val 50000"/>
            </a:avLst>
          </a:prstGeom>
          <a:solidFill>
            <a:srgbClr val="1F8F7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344" name="TextBox 30"/>
          <p:cNvSpPr txBox="1"/>
          <p:nvPr/>
        </p:nvSpPr>
        <p:spPr>
          <a:xfrm>
            <a:off x="822959" y="5404865"/>
            <a:ext cx="2697482" cy="1615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9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050"/>
              <a:t>quote </a:t>
            </a:r>
            <a:r>
              <a:rPr sz="1050">
                <a:latin typeface="+mj-lt"/>
                <a:ea typeface="+mj-ea"/>
                <a:cs typeface="+mj-cs"/>
                <a:sym typeface="Helvetica"/>
              </a:rPr>
              <a:t>在指定 </a:t>
            </a:r>
            <a:r>
              <a:rPr sz="1050"/>
              <a:t>block </a:t>
            </a:r>
            <a:r>
              <a:rPr sz="1050">
                <a:latin typeface="+mj-lt"/>
                <a:ea typeface="+mj-ea"/>
                <a:cs typeface="+mj-cs"/>
                <a:sym typeface="Helvetica"/>
              </a:rPr>
              <a:t>的指定 </a:t>
            </a:r>
            <a:r>
              <a:rPr sz="1050"/>
              <a:t>occurrence </a:t>
            </a:r>
            <a:r>
              <a:rPr sz="1050">
                <a:latin typeface="+mj-lt"/>
                <a:ea typeface="+mj-ea"/>
                <a:cs typeface="+mj-cs"/>
                <a:sym typeface="Helvetica"/>
              </a:rPr>
              <a:t>处存在</a:t>
            </a:r>
          </a:p>
        </p:txBody>
      </p:sp>
      <p:sp>
        <p:nvSpPr>
          <p:cNvPr id="345" name="Rounded Rectangle 31"/>
          <p:cNvSpPr/>
          <p:nvPr/>
        </p:nvSpPr>
        <p:spPr>
          <a:xfrm>
            <a:off x="566927" y="5966500"/>
            <a:ext cx="173737" cy="173737"/>
          </a:xfrm>
          <a:prstGeom prst="roundRect">
            <a:avLst>
              <a:gd name="adj" fmla="val 50000"/>
            </a:avLst>
          </a:prstGeom>
          <a:solidFill>
            <a:srgbClr val="1F8F7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346" name="TextBox 32"/>
          <p:cNvSpPr txBox="1"/>
          <p:nvPr/>
        </p:nvSpPr>
        <p:spPr>
          <a:xfrm>
            <a:off x="822959" y="5940971"/>
            <a:ext cx="2697482" cy="1615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9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050"/>
              <a:t>code path </a:t>
            </a:r>
            <a:r>
              <a:rPr sz="1050">
                <a:latin typeface="+mj-lt"/>
                <a:ea typeface="+mj-ea"/>
                <a:cs typeface="+mj-cs"/>
                <a:sym typeface="Helvetica"/>
              </a:rPr>
              <a:t>位于仓库内，行列范围有效</a:t>
            </a:r>
          </a:p>
        </p:txBody>
      </p:sp>
      <p:sp>
        <p:nvSpPr>
          <p:cNvPr id="347" name="Rounded Rectangle 33"/>
          <p:cNvSpPr/>
          <p:nvPr/>
        </p:nvSpPr>
        <p:spPr>
          <a:xfrm>
            <a:off x="3493008" y="4894285"/>
            <a:ext cx="173737" cy="242525"/>
          </a:xfrm>
          <a:prstGeom prst="roundRect">
            <a:avLst>
              <a:gd name="adj" fmla="val 50000"/>
            </a:avLst>
          </a:prstGeom>
          <a:solidFill>
            <a:srgbClr val="1F8F7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348" name="TextBox 34"/>
          <p:cNvSpPr txBox="1"/>
          <p:nvPr/>
        </p:nvSpPr>
        <p:spPr>
          <a:xfrm>
            <a:off x="3749040" y="4868757"/>
            <a:ext cx="2697481" cy="1615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9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050">
                <a:latin typeface="+mj-lt"/>
                <a:ea typeface="+mj-ea"/>
                <a:cs typeface="+mj-cs"/>
                <a:sym typeface="Helvetica"/>
              </a:rPr>
              <a:t>两端未引用被忽略 </a:t>
            </a:r>
            <a:r>
              <a:rPr sz="1050"/>
              <a:t>/ </a:t>
            </a:r>
            <a:r>
              <a:rPr sz="1050">
                <a:latin typeface="+mj-lt"/>
                <a:ea typeface="+mj-ea"/>
                <a:cs typeface="+mj-cs"/>
                <a:sym typeface="Helvetica"/>
              </a:rPr>
              <a:t>不可读 </a:t>
            </a:r>
            <a:r>
              <a:rPr sz="1050"/>
              <a:t>/ </a:t>
            </a:r>
            <a:r>
              <a:rPr sz="1050">
                <a:latin typeface="+mj-lt"/>
                <a:ea typeface="+mj-ea"/>
                <a:cs typeface="+mj-cs"/>
                <a:sym typeface="Helvetica"/>
              </a:rPr>
              <a:t>超限文件</a:t>
            </a:r>
          </a:p>
        </p:txBody>
      </p:sp>
      <p:sp>
        <p:nvSpPr>
          <p:cNvPr id="349" name="Rounded Rectangle 35"/>
          <p:cNvSpPr/>
          <p:nvPr/>
        </p:nvSpPr>
        <p:spPr>
          <a:xfrm>
            <a:off x="3493008" y="5430394"/>
            <a:ext cx="173737" cy="242525"/>
          </a:xfrm>
          <a:prstGeom prst="roundRect">
            <a:avLst>
              <a:gd name="adj" fmla="val 50000"/>
            </a:avLst>
          </a:prstGeom>
          <a:solidFill>
            <a:srgbClr val="1F8F7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350" name="TextBox 36"/>
          <p:cNvSpPr txBox="1"/>
          <p:nvPr/>
        </p:nvSpPr>
        <p:spPr>
          <a:xfrm>
            <a:off x="3749040" y="5404865"/>
            <a:ext cx="2697481" cy="1615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9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050">
                <a:latin typeface="+mj-lt"/>
                <a:ea typeface="+mj-ea"/>
                <a:cs typeface="+mj-cs"/>
                <a:sym typeface="Helvetica"/>
              </a:rPr>
              <a:t>同一边不存在互斥 </a:t>
            </a:r>
            <a:r>
              <a:rPr sz="1050"/>
              <a:t>relation type</a:t>
            </a:r>
          </a:p>
        </p:txBody>
      </p:sp>
      <p:sp>
        <p:nvSpPr>
          <p:cNvPr id="351" name="Rounded Rectangle 37"/>
          <p:cNvSpPr/>
          <p:nvPr/>
        </p:nvSpPr>
        <p:spPr>
          <a:xfrm>
            <a:off x="3493008" y="5966500"/>
            <a:ext cx="173737" cy="242525"/>
          </a:xfrm>
          <a:prstGeom prst="roundRect">
            <a:avLst>
              <a:gd name="adj" fmla="val 50000"/>
            </a:avLst>
          </a:prstGeom>
          <a:solidFill>
            <a:srgbClr val="1F8F7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352" name="TextBox 38"/>
          <p:cNvSpPr txBox="1"/>
          <p:nvPr/>
        </p:nvSpPr>
        <p:spPr>
          <a:xfrm>
            <a:off x="3749040" y="5940971"/>
            <a:ext cx="2697481" cy="1615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9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050"/>
              <a:t>accepted / rejected </a:t>
            </a:r>
            <a:r>
              <a:rPr sz="1050">
                <a:latin typeface="+mj-lt"/>
                <a:ea typeface="+mj-ea"/>
                <a:cs typeface="+mj-cs"/>
                <a:sym typeface="Helvetica"/>
              </a:rPr>
              <a:t>历史不被自动任务覆盖</a:t>
            </a:r>
          </a:p>
        </p:txBody>
      </p:sp>
      <p:sp>
        <p:nvSpPr>
          <p:cNvPr id="353" name="Rounded Rectangle 39"/>
          <p:cNvSpPr/>
          <p:nvPr/>
        </p:nvSpPr>
        <p:spPr>
          <a:xfrm>
            <a:off x="6528816" y="4596871"/>
            <a:ext cx="5114515" cy="1554481"/>
          </a:xfrm>
          <a:prstGeom prst="roundRect">
            <a:avLst>
              <a:gd name="adj" fmla="val 3235"/>
            </a:avLst>
          </a:prstGeom>
          <a:solidFill>
            <a:srgbClr val="F0F7F9"/>
          </a:solidFill>
          <a:ln>
            <a:solidFill>
              <a:srgbClr val="B8D5D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354" name="TextBox 40"/>
          <p:cNvSpPr txBox="1"/>
          <p:nvPr/>
        </p:nvSpPr>
        <p:spPr>
          <a:xfrm>
            <a:off x="6693407" y="4638997"/>
            <a:ext cx="4748755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 b="1">
                <a:solidFill>
                  <a:srgbClr val="1F6F8B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b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600" b="1">
                <a:latin typeface="+mj-lt"/>
                <a:ea typeface="+mj-ea"/>
                <a:cs typeface="+mj-cs"/>
                <a:sym typeface="Helvetica"/>
              </a:rPr>
              <a:t>真实仓库端到端实测</a:t>
            </a:r>
          </a:p>
        </p:txBody>
      </p:sp>
      <p:sp>
        <p:nvSpPr>
          <p:cNvPr id="355" name="Connector 41"/>
          <p:cNvSpPr/>
          <p:nvPr/>
        </p:nvSpPr>
        <p:spPr>
          <a:xfrm>
            <a:off x="6693407" y="5047460"/>
            <a:ext cx="4748755" cy="1"/>
          </a:xfrm>
          <a:prstGeom prst="line">
            <a:avLst/>
          </a:prstGeom>
          <a:ln>
            <a:solidFill>
              <a:srgbClr val="B8D5DE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endParaRPr sz="2400"/>
          </a:p>
        </p:txBody>
      </p:sp>
      <p:sp>
        <p:nvSpPr>
          <p:cNvPr id="356" name="TextBox 42"/>
          <p:cNvSpPr txBox="1"/>
          <p:nvPr/>
        </p:nvSpPr>
        <p:spPr>
          <a:xfrm>
            <a:off x="6693407" y="5226162"/>
            <a:ext cx="1097281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14181F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rPr sz="1400"/>
              <a:t>NeRF</a:t>
            </a:r>
          </a:p>
        </p:txBody>
      </p:sp>
      <p:sp>
        <p:nvSpPr>
          <p:cNvPr id="357" name="TextBox 43"/>
          <p:cNvSpPr txBox="1"/>
          <p:nvPr/>
        </p:nvSpPr>
        <p:spPr>
          <a:xfrm>
            <a:off x="7790688" y="5226162"/>
            <a:ext cx="1554481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0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100"/>
              <a:t>16 </a:t>
            </a:r>
            <a:r>
              <a:rPr sz="1100">
                <a:latin typeface="+mj-lt"/>
                <a:ea typeface="+mj-ea"/>
                <a:cs typeface="+mj-cs"/>
                <a:sym typeface="Helvetica"/>
              </a:rPr>
              <a:t>条 </a:t>
            </a:r>
            <a:r>
              <a:rPr sz="1100"/>
              <a:t>proposed</a:t>
            </a:r>
          </a:p>
        </p:txBody>
      </p:sp>
      <p:sp>
        <p:nvSpPr>
          <p:cNvPr id="358" name="TextBox 44"/>
          <p:cNvSpPr txBox="1"/>
          <p:nvPr/>
        </p:nvSpPr>
        <p:spPr>
          <a:xfrm>
            <a:off x="9345168" y="5226162"/>
            <a:ext cx="1280161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000">
                <a:solidFill>
                  <a:srgbClr val="1F8F78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100" b="1">
                <a:latin typeface="+mj-lt"/>
                <a:ea typeface="+mj-ea"/>
                <a:cs typeface="+mj-cs"/>
                <a:sym typeface="Helvetica"/>
              </a:rPr>
              <a:t>平均 </a:t>
            </a:r>
            <a:r>
              <a:rPr sz="1100"/>
              <a:t>0.94</a:t>
            </a:r>
          </a:p>
        </p:txBody>
      </p:sp>
      <p:sp>
        <p:nvSpPr>
          <p:cNvPr id="359" name="TextBox 45"/>
          <p:cNvSpPr txBox="1"/>
          <p:nvPr/>
        </p:nvSpPr>
        <p:spPr>
          <a:xfrm>
            <a:off x="6693407" y="5864385"/>
            <a:ext cx="1097281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14181F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rPr sz="1400"/>
              <a:t>HaMeR</a:t>
            </a:r>
          </a:p>
        </p:txBody>
      </p:sp>
      <p:sp>
        <p:nvSpPr>
          <p:cNvPr id="360" name="TextBox 46"/>
          <p:cNvSpPr txBox="1"/>
          <p:nvPr/>
        </p:nvSpPr>
        <p:spPr>
          <a:xfrm>
            <a:off x="7790688" y="5864385"/>
            <a:ext cx="1554481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0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100"/>
              <a:t>11 </a:t>
            </a:r>
            <a:r>
              <a:rPr sz="1100">
                <a:latin typeface="+mj-lt"/>
                <a:ea typeface="+mj-ea"/>
                <a:cs typeface="+mj-cs"/>
                <a:sym typeface="Helvetica"/>
              </a:rPr>
              <a:t>条 </a:t>
            </a:r>
            <a:r>
              <a:rPr sz="1100"/>
              <a:t>proposed</a:t>
            </a:r>
          </a:p>
        </p:txBody>
      </p:sp>
      <p:sp>
        <p:nvSpPr>
          <p:cNvPr id="361" name="TextBox 47"/>
          <p:cNvSpPr txBox="1"/>
          <p:nvPr/>
        </p:nvSpPr>
        <p:spPr>
          <a:xfrm>
            <a:off x="9345168" y="5864385"/>
            <a:ext cx="1280161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000">
                <a:solidFill>
                  <a:srgbClr val="1F8F78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100" b="1">
                <a:latin typeface="+mj-lt"/>
                <a:ea typeface="+mj-ea"/>
                <a:cs typeface="+mj-cs"/>
                <a:sym typeface="Helvetica"/>
              </a:rPr>
              <a:t>平均 </a:t>
            </a:r>
            <a:r>
              <a:rPr sz="1100"/>
              <a:t>0.88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Rectangle 2"/>
          <p:cNvSpPr/>
          <p:nvPr/>
        </p:nvSpPr>
        <p:spPr>
          <a:xfrm>
            <a:off x="-1" y="0"/>
            <a:ext cx="56695" cy="6858000"/>
          </a:xfrm>
          <a:prstGeom prst="rect">
            <a:avLst/>
          </a:prstGeom>
          <a:solidFill>
            <a:srgbClr val="1F6F8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65" name="TextBox 3"/>
          <p:cNvSpPr txBox="1"/>
          <p:nvPr/>
        </p:nvSpPr>
        <p:spPr>
          <a:xfrm>
            <a:off x="566927" y="384047"/>
            <a:ext cx="1105811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1F6F8B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t>CONCURRENCY</a:t>
            </a:r>
          </a:p>
        </p:txBody>
      </p:sp>
      <p:sp>
        <p:nvSpPr>
          <p:cNvPr id="366" name="TextBox 4"/>
          <p:cNvSpPr txBox="1"/>
          <p:nvPr/>
        </p:nvSpPr>
        <p:spPr>
          <a:xfrm>
            <a:off x="566927" y="603504"/>
            <a:ext cx="11058116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500" b="1">
                <a:solidFill>
                  <a:srgbClr val="14181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b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b="1" dirty="0" err="1">
                <a:latin typeface="+mj-lt"/>
                <a:ea typeface="+mj-ea"/>
                <a:cs typeface="+mj-cs"/>
                <a:sym typeface="Helvetica"/>
              </a:rPr>
              <a:t>并行</a:t>
            </a:r>
            <a:r>
              <a:rPr b="1" dirty="0"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b="1" dirty="0" err="1">
                <a:latin typeface="+mj-lt"/>
                <a:ea typeface="+mj-ea"/>
                <a:cs typeface="+mj-cs"/>
                <a:sym typeface="Helvetica"/>
              </a:rPr>
              <a:t>SubAgent：利用并发性缓解上下文压力</a:t>
            </a:r>
            <a:endParaRPr b="1"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367" name="TextBox 5"/>
          <p:cNvSpPr txBox="1"/>
          <p:nvPr/>
        </p:nvSpPr>
        <p:spPr>
          <a:xfrm>
            <a:off x="566927" y="1060703"/>
            <a:ext cx="10509476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1100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长上下文确实可行，但难以解决注意力下降、输出遗漏、失败重试与内容审核等问题的同时压力</a:t>
            </a:r>
          </a:p>
        </p:txBody>
      </p:sp>
      <p:sp>
        <p:nvSpPr>
          <p:cNvPr id="368" name="TextBox 6"/>
          <p:cNvSpPr txBox="1"/>
          <p:nvPr/>
        </p:nvSpPr>
        <p:spPr>
          <a:xfrm>
            <a:off x="11231850" y="6473952"/>
            <a:ext cx="4572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9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lvl1pPr>
          </a:lstStyle>
          <a:p>
            <a:r>
              <a:t>10</a:t>
            </a:r>
          </a:p>
        </p:txBody>
      </p:sp>
      <p:sp>
        <p:nvSpPr>
          <p:cNvPr id="369" name="Rounded Rectangle 7"/>
          <p:cNvSpPr/>
          <p:nvPr/>
        </p:nvSpPr>
        <p:spPr>
          <a:xfrm>
            <a:off x="4761982" y="1443169"/>
            <a:ext cx="5943601" cy="822962"/>
          </a:xfrm>
          <a:prstGeom prst="roundRect">
            <a:avLst>
              <a:gd name="adj" fmla="val 6111"/>
            </a:avLst>
          </a:prstGeom>
          <a:solidFill>
            <a:srgbClr val="FFFFFF"/>
          </a:solidFill>
          <a:ln w="20320">
            <a:solidFill>
              <a:srgbClr val="1F6F8B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000"/>
          </a:p>
        </p:txBody>
      </p:sp>
      <p:sp>
        <p:nvSpPr>
          <p:cNvPr id="370" name="TextBox 8"/>
          <p:cNvSpPr txBox="1"/>
          <p:nvPr/>
        </p:nvSpPr>
        <p:spPr>
          <a:xfrm>
            <a:off x="4761982" y="1739554"/>
            <a:ext cx="5943601" cy="2301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200">
                <a:solidFill>
                  <a:srgbClr val="1F6F8B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400" b="1" dirty="0">
                <a:latin typeface="+mj-lt"/>
                <a:ea typeface="+mj-ea"/>
                <a:cs typeface="+mj-cs"/>
                <a:sym typeface="Helvetica"/>
              </a:rPr>
              <a:t>父 </a:t>
            </a:r>
            <a:r>
              <a:rPr sz="1400" dirty="0"/>
              <a:t>Agent · </a:t>
            </a:r>
            <a:r>
              <a:rPr lang="zh-CN" altLang="en-US" sz="1400" b="1" dirty="0">
                <a:latin typeface="+mj-lt"/>
                <a:ea typeface="+mj-ea"/>
                <a:cs typeface="+mj-cs"/>
                <a:sym typeface="Helvetica"/>
              </a:rPr>
              <a:t>单次运行</a:t>
            </a:r>
            <a:r>
              <a:rPr sz="1400" dirty="0"/>
              <a:t> · SCOUT / MAP </a:t>
            </a:r>
            <a:r>
              <a:rPr sz="1400" b="1" dirty="0" err="1">
                <a:latin typeface="+mj-lt"/>
                <a:ea typeface="+mj-ea"/>
                <a:cs typeface="+mj-cs"/>
                <a:sym typeface="Helvetica"/>
              </a:rPr>
              <a:t>后调用</a:t>
            </a:r>
            <a:r>
              <a:rPr sz="1400" b="1" dirty="0"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sz="1400" dirty="0" err="1"/>
              <a:t>dispatch_trace_subagents</a:t>
            </a:r>
            <a:endParaRPr sz="1400" dirty="0"/>
          </a:p>
        </p:txBody>
      </p:sp>
      <p:sp>
        <p:nvSpPr>
          <p:cNvPr id="371" name="Connector 9"/>
          <p:cNvSpPr/>
          <p:nvPr/>
        </p:nvSpPr>
        <p:spPr>
          <a:xfrm>
            <a:off x="7733782" y="2293561"/>
            <a:ext cx="1" cy="128017"/>
          </a:xfrm>
          <a:prstGeom prst="line">
            <a:avLst/>
          </a:prstGeom>
          <a:ln w="15240">
            <a:solidFill>
              <a:srgbClr val="1F6F8B"/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endParaRPr sz="2000"/>
          </a:p>
        </p:txBody>
      </p:sp>
      <p:sp>
        <p:nvSpPr>
          <p:cNvPr id="372" name="Rounded Rectangle 10"/>
          <p:cNvSpPr/>
          <p:nvPr/>
        </p:nvSpPr>
        <p:spPr>
          <a:xfrm>
            <a:off x="4761982" y="2513017"/>
            <a:ext cx="5943601" cy="576073"/>
          </a:xfrm>
          <a:prstGeom prst="roundRect">
            <a:avLst>
              <a:gd name="adj" fmla="val 8730"/>
            </a:avLst>
          </a:prstGeom>
          <a:solidFill>
            <a:srgbClr val="F0F7F9"/>
          </a:solidFill>
          <a:ln>
            <a:solidFill>
              <a:srgbClr val="B8D5D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000"/>
          </a:p>
        </p:txBody>
      </p:sp>
      <p:sp>
        <p:nvSpPr>
          <p:cNvPr id="373" name="TextBox 11"/>
          <p:cNvSpPr txBox="1"/>
          <p:nvPr/>
        </p:nvSpPr>
        <p:spPr>
          <a:xfrm>
            <a:off x="4761982" y="2699453"/>
            <a:ext cx="594360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100">
                <a:solidFill>
                  <a:srgbClr val="1F6F8B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200" b="1">
                <a:latin typeface="+mj-lt"/>
                <a:ea typeface="+mj-ea"/>
                <a:cs typeface="+mj-cs"/>
                <a:sym typeface="Helvetica"/>
              </a:rPr>
              <a:t>重点分组为 </a:t>
            </a:r>
            <a:r>
              <a:rPr sz="1200"/>
              <a:t>2–6 </a:t>
            </a:r>
            <a:r>
              <a:rPr sz="1200" b="1">
                <a:latin typeface="+mj-lt"/>
                <a:ea typeface="+mj-ea"/>
                <a:cs typeface="+mj-cs"/>
                <a:sym typeface="Helvetica"/>
              </a:rPr>
              <a:t>个 </a:t>
            </a:r>
            <a:r>
              <a:rPr sz="1200"/>
              <a:t>ExplorationRegion · </a:t>
            </a:r>
            <a:r>
              <a:rPr sz="1200" b="1">
                <a:latin typeface="+mj-lt"/>
                <a:ea typeface="+mj-ea"/>
                <a:cs typeface="+mj-cs"/>
                <a:sym typeface="Helvetica"/>
              </a:rPr>
              <a:t>有界线程池</a:t>
            </a:r>
          </a:p>
        </p:txBody>
      </p:sp>
      <p:sp>
        <p:nvSpPr>
          <p:cNvPr id="374" name="Rounded Rectangle 12"/>
          <p:cNvSpPr/>
          <p:nvPr/>
        </p:nvSpPr>
        <p:spPr>
          <a:xfrm>
            <a:off x="4761982" y="3308545"/>
            <a:ext cx="1847089" cy="960121"/>
          </a:xfrm>
          <a:prstGeom prst="roundRect">
            <a:avLst>
              <a:gd name="adj" fmla="val 5238"/>
            </a:avLst>
          </a:prstGeom>
          <a:solidFill>
            <a:srgbClr val="FDF8EC"/>
          </a:solidFill>
          <a:ln w="12700">
            <a:solidFill>
              <a:srgbClr val="E9D29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000"/>
          </a:p>
        </p:txBody>
      </p:sp>
      <p:sp>
        <p:nvSpPr>
          <p:cNvPr id="375" name="TextBox 13"/>
          <p:cNvSpPr txBox="1"/>
          <p:nvPr/>
        </p:nvSpPr>
        <p:spPr>
          <a:xfrm>
            <a:off x="4835135" y="3601150"/>
            <a:ext cx="1700784" cy="3749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100">
                <a:solidFill>
                  <a:srgbClr val="D99B06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200" b="1">
                <a:latin typeface="+mj-lt"/>
                <a:ea typeface="+mj-ea"/>
                <a:cs typeface="+mj-cs"/>
                <a:sym typeface="Helvetica"/>
              </a:rPr>
              <a:t>区域子代理 </a:t>
            </a:r>
            <a:r>
              <a:rPr sz="1200"/>
              <a:t>A</a:t>
            </a:r>
          </a:p>
          <a:p>
            <a:pPr algn="ctr">
              <a:lnSpc>
                <a:spcPct val="114000"/>
              </a:lnSpc>
              <a:defRPr sz="9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000">
                <a:latin typeface="+mj-lt"/>
                <a:ea typeface="+mj-ea"/>
                <a:cs typeface="+mj-cs"/>
                <a:sym typeface="Helvetica"/>
              </a:rPr>
              <a:t>独立上下文 </a:t>
            </a:r>
            <a:r>
              <a:rPr sz="1000"/>
              <a:t>/ </a:t>
            </a:r>
            <a:r>
              <a:rPr sz="1000">
                <a:latin typeface="+mj-lt"/>
                <a:ea typeface="+mj-ea"/>
                <a:cs typeface="+mj-cs"/>
                <a:sym typeface="Helvetica"/>
              </a:rPr>
              <a:t>独立预算</a:t>
            </a:r>
          </a:p>
        </p:txBody>
      </p:sp>
      <p:sp>
        <p:nvSpPr>
          <p:cNvPr id="376" name="Rounded Rectangle 14"/>
          <p:cNvSpPr/>
          <p:nvPr/>
        </p:nvSpPr>
        <p:spPr>
          <a:xfrm>
            <a:off x="6810238" y="3308545"/>
            <a:ext cx="1847089" cy="960121"/>
          </a:xfrm>
          <a:prstGeom prst="roundRect">
            <a:avLst>
              <a:gd name="adj" fmla="val 5238"/>
            </a:avLst>
          </a:prstGeom>
          <a:solidFill>
            <a:srgbClr val="FDF8EC"/>
          </a:solidFill>
          <a:ln w="12700">
            <a:solidFill>
              <a:srgbClr val="E9D29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000"/>
          </a:p>
        </p:txBody>
      </p:sp>
      <p:sp>
        <p:nvSpPr>
          <p:cNvPr id="377" name="TextBox 15"/>
          <p:cNvSpPr txBox="1"/>
          <p:nvPr/>
        </p:nvSpPr>
        <p:spPr>
          <a:xfrm>
            <a:off x="6883390" y="3601150"/>
            <a:ext cx="1700785" cy="3749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100">
                <a:solidFill>
                  <a:srgbClr val="D99B06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200" b="1">
                <a:latin typeface="+mj-lt"/>
                <a:ea typeface="+mj-ea"/>
                <a:cs typeface="+mj-cs"/>
                <a:sym typeface="Helvetica"/>
              </a:rPr>
              <a:t>区域子代理 </a:t>
            </a:r>
            <a:r>
              <a:rPr sz="1200"/>
              <a:t>B</a:t>
            </a:r>
          </a:p>
          <a:p>
            <a:pPr algn="ctr">
              <a:lnSpc>
                <a:spcPct val="114000"/>
              </a:lnSpc>
              <a:defRPr sz="9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000">
                <a:latin typeface="+mj-lt"/>
                <a:ea typeface="+mj-ea"/>
                <a:cs typeface="+mj-cs"/>
                <a:sym typeface="Helvetica"/>
              </a:rPr>
              <a:t>区域级取消 </a:t>
            </a:r>
            <a:r>
              <a:rPr sz="1000"/>
              <a:t>/ </a:t>
            </a:r>
            <a:r>
              <a:rPr sz="1000">
                <a:latin typeface="+mj-lt"/>
                <a:ea typeface="+mj-ea"/>
                <a:cs typeface="+mj-cs"/>
                <a:sym typeface="Helvetica"/>
              </a:rPr>
              <a:t>超时</a:t>
            </a:r>
          </a:p>
        </p:txBody>
      </p:sp>
      <p:sp>
        <p:nvSpPr>
          <p:cNvPr id="378" name="Rounded Rectangle 16"/>
          <p:cNvSpPr/>
          <p:nvPr/>
        </p:nvSpPr>
        <p:spPr>
          <a:xfrm>
            <a:off x="8858494" y="3308545"/>
            <a:ext cx="1847089" cy="960121"/>
          </a:xfrm>
          <a:prstGeom prst="roundRect">
            <a:avLst>
              <a:gd name="adj" fmla="val 5238"/>
            </a:avLst>
          </a:prstGeom>
          <a:solidFill>
            <a:srgbClr val="FDF8EC"/>
          </a:solidFill>
          <a:ln w="12700">
            <a:solidFill>
              <a:srgbClr val="E9D29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000"/>
          </a:p>
        </p:txBody>
      </p:sp>
      <p:sp>
        <p:nvSpPr>
          <p:cNvPr id="379" name="TextBox 17"/>
          <p:cNvSpPr txBox="1"/>
          <p:nvPr/>
        </p:nvSpPr>
        <p:spPr>
          <a:xfrm>
            <a:off x="8931646" y="3602433"/>
            <a:ext cx="1700785" cy="3723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100">
                <a:solidFill>
                  <a:srgbClr val="D99B06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200" b="1">
                <a:latin typeface="+mj-lt"/>
                <a:ea typeface="+mj-ea"/>
                <a:cs typeface="+mj-cs"/>
                <a:sym typeface="Helvetica"/>
              </a:rPr>
              <a:t>区域子代理 </a:t>
            </a:r>
            <a:r>
              <a:rPr sz="1200"/>
              <a:t>N</a:t>
            </a:r>
          </a:p>
          <a:p>
            <a:pPr algn="ctr">
              <a:lnSpc>
                <a:spcPct val="114000"/>
              </a:lnSpc>
              <a:defRPr sz="9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000">
                <a:latin typeface="+mj-lt"/>
                <a:ea typeface="+mj-ea"/>
                <a:cs typeface="+mj-cs"/>
                <a:sym typeface="Helvetica"/>
              </a:rPr>
              <a:t>失败只重试该区域</a:t>
            </a:r>
          </a:p>
        </p:txBody>
      </p:sp>
      <p:sp>
        <p:nvSpPr>
          <p:cNvPr id="380" name="Connector 18"/>
          <p:cNvSpPr/>
          <p:nvPr/>
        </p:nvSpPr>
        <p:spPr>
          <a:xfrm flipH="1">
            <a:off x="5685526" y="3116521"/>
            <a:ext cx="2048257" cy="164593"/>
          </a:xfrm>
          <a:prstGeom prst="line">
            <a:avLst/>
          </a:prstGeom>
          <a:ln w="11430">
            <a:solidFill>
              <a:srgbClr val="8B95A5"/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endParaRPr sz="2000"/>
          </a:p>
        </p:txBody>
      </p:sp>
      <p:sp>
        <p:nvSpPr>
          <p:cNvPr id="381" name="Connector 19"/>
          <p:cNvSpPr/>
          <p:nvPr/>
        </p:nvSpPr>
        <p:spPr>
          <a:xfrm>
            <a:off x="5685526" y="4296097"/>
            <a:ext cx="2048257" cy="192026"/>
          </a:xfrm>
          <a:prstGeom prst="line">
            <a:avLst/>
          </a:prstGeom>
          <a:ln w="11430">
            <a:solidFill>
              <a:srgbClr val="1F8F78"/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endParaRPr sz="2000"/>
          </a:p>
        </p:txBody>
      </p:sp>
      <p:sp>
        <p:nvSpPr>
          <p:cNvPr id="382" name="Connector 20"/>
          <p:cNvSpPr/>
          <p:nvPr/>
        </p:nvSpPr>
        <p:spPr>
          <a:xfrm>
            <a:off x="7733782" y="3116521"/>
            <a:ext cx="1" cy="164593"/>
          </a:xfrm>
          <a:prstGeom prst="line">
            <a:avLst/>
          </a:prstGeom>
          <a:ln w="11430">
            <a:solidFill>
              <a:srgbClr val="8B95A5"/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endParaRPr sz="2000"/>
          </a:p>
        </p:txBody>
      </p:sp>
      <p:sp>
        <p:nvSpPr>
          <p:cNvPr id="383" name="Connector 21"/>
          <p:cNvSpPr/>
          <p:nvPr/>
        </p:nvSpPr>
        <p:spPr>
          <a:xfrm>
            <a:off x="7733782" y="4296098"/>
            <a:ext cx="1" cy="192025"/>
          </a:xfrm>
          <a:prstGeom prst="line">
            <a:avLst/>
          </a:prstGeom>
          <a:ln w="11430">
            <a:solidFill>
              <a:srgbClr val="1F8F78"/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endParaRPr sz="2000"/>
          </a:p>
        </p:txBody>
      </p:sp>
      <p:sp>
        <p:nvSpPr>
          <p:cNvPr id="384" name="Connector 22"/>
          <p:cNvSpPr/>
          <p:nvPr/>
        </p:nvSpPr>
        <p:spPr>
          <a:xfrm>
            <a:off x="7733782" y="3116522"/>
            <a:ext cx="2048257" cy="164592"/>
          </a:xfrm>
          <a:prstGeom prst="line">
            <a:avLst/>
          </a:prstGeom>
          <a:ln w="11430">
            <a:solidFill>
              <a:srgbClr val="8B95A5"/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endParaRPr sz="2000"/>
          </a:p>
        </p:txBody>
      </p:sp>
      <p:sp>
        <p:nvSpPr>
          <p:cNvPr id="385" name="Connector 23"/>
          <p:cNvSpPr/>
          <p:nvPr/>
        </p:nvSpPr>
        <p:spPr>
          <a:xfrm flipH="1">
            <a:off x="7733783" y="4296098"/>
            <a:ext cx="2048257" cy="192024"/>
          </a:xfrm>
          <a:prstGeom prst="line">
            <a:avLst/>
          </a:prstGeom>
          <a:ln w="11430">
            <a:solidFill>
              <a:srgbClr val="1F8F78"/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endParaRPr sz="2000"/>
          </a:p>
        </p:txBody>
      </p:sp>
      <p:sp>
        <p:nvSpPr>
          <p:cNvPr id="386" name="Rounded Rectangle 24"/>
          <p:cNvSpPr/>
          <p:nvPr/>
        </p:nvSpPr>
        <p:spPr>
          <a:xfrm>
            <a:off x="4761982" y="4515554"/>
            <a:ext cx="2834641" cy="1069849"/>
          </a:xfrm>
          <a:prstGeom prst="roundRect">
            <a:avLst>
              <a:gd name="adj" fmla="val 4700"/>
            </a:avLst>
          </a:prstGeom>
          <a:solidFill>
            <a:srgbClr val="EFF9F6"/>
          </a:solidFill>
          <a:ln>
            <a:solidFill>
              <a:srgbClr val="B3DED4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000"/>
          </a:p>
        </p:txBody>
      </p:sp>
      <p:sp>
        <p:nvSpPr>
          <p:cNvPr id="387" name="TextBox 25"/>
          <p:cNvSpPr txBox="1"/>
          <p:nvPr/>
        </p:nvSpPr>
        <p:spPr>
          <a:xfrm>
            <a:off x="4761982" y="4864305"/>
            <a:ext cx="2834641" cy="3723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100">
                <a:solidFill>
                  <a:srgbClr val="1F8F78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200"/>
              <a:t>TracePublishSink</a:t>
            </a:r>
          </a:p>
          <a:p>
            <a:pPr algn="ctr">
              <a:lnSpc>
                <a:spcPct val="114000"/>
              </a:lnSpc>
              <a:defRPr sz="900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rPr sz="1000"/>
              <a:t>串行整理结果</a:t>
            </a:r>
          </a:p>
        </p:txBody>
      </p:sp>
      <p:sp>
        <p:nvSpPr>
          <p:cNvPr id="388" name="Rounded Rectangle 26"/>
          <p:cNvSpPr/>
          <p:nvPr/>
        </p:nvSpPr>
        <p:spPr>
          <a:xfrm>
            <a:off x="7870942" y="4515554"/>
            <a:ext cx="2834641" cy="1069849"/>
          </a:xfrm>
          <a:prstGeom prst="roundRect">
            <a:avLst>
              <a:gd name="adj" fmla="val 4700"/>
            </a:avLst>
          </a:prstGeom>
          <a:solidFill>
            <a:srgbClr val="F0F7F9"/>
          </a:solidFill>
          <a:ln>
            <a:solidFill>
              <a:srgbClr val="B8D5D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000"/>
          </a:p>
        </p:txBody>
      </p:sp>
      <p:sp>
        <p:nvSpPr>
          <p:cNvPr id="389" name="TextBox 27"/>
          <p:cNvSpPr txBox="1"/>
          <p:nvPr/>
        </p:nvSpPr>
        <p:spPr>
          <a:xfrm>
            <a:off x="7870942" y="4863022"/>
            <a:ext cx="2834641" cy="3749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100">
                <a:solidFill>
                  <a:srgbClr val="1F6F8B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200"/>
              <a:t>SharedRunEventBus</a:t>
            </a:r>
          </a:p>
          <a:p>
            <a:pPr algn="ctr">
              <a:lnSpc>
                <a:spcPct val="114000"/>
              </a:lnSpc>
              <a:defRPr sz="9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000"/>
              <a:t>(run_id, sequence) </a:t>
            </a:r>
            <a:r>
              <a:rPr sz="1000">
                <a:latin typeface="+mj-lt"/>
                <a:ea typeface="+mj-ea"/>
                <a:cs typeface="+mj-cs"/>
                <a:sym typeface="Helvetica"/>
              </a:rPr>
              <a:t>单调</a:t>
            </a:r>
          </a:p>
        </p:txBody>
      </p:sp>
      <p:sp>
        <p:nvSpPr>
          <p:cNvPr id="390" name="Rounded Rectangle 28"/>
          <p:cNvSpPr/>
          <p:nvPr/>
        </p:nvSpPr>
        <p:spPr>
          <a:xfrm>
            <a:off x="4761982" y="5749993"/>
            <a:ext cx="5943601" cy="603505"/>
          </a:xfrm>
          <a:prstGeom prst="roundRect">
            <a:avLst>
              <a:gd name="adj" fmla="val 8333"/>
            </a:avLst>
          </a:prstGeom>
          <a:solidFill>
            <a:srgbClr val="FDF8EC"/>
          </a:solidFill>
          <a:ln>
            <a:solidFill>
              <a:srgbClr val="E9D29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000"/>
          </a:p>
        </p:txBody>
      </p:sp>
      <p:sp>
        <p:nvSpPr>
          <p:cNvPr id="391" name="TextBox 29"/>
          <p:cNvSpPr txBox="1"/>
          <p:nvPr/>
        </p:nvSpPr>
        <p:spPr>
          <a:xfrm>
            <a:off x="4761982" y="5962845"/>
            <a:ext cx="59436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000">
                <a:solidFill>
                  <a:srgbClr val="D99B06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050" b="1">
                <a:latin typeface="+mj-lt"/>
                <a:ea typeface="+mj-ea"/>
                <a:cs typeface="+mj-cs"/>
                <a:sym typeface="Helvetica"/>
              </a:rPr>
              <a:t>部分区域失败 </a:t>
            </a:r>
            <a:r>
              <a:rPr sz="1050"/>
              <a:t>→ </a:t>
            </a:r>
            <a:r>
              <a:rPr sz="1050" b="1">
                <a:latin typeface="+mj-lt"/>
                <a:ea typeface="+mj-ea"/>
                <a:cs typeface="+mj-cs"/>
                <a:sym typeface="Helvetica"/>
              </a:rPr>
              <a:t>任务标 </a:t>
            </a:r>
            <a:r>
              <a:rPr sz="1050"/>
              <a:t>partial </a:t>
            </a:r>
            <a:r>
              <a:rPr sz="1050" b="1">
                <a:latin typeface="+mj-lt"/>
                <a:ea typeface="+mj-ea"/>
                <a:cs typeface="+mj-cs"/>
                <a:sym typeface="Helvetica"/>
              </a:rPr>
              <a:t>并展示缺失覆盖，并且限制重试次数</a:t>
            </a:r>
          </a:p>
        </p:txBody>
      </p:sp>
      <p:sp>
        <p:nvSpPr>
          <p:cNvPr id="392" name="Rounded Rectangle 30"/>
          <p:cNvSpPr/>
          <p:nvPr/>
        </p:nvSpPr>
        <p:spPr>
          <a:xfrm>
            <a:off x="566927" y="1673413"/>
            <a:ext cx="2834641" cy="1371601"/>
          </a:xfrm>
          <a:prstGeom prst="roundRect">
            <a:avLst>
              <a:gd name="adj" fmla="val 3666"/>
            </a:avLst>
          </a:prstGeom>
          <a:solidFill>
            <a:srgbClr val="F0F7F9"/>
          </a:solidFill>
          <a:ln>
            <a:solidFill>
              <a:srgbClr val="B8D5D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000"/>
          </a:p>
        </p:txBody>
      </p:sp>
      <p:sp>
        <p:nvSpPr>
          <p:cNvPr id="393" name="Rectangle 31"/>
          <p:cNvSpPr/>
          <p:nvPr/>
        </p:nvSpPr>
        <p:spPr>
          <a:xfrm>
            <a:off x="566927" y="1673413"/>
            <a:ext cx="45721" cy="1371601"/>
          </a:xfrm>
          <a:prstGeom prst="rect">
            <a:avLst/>
          </a:prstGeom>
          <a:solidFill>
            <a:srgbClr val="1F6F8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000"/>
          </a:p>
        </p:txBody>
      </p:sp>
      <p:sp>
        <p:nvSpPr>
          <p:cNvPr id="394" name="TextBox 32"/>
          <p:cNvSpPr txBox="1"/>
          <p:nvPr/>
        </p:nvSpPr>
        <p:spPr>
          <a:xfrm>
            <a:off x="749808" y="1892869"/>
            <a:ext cx="2505456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 b="1">
                <a:solidFill>
                  <a:srgbClr val="1F6F8B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b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400" b="1" dirty="0" err="1">
                <a:latin typeface="+mj-lt"/>
                <a:ea typeface="+mj-ea"/>
                <a:cs typeface="+mj-cs"/>
                <a:sym typeface="Helvetica"/>
              </a:rPr>
              <a:t>为什么不用一次大调用</a:t>
            </a:r>
            <a:endParaRPr sz="1400" b="1"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395" name="TextBox 33"/>
          <p:cNvSpPr txBox="1"/>
          <p:nvPr/>
        </p:nvSpPr>
        <p:spPr>
          <a:xfrm>
            <a:off x="749807" y="2305843"/>
            <a:ext cx="2468882" cy="4725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4000"/>
              </a:lnSpc>
              <a:defRPr sz="10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200" dirty="0"/>
              <a:t>· </a:t>
            </a:r>
            <a:r>
              <a:rPr sz="1200" dirty="0" err="1"/>
              <a:t>减少</a:t>
            </a:r>
            <a:r>
              <a:rPr sz="1200" dirty="0" err="1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注意力下降与输出遗漏情况</a:t>
            </a:r>
            <a:endParaRPr sz="1200" dirty="0">
              <a:solidFill>
                <a:srgbClr val="4A5464"/>
              </a:solidFill>
              <a:latin typeface="+mj-lt"/>
              <a:ea typeface="+mj-ea"/>
              <a:cs typeface="+mj-cs"/>
              <a:sym typeface="Helvetica"/>
            </a:endParaRPr>
          </a:p>
          <a:p>
            <a:pPr>
              <a:lnSpc>
                <a:spcPct val="134000"/>
              </a:lnSpc>
              <a:defRPr sz="10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200" dirty="0"/>
              <a:t>· </a:t>
            </a:r>
            <a:r>
              <a:rPr sz="1200" dirty="0" err="1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缩小失败重试代价</a:t>
            </a:r>
            <a:endParaRPr sz="1200" dirty="0">
              <a:solidFill>
                <a:srgbClr val="4A5464"/>
              </a:solidFill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396" name="TextBox 34"/>
          <p:cNvSpPr txBox="1"/>
          <p:nvPr/>
        </p:nvSpPr>
        <p:spPr>
          <a:xfrm>
            <a:off x="561848" y="3205996"/>
            <a:ext cx="283464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 b="1">
                <a:solidFill>
                  <a:srgbClr val="14181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b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400" b="1" dirty="0" err="1">
                <a:latin typeface="+mj-lt"/>
                <a:ea typeface="+mj-ea"/>
                <a:cs typeface="+mj-cs"/>
                <a:sym typeface="Helvetica"/>
              </a:rPr>
              <a:t>可调参数</a:t>
            </a:r>
            <a:endParaRPr sz="1400" b="1" dirty="0">
              <a:latin typeface="+mj-lt"/>
              <a:ea typeface="+mj-ea"/>
              <a:cs typeface="+mj-cs"/>
              <a:sym typeface="Helvetica"/>
            </a:endParaRPr>
          </a:p>
        </p:txBody>
      </p:sp>
      <p:graphicFrame>
        <p:nvGraphicFramePr>
          <p:cNvPr id="397" name="Table 35"/>
          <p:cNvGraphicFramePr/>
          <p:nvPr>
            <p:extLst>
              <p:ext uri="{D42A27DB-BD31-4B8C-83A1-F6EECF244321}">
                <p14:modId xmlns:p14="http://schemas.microsoft.com/office/powerpoint/2010/main" val="862984726"/>
              </p:ext>
            </p:extLst>
          </p:nvPr>
        </p:nvGraphicFramePr>
        <p:xfrm>
          <a:off x="585215" y="3654207"/>
          <a:ext cx="2834640" cy="1810512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20009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3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900">
                          <a:solidFill>
                            <a:srgbClr val="14181F"/>
                          </a:solidFill>
                          <a:latin typeface="PingFang SC Semibold"/>
                          <a:ea typeface="PingFang SC Semibold"/>
                          <a:cs typeface="PingFang SC Semibold"/>
                          <a:sym typeface="PingFang SC Semibold"/>
                        </a:defRPr>
                      </a:pPr>
                      <a:r>
                        <a:rPr sz="1050" b="1" dirty="0" err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参数</a:t>
                      </a:r>
                      <a:endParaRPr sz="1050" b="1" dirty="0">
                        <a:latin typeface="+mj-lt"/>
                        <a:ea typeface="+mj-ea"/>
                        <a:cs typeface="+mj-cs"/>
                        <a:sym typeface="Helvetica"/>
                      </a:endParaRP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900">
                          <a:solidFill>
                            <a:srgbClr val="14181F"/>
                          </a:solidFill>
                          <a:latin typeface="PingFang SC Semibold"/>
                          <a:ea typeface="PingFang SC Semibold"/>
                          <a:cs typeface="PingFang SC Semibold"/>
                          <a:sym typeface="PingFang SC Semibold"/>
                        </a:defRPr>
                      </a:pPr>
                      <a:r>
                        <a:rPr sz="1050" b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默认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EE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800"/>
                      </a:pPr>
                      <a:r>
                        <a:rPr sz="1050" dirty="0">
                          <a:solidFill>
                            <a:srgbClr val="14181F"/>
                          </a:solidFill>
                          <a:latin typeface="PingFang SC Semibold"/>
                          <a:ea typeface="PingFang SC Semibold"/>
                          <a:cs typeface="PingFang SC Semibold"/>
                          <a:sym typeface="PingFang SC Semibold"/>
                        </a:rPr>
                        <a:t>SUBAGENT_PARALLELISM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800"/>
                      </a:pPr>
                      <a:r>
                        <a:rPr sz="1050" dirty="0">
                          <a:solidFill>
                            <a:srgbClr val="4A5464"/>
                          </a:solidFill>
                          <a:latin typeface="PingFang SC Regular"/>
                          <a:ea typeface="PingFang SC Regular"/>
                          <a:cs typeface="PingFang SC Regular"/>
                          <a:sym typeface="PingFang SC Regular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800"/>
                      </a:pPr>
                      <a:r>
                        <a:rPr sz="1050" dirty="0">
                          <a:solidFill>
                            <a:srgbClr val="14181F"/>
                          </a:solidFill>
                          <a:latin typeface="PingFang SC Semibold"/>
                          <a:ea typeface="PingFang SC Semibold"/>
                          <a:cs typeface="PingFang SC Semibold"/>
                          <a:sym typeface="PingFang SC Semibold"/>
                        </a:rPr>
                        <a:t>SUBAGENT_STEPS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800"/>
                      </a:pPr>
                      <a:r>
                        <a:rPr sz="1050" dirty="0">
                          <a:solidFill>
                            <a:srgbClr val="4A5464"/>
                          </a:solidFill>
                          <a:latin typeface="PingFang SC Regular"/>
                          <a:ea typeface="PingFang SC Regular"/>
                          <a:cs typeface="PingFang SC Regular"/>
                          <a:sym typeface="PingFang SC Regular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900">
                          <a:solidFill>
                            <a:srgbClr val="14181F"/>
                          </a:solidFill>
                          <a:latin typeface="PingFang SC Semibold"/>
                          <a:ea typeface="PingFang SC Semibold"/>
                          <a:cs typeface="PingFang SC Semibold"/>
                          <a:sym typeface="PingFang SC Semibold"/>
                        </a:defRPr>
                      </a:pPr>
                      <a:r>
                        <a:rPr sz="1050" dirty="0"/>
                        <a:t>Run trace budget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800"/>
                      </a:pPr>
                      <a:r>
                        <a:rPr sz="1050" dirty="0">
                          <a:solidFill>
                            <a:srgbClr val="4A5464"/>
                          </a:solidFill>
                          <a:latin typeface="PingFang SC Regular"/>
                          <a:ea typeface="PingFang SC Regular"/>
                          <a:cs typeface="PingFang SC Regular"/>
                          <a:sym typeface="PingFang SC Regular"/>
                        </a:rPr>
                        <a:t>64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3572"/>
            <a:ext cx="47575" cy="6850856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" name="TextBox 2"/>
          <p:cNvSpPr txBox="1"/>
          <p:nvPr/>
        </p:nvSpPr>
        <p:spPr>
          <a:xfrm>
            <a:off x="608965" y="498357"/>
            <a:ext cx="10961370" cy="1617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ts val="1124"/>
              </a:lnSpc>
            </a:pPr>
            <a:r>
              <a:rPr sz="899" b="1" spc="144">
                <a:solidFill>
                  <a:srgbClr val="1F6F8B"/>
                </a:solidFill>
                <a:latin typeface="Hiragino Sans GB W6"/>
                <a:ea typeface="Hiragino Sans GB W6"/>
                <a:cs typeface="Hiragino Sans GB W6"/>
              </a:rPr>
              <a:t>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8965" y="745749"/>
            <a:ext cx="10961370" cy="34492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ts val="2716"/>
              </a:lnSpc>
            </a:pPr>
            <a:r>
              <a:rPr sz="2400" b="1" spc="-22" dirty="0" err="1">
                <a:solidFill>
                  <a:srgbClr val="14181F"/>
                </a:solidFill>
                <a:latin typeface="Hiragino Sans GB W6"/>
                <a:ea typeface="Hiragino Sans GB W6"/>
                <a:cs typeface="Hiragino Sans GB W6"/>
              </a:rPr>
              <a:t>生命周期与双向索引：一份事实，两个方向</a:t>
            </a:r>
            <a:endParaRPr sz="2400" b="1" spc="-22" dirty="0">
              <a:solidFill>
                <a:srgbClr val="14181F"/>
              </a:solidFill>
              <a:latin typeface="Hiragino Sans GB W6"/>
              <a:ea typeface="Hiragino Sans GB W6"/>
              <a:cs typeface="Hiragino Sans GB W6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8965" y="1164316"/>
            <a:ext cx="9515078" cy="2283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ts val="1798"/>
              </a:lnSpc>
            </a:pPr>
            <a:r>
              <a:rPr sz="1400">
                <a:solidFill>
                  <a:srgbClr val="4A5464"/>
                </a:solidFill>
                <a:latin typeface="Hiragino Sans GB W6"/>
                <a:ea typeface="Hiragino Sans GB W6"/>
                <a:cs typeface="Hiragino Sans GB W6"/>
              </a:rPr>
              <a:t>双向追溯不是分别生成两套结果，而是从同一个关系图建立两个索引。两边永远共享同一事实来源，不会互相矛盾。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966" y="1652059"/>
            <a:ext cx="5395049" cy="4707585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9525">
            <a:solidFill>
              <a:srgbClr val="DF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" name="TextBox 6"/>
          <p:cNvSpPr txBox="1"/>
          <p:nvPr/>
        </p:nvSpPr>
        <p:spPr>
          <a:xfrm>
            <a:off x="866158" y="1823473"/>
            <a:ext cx="1390343" cy="21730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400" b="1" dirty="0" err="1">
                <a:solidFill>
                  <a:srgbClr val="14181F"/>
                </a:solidFill>
                <a:latin typeface="Microsoft YaHei"/>
                <a:ea typeface="Microsoft YaHei"/>
                <a:cs typeface="Microsoft YaHei"/>
              </a:rPr>
              <a:t>追溯任务状态机</a:t>
            </a:r>
            <a:endParaRPr sz="1400" b="1" dirty="0">
              <a:solidFill>
                <a:srgbClr val="14181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66158" y="2080809"/>
            <a:ext cx="1429926" cy="285928"/>
          </a:xfrm>
          <a:prstGeom prst="roundRect">
            <a:avLst>
              <a:gd name="adj" fmla="val 20000"/>
            </a:avLst>
          </a:prstGeom>
          <a:solidFill>
            <a:srgbClr val="F5F7F9"/>
          </a:solidFill>
          <a:ln w="9525">
            <a:solidFill>
              <a:srgbClr val="DF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9" name="TextBox 8"/>
          <p:cNvSpPr txBox="1"/>
          <p:nvPr/>
        </p:nvSpPr>
        <p:spPr>
          <a:xfrm>
            <a:off x="853456" y="2136757"/>
            <a:ext cx="1455331" cy="19018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900">
                <a:solidFill>
                  <a:srgbClr val="4A5464"/>
                </a:solidFill>
                <a:latin typeface="Microsoft YaHei"/>
                <a:ea typeface="Microsoft YaHei"/>
                <a:cs typeface="Microsoft YaHei"/>
              </a:rPr>
              <a:t>waiting_for_inputs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6158" y="2443048"/>
            <a:ext cx="1429926" cy="285928"/>
          </a:xfrm>
          <a:prstGeom prst="roundRect">
            <a:avLst>
              <a:gd name="adj" fmla="val 20000"/>
            </a:avLst>
          </a:prstGeom>
          <a:solidFill>
            <a:srgbClr val="F5F7F9"/>
          </a:solidFill>
          <a:ln w="9525">
            <a:solidFill>
              <a:srgbClr val="DF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TextBox 10"/>
          <p:cNvSpPr txBox="1"/>
          <p:nvPr/>
        </p:nvSpPr>
        <p:spPr>
          <a:xfrm>
            <a:off x="676999" y="2498996"/>
            <a:ext cx="1808245" cy="19018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900">
                <a:solidFill>
                  <a:srgbClr val="4A5464"/>
                </a:solidFill>
                <a:latin typeface="Microsoft YaHei"/>
                <a:ea typeface="Microsoft YaHei"/>
                <a:cs typeface="Microsoft YaHei"/>
              </a:rPr>
              <a:t>waiting_for_code_analysis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6158" y="2805286"/>
            <a:ext cx="1429926" cy="285928"/>
          </a:xfrm>
          <a:prstGeom prst="roundRect">
            <a:avLst>
              <a:gd name="adj" fmla="val 20000"/>
            </a:avLst>
          </a:prstGeom>
          <a:solidFill>
            <a:srgbClr val="F5F7F9"/>
          </a:solidFill>
          <a:ln w="9525">
            <a:solidFill>
              <a:srgbClr val="DF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3" name="TextBox 12"/>
          <p:cNvSpPr txBox="1"/>
          <p:nvPr/>
        </p:nvSpPr>
        <p:spPr>
          <a:xfrm>
            <a:off x="796935" y="2861235"/>
            <a:ext cx="1568371" cy="19018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900">
                <a:solidFill>
                  <a:srgbClr val="4A5464"/>
                </a:solidFill>
                <a:latin typeface="Microsoft YaHei"/>
                <a:ea typeface="Microsoft YaHei"/>
                <a:cs typeface="Microsoft YaHei"/>
              </a:rPr>
              <a:t>waiting_for_provider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10455" y="2520500"/>
            <a:ext cx="1499481" cy="17210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900" dirty="0" err="1">
                <a:solidFill>
                  <a:srgbClr val="8B95A5"/>
                </a:solidFill>
                <a:latin typeface="Microsoft YaHei"/>
                <a:ea typeface="Microsoft YaHei"/>
                <a:cs typeface="Microsoft YaHei"/>
              </a:rPr>
              <a:t>稳定态，不做无限重试</a:t>
            </a:r>
            <a:endParaRPr sz="900" dirty="0">
              <a:solidFill>
                <a:srgbClr val="8B95A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66158" y="3224711"/>
            <a:ext cx="1429926" cy="285928"/>
          </a:xfrm>
          <a:prstGeom prst="roundRect">
            <a:avLst>
              <a:gd name="adj" fmla="val 20000"/>
            </a:avLst>
          </a:prstGeom>
          <a:solidFill>
            <a:srgbClr val="F0F7F9"/>
          </a:solidFill>
          <a:ln w="9525">
            <a:solidFill>
              <a:srgbClr val="B8D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6" name="TextBox 15"/>
          <p:cNvSpPr txBox="1"/>
          <p:nvPr/>
        </p:nvSpPr>
        <p:spPr>
          <a:xfrm>
            <a:off x="1106128" y="3280660"/>
            <a:ext cx="949985" cy="19018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900" b="1">
                <a:solidFill>
                  <a:srgbClr val="1F6F8B"/>
                </a:solidFill>
                <a:latin typeface="Microsoft YaHei"/>
                <a:ea typeface="Microsoft YaHei"/>
                <a:cs typeface="Microsoft YaHei"/>
              </a:rPr>
              <a:t>queued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6158" y="3586950"/>
            <a:ext cx="1429926" cy="285928"/>
          </a:xfrm>
          <a:prstGeom prst="roundRect">
            <a:avLst>
              <a:gd name="adj" fmla="val 20000"/>
            </a:avLst>
          </a:prstGeom>
          <a:solidFill>
            <a:srgbClr val="F0F7F9"/>
          </a:solidFill>
          <a:ln w="9525">
            <a:solidFill>
              <a:srgbClr val="B8D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8" name="TextBox 17"/>
          <p:cNvSpPr txBox="1"/>
          <p:nvPr/>
        </p:nvSpPr>
        <p:spPr>
          <a:xfrm>
            <a:off x="739083" y="3642899"/>
            <a:ext cx="1684074" cy="19018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900">
                <a:solidFill>
                  <a:srgbClr val="1F6F8B"/>
                </a:solidFill>
                <a:latin typeface="Microsoft YaHei"/>
                <a:ea typeface="Microsoft YaHei"/>
                <a:cs typeface="Microsoft YaHei"/>
              </a:rPr>
              <a:t>scouting_and_mapping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6158" y="3949189"/>
            <a:ext cx="1429926" cy="285928"/>
          </a:xfrm>
          <a:prstGeom prst="roundRect">
            <a:avLst>
              <a:gd name="adj" fmla="val 20000"/>
            </a:avLst>
          </a:prstGeom>
          <a:solidFill>
            <a:srgbClr val="FDF8EC"/>
          </a:solidFill>
          <a:ln w="9525">
            <a:solidFill>
              <a:srgbClr val="E9D2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0" name="TextBox 19"/>
          <p:cNvSpPr txBox="1"/>
          <p:nvPr/>
        </p:nvSpPr>
        <p:spPr>
          <a:xfrm>
            <a:off x="1068401" y="4005138"/>
            <a:ext cx="1025440" cy="19018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900">
                <a:solidFill>
                  <a:srgbClr val="A87F05"/>
                </a:solidFill>
                <a:latin typeface="Microsoft YaHei"/>
                <a:ea typeface="Microsoft YaHei"/>
                <a:cs typeface="Microsoft YaHei"/>
              </a:rPr>
              <a:t>exploring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6158" y="4311428"/>
            <a:ext cx="1429926" cy="285928"/>
          </a:xfrm>
          <a:prstGeom prst="roundRect">
            <a:avLst>
              <a:gd name="adj" fmla="val 20000"/>
            </a:avLst>
          </a:prstGeom>
          <a:solidFill>
            <a:srgbClr val="EFF9F6"/>
          </a:solidFill>
          <a:ln w="9525">
            <a:solidFill>
              <a:srgbClr val="B3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2" name="TextBox 21"/>
          <p:cNvSpPr txBox="1"/>
          <p:nvPr/>
        </p:nvSpPr>
        <p:spPr>
          <a:xfrm>
            <a:off x="1055699" y="4367377"/>
            <a:ext cx="1050845" cy="19018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900">
                <a:solidFill>
                  <a:srgbClr val="1F8F78"/>
                </a:solidFill>
                <a:latin typeface="Microsoft YaHei"/>
                <a:ea typeface="Microsoft YaHei"/>
                <a:cs typeface="Microsoft YaHei"/>
              </a:rPr>
              <a:t>validating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6158" y="4749882"/>
            <a:ext cx="667292" cy="266898"/>
          </a:xfrm>
          <a:prstGeom prst="roundRect">
            <a:avLst>
              <a:gd name="adj" fmla="val 21426"/>
            </a:avLst>
          </a:prstGeom>
          <a:solidFill>
            <a:srgbClr val="EFF9F6"/>
          </a:solidFill>
          <a:ln w="9525">
            <a:solidFill>
              <a:srgbClr val="1F8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4" name="TextBox 23"/>
          <p:cNvSpPr txBox="1"/>
          <p:nvPr/>
        </p:nvSpPr>
        <p:spPr>
          <a:xfrm>
            <a:off x="651736" y="4796412"/>
            <a:ext cx="1096042" cy="19018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900" b="1">
                <a:solidFill>
                  <a:srgbClr val="1F8F78"/>
                </a:solidFill>
                <a:latin typeface="Microsoft YaHei"/>
                <a:ea typeface="Microsoft YaHei"/>
                <a:cs typeface="Microsoft YaHei"/>
              </a:rPr>
              <a:t>succeeded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628792" y="4749882"/>
            <a:ext cx="667292" cy="266898"/>
          </a:xfrm>
          <a:prstGeom prst="roundRect">
            <a:avLst>
              <a:gd name="adj" fmla="val 21426"/>
            </a:avLst>
          </a:prstGeom>
          <a:solidFill>
            <a:srgbClr val="FDF8EC"/>
          </a:solidFill>
          <a:ln w="9525">
            <a:solidFill>
              <a:srgbClr val="D99B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6" name="TextBox 25"/>
          <p:cNvSpPr txBox="1"/>
          <p:nvPr/>
        </p:nvSpPr>
        <p:spPr>
          <a:xfrm>
            <a:off x="1513373" y="4796412"/>
            <a:ext cx="898034" cy="19018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900" b="1">
                <a:solidFill>
                  <a:srgbClr val="A87F05"/>
                </a:solidFill>
                <a:latin typeface="Microsoft YaHei"/>
                <a:ea typeface="Microsoft YaHei"/>
                <a:cs typeface="Microsoft YaHei"/>
              </a:rPr>
              <a:t>partial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6158" y="5093092"/>
            <a:ext cx="667292" cy="266898"/>
          </a:xfrm>
          <a:prstGeom prst="roundRect">
            <a:avLst>
              <a:gd name="adj" fmla="val 21426"/>
            </a:avLst>
          </a:prstGeom>
          <a:solidFill>
            <a:srgbClr val="FDF1F0"/>
          </a:solidFill>
          <a:ln w="9525">
            <a:solidFill>
              <a:srgbClr val="D95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8" name="TextBox 27"/>
          <p:cNvSpPr txBox="1"/>
          <p:nvPr/>
        </p:nvSpPr>
        <p:spPr>
          <a:xfrm>
            <a:off x="768390" y="5139525"/>
            <a:ext cx="862732" cy="19018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900" b="1">
                <a:solidFill>
                  <a:srgbClr val="D9564A"/>
                </a:solidFill>
                <a:latin typeface="Microsoft YaHei"/>
                <a:ea typeface="Microsoft YaHei"/>
                <a:cs typeface="Microsoft YaHei"/>
              </a:rPr>
              <a:t>failed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628792" y="5093092"/>
            <a:ext cx="667292" cy="266898"/>
          </a:xfrm>
          <a:prstGeom prst="roundRect">
            <a:avLst>
              <a:gd name="adj" fmla="val 21426"/>
            </a:avLst>
          </a:prstGeom>
          <a:solidFill>
            <a:srgbClr val="F5F7F9"/>
          </a:solidFill>
          <a:ln w="9525">
            <a:solidFill>
              <a:srgbClr val="8B9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0" name="TextBox 29"/>
          <p:cNvSpPr txBox="1"/>
          <p:nvPr/>
        </p:nvSpPr>
        <p:spPr>
          <a:xfrm>
            <a:off x="1554574" y="5139525"/>
            <a:ext cx="815632" cy="19018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900" b="1">
                <a:solidFill>
                  <a:srgbClr val="4A5464"/>
                </a:solidFill>
                <a:latin typeface="Microsoft YaHei"/>
                <a:ea typeface="Microsoft YaHei"/>
                <a:cs typeface="Microsoft YaHei"/>
              </a:rPr>
              <a:t>stale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581120" y="2366737"/>
            <a:ext cx="10" cy="38155"/>
          </a:xfrm>
          <a:custGeom>
            <a:avLst/>
            <a:gdLst/>
            <a:ahLst/>
            <a:cxnLst/>
            <a:rect l="0" t="0" r="r" b="b"/>
            <a:pathLst>
              <a:path w="10" h="38195" fill="none">
                <a:moveTo>
                  <a:pt x="0" y="0"/>
                </a:moveTo>
                <a:lnTo>
                  <a:pt x="0" y="38195"/>
                </a:lnTo>
              </a:path>
            </a:pathLst>
          </a:custGeom>
          <a:noFill/>
          <a:ln w="9525">
            <a:solidFill>
              <a:srgbClr val="8B95A5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2" name="Rectangle 31"/>
          <p:cNvSpPr/>
          <p:nvPr/>
        </p:nvSpPr>
        <p:spPr>
          <a:xfrm>
            <a:off x="1581120" y="2728977"/>
            <a:ext cx="10" cy="38155"/>
          </a:xfrm>
          <a:custGeom>
            <a:avLst/>
            <a:gdLst/>
            <a:ahLst/>
            <a:cxnLst/>
            <a:rect l="0" t="0" r="r" b="b"/>
            <a:pathLst>
              <a:path w="10" h="38195" fill="none">
                <a:moveTo>
                  <a:pt x="0" y="0"/>
                </a:moveTo>
                <a:lnTo>
                  <a:pt x="0" y="38195"/>
                </a:lnTo>
              </a:path>
            </a:pathLst>
          </a:custGeom>
          <a:noFill/>
          <a:ln w="9525">
            <a:solidFill>
              <a:srgbClr val="8B95A5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3" name="Rectangle 32"/>
          <p:cNvSpPr/>
          <p:nvPr/>
        </p:nvSpPr>
        <p:spPr>
          <a:xfrm>
            <a:off x="1581120" y="3091214"/>
            <a:ext cx="10" cy="95341"/>
          </a:xfrm>
          <a:custGeom>
            <a:avLst/>
            <a:gdLst/>
            <a:ahLst/>
            <a:cxnLst/>
            <a:rect l="0" t="0" r="r" b="b"/>
            <a:pathLst>
              <a:path w="10" h="95440" fill="none">
                <a:moveTo>
                  <a:pt x="0" y="0"/>
                </a:moveTo>
                <a:lnTo>
                  <a:pt x="0" y="95440"/>
                </a:lnTo>
              </a:path>
            </a:pathLst>
          </a:custGeom>
          <a:noFill/>
          <a:ln w="9525">
            <a:solidFill>
              <a:srgbClr val="8B95A5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4" name="Rectangle 33"/>
          <p:cNvSpPr/>
          <p:nvPr/>
        </p:nvSpPr>
        <p:spPr>
          <a:xfrm>
            <a:off x="1581120" y="3510639"/>
            <a:ext cx="10" cy="38155"/>
          </a:xfrm>
          <a:custGeom>
            <a:avLst/>
            <a:gdLst/>
            <a:ahLst/>
            <a:cxnLst/>
            <a:rect l="0" t="0" r="r" b="b"/>
            <a:pathLst>
              <a:path w="10" h="38195" fill="none">
                <a:moveTo>
                  <a:pt x="0" y="0"/>
                </a:moveTo>
                <a:lnTo>
                  <a:pt x="0" y="38195"/>
                </a:lnTo>
              </a:path>
            </a:pathLst>
          </a:custGeom>
          <a:noFill/>
          <a:ln w="9525">
            <a:solidFill>
              <a:srgbClr val="8B95A5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5" name="Rectangle 34"/>
          <p:cNvSpPr/>
          <p:nvPr/>
        </p:nvSpPr>
        <p:spPr>
          <a:xfrm>
            <a:off x="1581120" y="3872879"/>
            <a:ext cx="10" cy="38155"/>
          </a:xfrm>
          <a:custGeom>
            <a:avLst/>
            <a:gdLst/>
            <a:ahLst/>
            <a:cxnLst/>
            <a:rect l="0" t="0" r="r" b="b"/>
            <a:pathLst>
              <a:path w="10" h="38195" fill="none">
                <a:moveTo>
                  <a:pt x="0" y="0"/>
                </a:moveTo>
                <a:lnTo>
                  <a:pt x="0" y="38195"/>
                </a:lnTo>
              </a:path>
            </a:pathLst>
          </a:custGeom>
          <a:noFill/>
          <a:ln w="9525">
            <a:solidFill>
              <a:srgbClr val="8B95A5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6" name="Rectangle 35"/>
          <p:cNvSpPr/>
          <p:nvPr/>
        </p:nvSpPr>
        <p:spPr>
          <a:xfrm>
            <a:off x="1581120" y="4235118"/>
            <a:ext cx="10" cy="38155"/>
          </a:xfrm>
          <a:custGeom>
            <a:avLst/>
            <a:gdLst/>
            <a:ahLst/>
            <a:cxnLst/>
            <a:rect l="0" t="0" r="r" b="b"/>
            <a:pathLst>
              <a:path w="10" h="38195" fill="none">
                <a:moveTo>
                  <a:pt x="0" y="0"/>
                </a:moveTo>
                <a:lnTo>
                  <a:pt x="0" y="38195"/>
                </a:lnTo>
              </a:path>
            </a:pathLst>
          </a:custGeom>
          <a:noFill/>
          <a:ln w="9525">
            <a:solidFill>
              <a:srgbClr val="8B95A5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7" name="Rectangle 36"/>
          <p:cNvSpPr/>
          <p:nvPr/>
        </p:nvSpPr>
        <p:spPr>
          <a:xfrm>
            <a:off x="1581120" y="4597357"/>
            <a:ext cx="10" cy="114467"/>
          </a:xfrm>
          <a:custGeom>
            <a:avLst/>
            <a:gdLst/>
            <a:ahLst/>
            <a:cxnLst/>
            <a:rect l="0" t="0" r="r" b="b"/>
            <a:pathLst>
              <a:path w="10" h="114586" fill="none">
                <a:moveTo>
                  <a:pt x="0" y="0"/>
                </a:moveTo>
                <a:lnTo>
                  <a:pt x="0" y="114586"/>
                </a:lnTo>
              </a:path>
            </a:pathLst>
          </a:custGeom>
          <a:noFill/>
          <a:ln w="9525">
            <a:solidFill>
              <a:srgbClr val="8B95A5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8" name="Rounded Rectangle 37"/>
          <p:cNvSpPr/>
          <p:nvPr/>
        </p:nvSpPr>
        <p:spPr>
          <a:xfrm>
            <a:off x="2467640" y="3224711"/>
            <a:ext cx="3279182" cy="1010406"/>
          </a:xfrm>
          <a:prstGeom prst="roundRect">
            <a:avLst>
              <a:gd name="adj" fmla="val 6601"/>
            </a:avLst>
          </a:prstGeom>
          <a:solidFill>
            <a:srgbClr val="FBFCFD"/>
          </a:solidFill>
          <a:ln w="9525">
            <a:solidFill>
              <a:srgbClr val="DF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9" name="TextBox 38"/>
          <p:cNvSpPr txBox="1"/>
          <p:nvPr/>
        </p:nvSpPr>
        <p:spPr>
          <a:xfrm>
            <a:off x="2601042" y="3309300"/>
            <a:ext cx="1780556" cy="19018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900" b="1">
                <a:solidFill>
                  <a:srgbClr val="14181F"/>
                </a:solidFill>
                <a:latin typeface="Microsoft YaHei"/>
                <a:ea typeface="Microsoft YaHei"/>
                <a:cs typeface="Microsoft YaHei"/>
              </a:rPr>
              <a:t>任务指纹（决定能否复用）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01042" y="3511876"/>
            <a:ext cx="2455176" cy="17210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900">
                <a:solidFill>
                  <a:srgbClr val="4A5464"/>
                </a:solidFill>
                <a:latin typeface="Microsoft YaHei"/>
                <a:ea typeface="Microsoft YaHei"/>
                <a:cs typeface="Microsoft YaHei"/>
              </a:rPr>
              <a:t>论文版本 · repository revision · 代码索引版本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01042" y="3673918"/>
            <a:ext cx="2132900" cy="17210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900">
                <a:solidFill>
                  <a:srgbClr val="4A5464"/>
                </a:solidFill>
                <a:latin typeface="Microsoft YaHei"/>
                <a:ea typeface="Microsoft YaHei"/>
                <a:cs typeface="Microsoft YaHei"/>
              </a:rPr>
              <a:t>各阶段 Skill / schema 版本 · 分析配置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01042" y="3893146"/>
            <a:ext cx="2540240" cy="17210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900">
                <a:solidFill>
                  <a:srgbClr val="D9564A"/>
                </a:solidFill>
                <a:latin typeface="Microsoft YaHei"/>
                <a:ea typeface="Microsoft YaHei"/>
                <a:cs typeface="Microsoft YaHei"/>
              </a:rPr>
              <a:t>运行期间 revision 漂移 → 结果不发布为 current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01042" y="4045672"/>
            <a:ext cx="2071337" cy="17210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900">
                <a:solidFill>
                  <a:srgbClr val="8B95A5"/>
                </a:solidFill>
                <a:latin typeface="Microsoft YaHei"/>
                <a:ea typeface="Microsoft YaHei"/>
                <a:cs typeface="Microsoft YaHei"/>
              </a:rPr>
              <a:t>旧任务可完成审计，但只能标记 stale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467640" y="4368614"/>
            <a:ext cx="3279182" cy="991376"/>
          </a:xfrm>
          <a:prstGeom prst="roundRect">
            <a:avLst>
              <a:gd name="adj" fmla="val 6728"/>
            </a:avLst>
          </a:prstGeom>
          <a:solidFill>
            <a:srgbClr val="F0F7F9"/>
          </a:solidFill>
          <a:ln w="9525">
            <a:solidFill>
              <a:srgbClr val="B8D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5" name="TextBox 44"/>
          <p:cNvSpPr txBox="1"/>
          <p:nvPr/>
        </p:nvSpPr>
        <p:spPr>
          <a:xfrm>
            <a:off x="2601042" y="4453203"/>
            <a:ext cx="2638627" cy="19018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900" b="1" dirty="0" err="1">
                <a:solidFill>
                  <a:srgbClr val="1F6F8B"/>
                </a:solidFill>
                <a:latin typeface="Microsoft YaHei"/>
                <a:ea typeface="Microsoft YaHei"/>
                <a:cs typeface="Microsoft YaHei"/>
              </a:rPr>
              <a:t>代码保存</a:t>
            </a:r>
            <a:r>
              <a:rPr sz="900" b="1" dirty="0">
                <a:solidFill>
                  <a:srgbClr val="1F6F8B"/>
                </a:solidFill>
                <a:latin typeface="Microsoft YaHei"/>
                <a:ea typeface="Microsoft YaHei"/>
                <a:cs typeface="Microsoft YaHei"/>
              </a:rPr>
              <a:t> → revision +1 → </a:t>
            </a:r>
            <a:r>
              <a:rPr sz="900" b="1" dirty="0" err="1">
                <a:solidFill>
                  <a:srgbClr val="1F6F8B"/>
                </a:solidFill>
                <a:latin typeface="Microsoft YaHei"/>
                <a:ea typeface="Microsoft YaHei"/>
                <a:cs typeface="Microsoft YaHei"/>
              </a:rPr>
              <a:t>旧追溯</a:t>
            </a:r>
            <a:r>
              <a:rPr lang="zh-CN" altLang="en-US" sz="900" b="1" dirty="0">
                <a:solidFill>
                  <a:srgbClr val="1F6F8B"/>
                </a:solidFill>
                <a:latin typeface="Microsoft YaHei"/>
                <a:ea typeface="Microsoft YaHei"/>
                <a:cs typeface="Microsoft YaHei"/>
              </a:rPr>
              <a:t>自动作废</a:t>
            </a:r>
            <a:endParaRPr sz="900" b="1" dirty="0">
              <a:solidFill>
                <a:srgbClr val="1F6F8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2601042" y="4674809"/>
            <a:ext cx="2566693" cy="17210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900" dirty="0" err="1">
                <a:solidFill>
                  <a:srgbClr val="4A5464"/>
                </a:solidFill>
                <a:latin typeface="Microsoft YaHei"/>
                <a:ea typeface="Microsoft YaHei"/>
                <a:cs typeface="Microsoft YaHei"/>
              </a:rPr>
              <a:t>重跑按</a:t>
            </a:r>
            <a:r>
              <a:rPr sz="900" dirty="0">
                <a:solidFill>
                  <a:srgbClr val="4A5464"/>
                </a:solidFill>
                <a:latin typeface="Microsoft YaHei"/>
                <a:ea typeface="Microsoft YaHei"/>
                <a:cs typeface="Microsoft YaHei"/>
              </a:rPr>
              <a:t> fingerprint </a:t>
            </a:r>
            <a:r>
              <a:rPr sz="900" dirty="0" err="1">
                <a:solidFill>
                  <a:srgbClr val="4A5464"/>
                </a:solidFill>
                <a:latin typeface="Microsoft YaHei"/>
                <a:ea typeface="Microsoft YaHei"/>
                <a:cs typeface="Microsoft YaHei"/>
              </a:rPr>
              <a:t>upsert，accepted</a:t>
            </a:r>
            <a:r>
              <a:rPr sz="900" dirty="0">
                <a:solidFill>
                  <a:srgbClr val="4A5464"/>
                </a:solidFill>
                <a:latin typeface="Microsoft YaHei"/>
                <a:ea typeface="Microsoft YaHei"/>
                <a:cs typeface="Microsoft YaHei"/>
              </a:rPr>
              <a:t> / rejected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01042" y="4827336"/>
            <a:ext cx="1680458" cy="17210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900" dirty="0" err="1">
                <a:solidFill>
                  <a:srgbClr val="4A5464"/>
                </a:solidFill>
                <a:latin typeface="Microsoft YaHei"/>
                <a:ea typeface="Microsoft YaHei"/>
                <a:cs typeface="Microsoft YaHei"/>
              </a:rPr>
              <a:t>永不被覆盖；新旧结果合并</a:t>
            </a:r>
            <a:endParaRPr sz="900" dirty="0">
              <a:solidFill>
                <a:srgbClr val="4A546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601042" y="5056078"/>
            <a:ext cx="2668028" cy="17210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900" dirty="0">
                <a:solidFill>
                  <a:srgbClr val="4A5464"/>
                </a:solidFill>
                <a:latin typeface="Microsoft YaHei"/>
                <a:ea typeface="Microsoft YaHei"/>
                <a:cs typeface="Microsoft YaHei"/>
              </a:rPr>
              <a:t>「</a:t>
            </a:r>
            <a:r>
              <a:rPr sz="900" dirty="0" err="1">
                <a:solidFill>
                  <a:srgbClr val="4A5464"/>
                </a:solidFill>
                <a:latin typeface="Microsoft YaHei"/>
                <a:ea typeface="Microsoft YaHei"/>
                <a:cs typeface="Microsoft YaHei"/>
              </a:rPr>
              <a:t>重新生成」会先询问：保留历史</a:t>
            </a:r>
            <a:r>
              <a:rPr sz="900" dirty="0">
                <a:solidFill>
                  <a:srgbClr val="4A5464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900" dirty="0" err="1">
                <a:solidFill>
                  <a:srgbClr val="4A5464"/>
                </a:solidFill>
                <a:latin typeface="Microsoft YaHei"/>
                <a:ea typeface="Microsoft YaHei"/>
                <a:cs typeface="Microsoft YaHei"/>
              </a:rPr>
              <a:t>清空未复核候选</a:t>
            </a:r>
            <a:endParaRPr sz="900" dirty="0">
              <a:solidFill>
                <a:srgbClr val="4A546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6175286" y="1652059"/>
            <a:ext cx="5395049" cy="1944216"/>
          </a:xfrm>
          <a:prstGeom prst="roundRect">
            <a:avLst>
              <a:gd name="adj" fmla="val 3915"/>
            </a:avLst>
          </a:prstGeom>
          <a:solidFill>
            <a:srgbClr val="FFFFFF"/>
          </a:solidFill>
          <a:ln w="9525">
            <a:solidFill>
              <a:srgbClr val="DF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0" name="TextBox 49"/>
          <p:cNvSpPr txBox="1"/>
          <p:nvPr/>
        </p:nvSpPr>
        <p:spPr>
          <a:xfrm>
            <a:off x="6432479" y="1823473"/>
            <a:ext cx="1943454" cy="21730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050" b="1">
                <a:solidFill>
                  <a:srgbClr val="14181F"/>
                </a:solidFill>
                <a:latin typeface="Microsoft YaHei"/>
                <a:ea typeface="Microsoft YaHei"/>
                <a:cs typeface="Microsoft YaHei"/>
              </a:rPr>
              <a:t>一份关系图，两个查询方向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432479" y="2099839"/>
            <a:ext cx="1334584" cy="1124873"/>
          </a:xfrm>
          <a:prstGeom prst="roundRect">
            <a:avLst>
              <a:gd name="adj" fmla="val 5929"/>
            </a:avLst>
          </a:prstGeom>
          <a:solidFill>
            <a:srgbClr val="F0F7F9"/>
          </a:solidFill>
          <a:ln w="9525">
            <a:solidFill>
              <a:srgbClr val="B8D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2" name="TextBox 51"/>
          <p:cNvSpPr txBox="1"/>
          <p:nvPr/>
        </p:nvSpPr>
        <p:spPr>
          <a:xfrm>
            <a:off x="6494136" y="2178481"/>
            <a:ext cx="1211269" cy="19922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000" b="1">
                <a:solidFill>
                  <a:srgbClr val="1F6F8B"/>
                </a:solidFill>
                <a:latin typeface="Microsoft YaHei"/>
                <a:ea typeface="Microsoft YaHei"/>
                <a:cs typeface="Microsoft YaHei"/>
              </a:rPr>
              <a:t>PaperTarget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585005" y="2424018"/>
            <a:ext cx="1029531" cy="190587"/>
          </a:xfrm>
          <a:prstGeom prst="roundRect">
            <a:avLst>
              <a:gd name="adj" fmla="val 20019"/>
            </a:avLst>
          </a:prstGeom>
          <a:solidFill>
            <a:srgbClr val="FFFFFF"/>
          </a:solidFill>
          <a:ln w="9525">
            <a:solidFill>
              <a:srgbClr val="C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4" name="TextBox 53"/>
          <p:cNvSpPr txBox="1"/>
          <p:nvPr/>
        </p:nvSpPr>
        <p:spPr>
          <a:xfrm>
            <a:off x="6597089" y="2450137"/>
            <a:ext cx="1005364" cy="16306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900">
                <a:solidFill>
                  <a:srgbClr val="4A5464"/>
                </a:solidFill>
                <a:latin typeface="Microsoft YaHei"/>
                <a:ea typeface="Microsoft YaHei"/>
                <a:cs typeface="Microsoft YaHei"/>
              </a:rPr>
              <a:t>公式 L = …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585005" y="2671790"/>
            <a:ext cx="1029531" cy="190682"/>
          </a:xfrm>
          <a:prstGeom prst="roundRect">
            <a:avLst>
              <a:gd name="adj" fmla="val 20009"/>
            </a:avLst>
          </a:prstGeom>
          <a:solidFill>
            <a:srgbClr val="FFFFFF"/>
          </a:solidFill>
          <a:ln w="9525">
            <a:solidFill>
              <a:srgbClr val="C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6" name="TextBox 55"/>
          <p:cNvSpPr txBox="1"/>
          <p:nvPr/>
        </p:nvSpPr>
        <p:spPr>
          <a:xfrm>
            <a:off x="6549752" y="2698005"/>
            <a:ext cx="1100038" cy="16306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900">
                <a:solidFill>
                  <a:srgbClr val="4A5464"/>
                </a:solidFill>
                <a:latin typeface="Microsoft YaHei"/>
                <a:ea typeface="Microsoft YaHei"/>
                <a:cs typeface="Microsoft YaHei"/>
              </a:rPr>
              <a:t>算法 1 步骤 3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585005" y="2919659"/>
            <a:ext cx="1029531" cy="190682"/>
          </a:xfrm>
          <a:prstGeom prst="roundRect">
            <a:avLst>
              <a:gd name="adj" fmla="val 20009"/>
            </a:avLst>
          </a:prstGeom>
          <a:solidFill>
            <a:srgbClr val="FFFFFF"/>
          </a:solidFill>
          <a:ln w="9525">
            <a:solidFill>
              <a:srgbClr val="C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8" name="TextBox 57"/>
          <p:cNvSpPr txBox="1"/>
          <p:nvPr/>
        </p:nvSpPr>
        <p:spPr>
          <a:xfrm>
            <a:off x="6525060" y="2945872"/>
            <a:ext cx="1149421" cy="16306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900">
                <a:solidFill>
                  <a:srgbClr val="4A5464"/>
                </a:solidFill>
                <a:latin typeface="Microsoft YaHei"/>
                <a:ea typeface="Microsoft YaHei"/>
                <a:cs typeface="Microsoft YaHei"/>
              </a:rPr>
              <a:t>约束 α ∈ (0,1]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978558" y="2099839"/>
            <a:ext cx="1334584" cy="1124873"/>
          </a:xfrm>
          <a:prstGeom prst="roundRect">
            <a:avLst>
              <a:gd name="adj" fmla="val 5929"/>
            </a:avLst>
          </a:prstGeom>
          <a:solidFill>
            <a:srgbClr val="F5F2FC"/>
          </a:solidFill>
          <a:ln w="9525">
            <a:solidFill>
              <a:srgbClr val="CCC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0" name="TextBox 59"/>
          <p:cNvSpPr txBox="1"/>
          <p:nvPr/>
        </p:nvSpPr>
        <p:spPr>
          <a:xfrm>
            <a:off x="10056058" y="2178481"/>
            <a:ext cx="1179584" cy="19922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000" b="1">
                <a:solidFill>
                  <a:srgbClr val="7A5CC4"/>
                </a:solidFill>
                <a:latin typeface="Microsoft YaHei"/>
                <a:ea typeface="Microsoft YaHei"/>
                <a:cs typeface="Microsoft YaHei"/>
              </a:rPr>
              <a:t>CodeTarget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131085" y="2424018"/>
            <a:ext cx="1029531" cy="190587"/>
          </a:xfrm>
          <a:prstGeom prst="roundRect">
            <a:avLst>
              <a:gd name="adj" fmla="val 20019"/>
            </a:avLst>
          </a:prstGeom>
          <a:solidFill>
            <a:srgbClr val="FFFFFF"/>
          </a:solidFill>
          <a:ln w="9525">
            <a:solidFill>
              <a:srgbClr val="D8CE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2" name="TextBox 61"/>
          <p:cNvSpPr txBox="1"/>
          <p:nvPr/>
        </p:nvSpPr>
        <p:spPr>
          <a:xfrm>
            <a:off x="10044688" y="2450137"/>
            <a:ext cx="1202325" cy="16306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900">
                <a:solidFill>
                  <a:srgbClr val="4A5464"/>
                </a:solidFill>
                <a:latin typeface="Microsoft YaHei"/>
                <a:ea typeface="Microsoft YaHei"/>
                <a:cs typeface="Microsoft YaHei"/>
              </a:rPr>
              <a:t>losses.py:42-58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0131085" y="2671790"/>
            <a:ext cx="1029531" cy="190682"/>
          </a:xfrm>
          <a:prstGeom prst="roundRect">
            <a:avLst>
              <a:gd name="adj" fmla="val 20009"/>
            </a:avLst>
          </a:prstGeom>
          <a:solidFill>
            <a:srgbClr val="FFFFFF"/>
          </a:solidFill>
          <a:ln w="9525">
            <a:solidFill>
              <a:srgbClr val="D8CE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4" name="TextBox 63"/>
          <p:cNvSpPr txBox="1"/>
          <p:nvPr/>
        </p:nvSpPr>
        <p:spPr>
          <a:xfrm>
            <a:off x="10080322" y="2698005"/>
            <a:ext cx="1131058" cy="16306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900">
                <a:solidFill>
                  <a:srgbClr val="4A5464"/>
                </a:solidFill>
                <a:latin typeface="Microsoft YaHei"/>
                <a:ea typeface="Microsoft YaHei"/>
                <a:cs typeface="Microsoft YaHei"/>
              </a:rPr>
              <a:t>model.py:120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0131085" y="2919659"/>
            <a:ext cx="1029531" cy="190682"/>
          </a:xfrm>
          <a:prstGeom prst="roundRect">
            <a:avLst>
              <a:gd name="adj" fmla="val 20009"/>
            </a:avLst>
          </a:prstGeom>
          <a:solidFill>
            <a:srgbClr val="FFFFFF"/>
          </a:solidFill>
          <a:ln w="9525">
            <a:solidFill>
              <a:srgbClr val="D8CE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6" name="TextBox 65"/>
          <p:cNvSpPr txBox="1"/>
          <p:nvPr/>
        </p:nvSpPr>
        <p:spPr>
          <a:xfrm>
            <a:off x="10084413" y="2945872"/>
            <a:ext cx="1122874" cy="16306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900">
                <a:solidFill>
                  <a:srgbClr val="4A5464"/>
                </a:solidFill>
                <a:latin typeface="Microsoft YaHei"/>
                <a:ea typeface="Microsoft YaHei"/>
                <a:cs typeface="Microsoft YaHei"/>
              </a:rPr>
              <a:t>config.yaml:8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767063" y="2519264"/>
            <a:ext cx="2211495" cy="10"/>
          </a:xfrm>
          <a:custGeom>
            <a:avLst/>
            <a:gdLst/>
            <a:ahLst/>
            <a:cxnLst/>
            <a:rect l="0" t="0" r="r" b="b"/>
            <a:pathLst>
              <a:path w="2213801" h="10" fill="none">
                <a:moveTo>
                  <a:pt x="0" y="0"/>
                </a:moveTo>
                <a:lnTo>
                  <a:pt x="2213801" y="0"/>
                </a:lnTo>
              </a:path>
            </a:pathLst>
          </a:custGeom>
          <a:noFill/>
          <a:ln w="13335">
            <a:solidFill>
              <a:srgbClr val="7A5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8" name="Rectangle 67"/>
          <p:cNvSpPr/>
          <p:nvPr/>
        </p:nvSpPr>
        <p:spPr>
          <a:xfrm>
            <a:off x="7767063" y="2347706"/>
            <a:ext cx="2211495" cy="419425"/>
          </a:xfrm>
          <a:custGeom>
            <a:avLst/>
            <a:gdLst/>
            <a:ahLst/>
            <a:cxnLst/>
            <a:rect l="0" t="0" r="r" b="b"/>
            <a:pathLst>
              <a:path w="2213801" h="419862" fill="none">
                <a:moveTo>
                  <a:pt x="0" y="171736"/>
                </a:moveTo>
                <a:quadBezTo>
                  <a:pt x="1106900" y="0"/>
                  <a:pt x="2213801" y="419862"/>
                </a:quadBezTo>
              </a:path>
            </a:pathLst>
          </a:custGeom>
          <a:noFill/>
          <a:ln w="13335">
            <a:solidFill>
              <a:srgbClr val="7A5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9" name="Rectangle 68"/>
          <p:cNvSpPr/>
          <p:nvPr/>
        </p:nvSpPr>
        <p:spPr>
          <a:xfrm>
            <a:off x="7767063" y="2767131"/>
            <a:ext cx="2211495" cy="247868"/>
          </a:xfrm>
          <a:custGeom>
            <a:avLst/>
            <a:gdLst/>
            <a:ahLst/>
            <a:cxnLst/>
            <a:rect l="0" t="0" r="r" b="b"/>
            <a:pathLst>
              <a:path w="2213801" h="248126" fill="none">
                <a:moveTo>
                  <a:pt x="0" y="0"/>
                </a:moveTo>
                <a:lnTo>
                  <a:pt x="2213801" y="248126"/>
                </a:lnTo>
              </a:path>
            </a:pathLst>
          </a:custGeom>
          <a:noFill/>
          <a:ln w="13335">
            <a:solidFill>
              <a:srgbClr val="1F6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0" name="Rectangle 69"/>
          <p:cNvSpPr/>
          <p:nvPr/>
        </p:nvSpPr>
        <p:spPr>
          <a:xfrm>
            <a:off x="7767063" y="3014999"/>
            <a:ext cx="2211495" cy="143012"/>
          </a:xfrm>
          <a:custGeom>
            <a:avLst/>
            <a:gdLst/>
            <a:ahLst/>
            <a:cxnLst/>
            <a:rect l="0" t="0" r="r" b="b"/>
            <a:pathLst>
              <a:path w="2213801" h="143161" fill="none">
                <a:moveTo>
                  <a:pt x="0" y="0"/>
                </a:moveTo>
                <a:quadBezTo>
                  <a:pt x="1106900" y="143161"/>
                  <a:pt x="2213801" y="0"/>
                </a:quadBezTo>
              </a:path>
            </a:pathLst>
          </a:custGeom>
          <a:noFill/>
          <a:ln w="13335">
            <a:solidFill>
              <a:srgbClr val="1F8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1" name="Rounded Rectangle 70"/>
          <p:cNvSpPr/>
          <p:nvPr/>
        </p:nvSpPr>
        <p:spPr>
          <a:xfrm>
            <a:off x="8205518" y="2099840"/>
            <a:ext cx="1334584" cy="19068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F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2" name="TextBox 71"/>
          <p:cNvSpPr txBox="1"/>
          <p:nvPr/>
        </p:nvSpPr>
        <p:spPr>
          <a:xfrm>
            <a:off x="8156183" y="2120106"/>
            <a:ext cx="1433256" cy="17210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900">
                <a:solidFill>
                  <a:srgbClr val="4A5464"/>
                </a:solidFill>
                <a:latin typeface="Microsoft YaHei"/>
                <a:ea typeface="Microsoft YaHei"/>
                <a:cs typeface="Microsoft YaHei"/>
              </a:rPr>
              <a:t>TraceLink（原子边）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520670" y="3302164"/>
            <a:ext cx="2704280" cy="17210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900">
                <a:solidFill>
                  <a:srgbClr val="8B95A5"/>
                </a:solidFill>
                <a:latin typeface="Microsoft YaHei"/>
                <a:ea typeface="Microsoft YaHei"/>
                <a:cs typeface="Microsoft YaHei"/>
              </a:rPr>
              <a:t>一对多 / 多对一 均由多条原子边表达，不引入复合边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175286" y="3719971"/>
            <a:ext cx="5395049" cy="2224150"/>
          </a:xfrm>
          <a:prstGeom prst="roundRect">
            <a:avLst>
              <a:gd name="adj" fmla="val 3422"/>
            </a:avLst>
          </a:prstGeom>
          <a:solidFill>
            <a:srgbClr val="FFFFFF"/>
          </a:solidFill>
          <a:ln w="9525">
            <a:solidFill>
              <a:srgbClr val="DF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5" name="TextBox 74"/>
          <p:cNvSpPr txBox="1"/>
          <p:nvPr/>
        </p:nvSpPr>
        <p:spPr>
          <a:xfrm>
            <a:off x="6346558" y="3881728"/>
            <a:ext cx="5052506" cy="2093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ts val="1405"/>
              </a:lnSpc>
            </a:pPr>
            <a:r>
              <a:rPr sz="1400" b="1">
                <a:solidFill>
                  <a:srgbClr val="14181F"/>
                </a:solidFill>
                <a:latin typeface="Hiragino Sans GB W6"/>
                <a:ea typeface="Hiragino Sans GB W6"/>
                <a:cs typeface="Hiragino Sans GB W6"/>
              </a:rPr>
              <a:t>工作台配色约定（三层独立、可叠加）</a:t>
            </a:r>
          </a:p>
        </p:txBody>
      </p:sp>
      <p:graphicFrame>
        <p:nvGraphicFramePr>
          <p:cNvPr id="76" name="Table 75"/>
          <p:cNvGraphicFramePr>
            <a:graphicFrameLocks noGrp="1"/>
          </p:cNvGraphicFramePr>
          <p:nvPr/>
        </p:nvGraphicFramePr>
        <p:xfrm>
          <a:off x="6346557" y="4157665"/>
          <a:ext cx="5042991" cy="16151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145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84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1134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0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1F6F8B"/>
                          </a:solidFill>
                          <a:latin typeface="Hiragino Sans GB W6"/>
                          <a:ea typeface="Hiragino Sans GB W6"/>
                          <a:cs typeface="Hiragino Sans GB W6"/>
                        </a:rPr>
                        <a:t>■</a:t>
                      </a:r>
                      <a:r>
                        <a:rPr sz="900" b="1" i="0">
                          <a:solidFill>
                            <a:srgbClr val="14181F"/>
                          </a:solidFill>
                          <a:latin typeface="Hiragino Sans GB W6"/>
                          <a:ea typeface="Hiragino Sans GB W6"/>
                          <a:cs typeface="Hiragino Sans GB W6"/>
                        </a:rPr>
                        <a:t> 蓝</a:t>
                      </a:r>
                    </a:p>
                  </a:txBody>
                  <a:tcPr marL="95151" marR="95151" marT="0" marB="0" anchor="ctr">
                    <a:lnL w="9525" cap="flat" cmpd="sng" algn="ctr">
                      <a:solidFill>
                        <a:srgbClr val="DFE4EC"/>
                      </a:solidFill>
                    </a:lnL>
                    <a:lnR w="9525" cap="flat" cmpd="sng" algn="ctr">
                      <a:solidFill>
                        <a:srgbClr val="DFE4EC"/>
                      </a:solidFill>
                    </a:lnR>
                    <a:lnT w="9525" cap="flat" cmpd="sng" algn="ctr">
                      <a:solidFill>
                        <a:srgbClr val="DFE4EC"/>
                      </a:solidFill>
                    </a:lnT>
                    <a:lnB w="9525" cap="flat" cmpd="sng" algn="ctr">
                      <a:solidFill>
                        <a:srgbClr val="DFE4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0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4A5464"/>
                          </a:solidFill>
                          <a:latin typeface="Hiragino Sans GB W6"/>
                          <a:ea typeface="Hiragino Sans GB W6"/>
                          <a:cs typeface="Hiragino Sans GB W6"/>
                        </a:rPr>
                        <a:t>proposed：Agent 生成，未审阅</a:t>
                      </a:r>
                    </a:p>
                  </a:txBody>
                  <a:tcPr marL="95151" marR="95151" marT="0" marB="0" anchor="ctr">
                    <a:lnL w="9525" cap="flat" cmpd="sng" algn="ctr">
                      <a:solidFill>
                        <a:srgbClr val="DFE4EC"/>
                      </a:solidFill>
                    </a:lnL>
                    <a:lnR w="9525" cap="flat" cmpd="sng" algn="ctr">
                      <a:solidFill>
                        <a:srgbClr val="DFE4EC"/>
                      </a:solidFill>
                    </a:lnR>
                    <a:lnT w="9525" cap="flat" cmpd="sng" algn="ctr">
                      <a:solidFill>
                        <a:srgbClr val="DFE4EC"/>
                      </a:solidFill>
                    </a:lnT>
                    <a:lnB w="9525" cap="flat" cmpd="sng" algn="ctr">
                      <a:solidFill>
                        <a:srgbClr val="DFE4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134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0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1F8F78"/>
                          </a:solidFill>
                          <a:latin typeface="Hiragino Sans GB W6"/>
                          <a:ea typeface="Hiragino Sans GB W6"/>
                          <a:cs typeface="Hiragino Sans GB W6"/>
                        </a:rPr>
                        <a:t>■</a:t>
                      </a:r>
                      <a:r>
                        <a:rPr sz="900" b="1" i="0">
                          <a:solidFill>
                            <a:srgbClr val="14181F"/>
                          </a:solidFill>
                          <a:latin typeface="Hiragino Sans GB W6"/>
                          <a:ea typeface="Hiragino Sans GB W6"/>
                          <a:cs typeface="Hiragino Sans GB W6"/>
                        </a:rPr>
                        <a:t> 绿</a:t>
                      </a:r>
                    </a:p>
                  </a:txBody>
                  <a:tcPr marL="95151" marR="95151" marT="0" marB="0" anchor="ctr">
                    <a:lnL w="9525" cap="flat" cmpd="sng" algn="ctr">
                      <a:solidFill>
                        <a:srgbClr val="DFE4EC"/>
                      </a:solidFill>
                    </a:lnL>
                    <a:lnR w="9525" cap="flat" cmpd="sng" algn="ctr">
                      <a:solidFill>
                        <a:srgbClr val="DFE4EC"/>
                      </a:solidFill>
                    </a:lnR>
                    <a:lnT w="9525" cap="flat" cmpd="sng" algn="ctr">
                      <a:solidFill>
                        <a:srgbClr val="DFE4EC"/>
                      </a:solidFill>
                    </a:lnT>
                    <a:lnB w="9525" cap="flat" cmpd="sng" algn="ctr">
                      <a:solidFill>
                        <a:srgbClr val="DFE4EC"/>
                      </a:solidFill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0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4A5464"/>
                          </a:solidFill>
                          <a:latin typeface="Hiragino Sans GB W6"/>
                          <a:ea typeface="Hiragino Sans GB W6"/>
                          <a:cs typeface="Hiragino Sans GB W6"/>
                        </a:rPr>
                        <a:t>accepted：已人工确认</a:t>
                      </a:r>
                    </a:p>
                  </a:txBody>
                  <a:tcPr marL="95151" marR="95151" marT="0" marB="0" anchor="ctr">
                    <a:lnL w="9525" cap="flat" cmpd="sng" algn="ctr">
                      <a:solidFill>
                        <a:srgbClr val="DFE4EC"/>
                      </a:solidFill>
                    </a:lnL>
                    <a:lnR w="9525" cap="flat" cmpd="sng" algn="ctr">
                      <a:solidFill>
                        <a:srgbClr val="DFE4EC"/>
                      </a:solidFill>
                    </a:lnR>
                    <a:lnT w="9525" cap="flat" cmpd="sng" algn="ctr">
                      <a:solidFill>
                        <a:srgbClr val="DFE4EC"/>
                      </a:solidFill>
                    </a:lnT>
                    <a:lnB w="9525" cap="flat" cmpd="sng" algn="ctr">
                      <a:solidFill>
                        <a:srgbClr val="DFE4EC"/>
                      </a:solidFill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891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0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7A5CC4"/>
                          </a:solidFill>
                          <a:latin typeface="Hiragino Sans GB W6"/>
                          <a:ea typeface="Hiragino Sans GB W6"/>
                          <a:cs typeface="Hiragino Sans GB W6"/>
                        </a:rPr>
                        <a:t>■</a:t>
                      </a:r>
                      <a:r>
                        <a:rPr sz="900" b="1" i="0">
                          <a:solidFill>
                            <a:srgbClr val="14181F"/>
                          </a:solidFill>
                          <a:latin typeface="Hiragino Sans GB W6"/>
                          <a:ea typeface="Hiragino Sans GB W6"/>
                          <a:cs typeface="Hiragino Sans GB W6"/>
                        </a:rPr>
                        <a:t> 紫 </a:t>
                      </a:r>
                      <a:r>
                        <a:rPr sz="900" b="1" i="0">
                          <a:solidFill>
                            <a:srgbClr val="14181F"/>
                          </a:solidFill>
                          <a:latin typeface="Consolas"/>
                          <a:ea typeface="NSimSun"/>
                          <a:cs typeface="NSimSun"/>
                        </a:rPr>
                        <a:t>×N</a:t>
                      </a:r>
                    </a:p>
                  </a:txBody>
                  <a:tcPr marL="95151" marR="95151" marT="0" marB="0" anchor="ctr">
                    <a:lnL w="9525" cap="flat" cmpd="sng" algn="ctr">
                      <a:solidFill>
                        <a:srgbClr val="DFE4EC"/>
                      </a:solidFill>
                    </a:lnL>
                    <a:lnR w="9525" cap="flat" cmpd="sng" algn="ctr">
                      <a:solidFill>
                        <a:srgbClr val="DFE4EC"/>
                      </a:solidFill>
                    </a:lnR>
                    <a:lnT w="9525" cap="flat" cmpd="sng" algn="ctr">
                      <a:solidFill>
                        <a:srgbClr val="DFE4EC"/>
                      </a:solidFill>
                    </a:lnT>
                    <a:lnB w="9525" cap="flat" cmpd="sng" algn="ctr">
                      <a:solidFill>
                        <a:srgbClr val="DFE4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0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4A5464"/>
                          </a:solidFill>
                          <a:latin typeface="Hiragino Sans GB W6"/>
                          <a:ea typeface="Hiragino Sans GB W6"/>
                          <a:cs typeface="Hiragino Sans GB W6"/>
                        </a:rPr>
                        <a:t>一对多：一个论文目标对应 N 处代码</a:t>
                      </a:r>
                    </a:p>
                  </a:txBody>
                  <a:tcPr marL="95151" marR="95151" marT="0" marB="0" anchor="ctr">
                    <a:lnL w="9525" cap="flat" cmpd="sng" algn="ctr">
                      <a:solidFill>
                        <a:srgbClr val="DFE4EC"/>
                      </a:solidFill>
                    </a:lnL>
                    <a:lnR w="9525" cap="flat" cmpd="sng" algn="ctr">
                      <a:solidFill>
                        <a:srgbClr val="DFE4EC"/>
                      </a:solidFill>
                    </a:lnR>
                    <a:lnT w="9525" cap="flat" cmpd="sng" algn="ctr">
                      <a:solidFill>
                        <a:srgbClr val="DFE4EC"/>
                      </a:solidFill>
                    </a:lnT>
                    <a:lnB w="9525" cap="flat" cmpd="sng" algn="ctr">
                      <a:solidFill>
                        <a:srgbClr val="DFE4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891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0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0E9AA7"/>
                          </a:solidFill>
                          <a:latin typeface="Hiragino Sans GB W6"/>
                          <a:ea typeface="Hiragino Sans GB W6"/>
                          <a:cs typeface="Hiragino Sans GB W6"/>
                        </a:rPr>
                        <a:t>■</a:t>
                      </a:r>
                      <a:r>
                        <a:rPr sz="900" b="1" i="0">
                          <a:solidFill>
                            <a:srgbClr val="14181F"/>
                          </a:solidFill>
                          <a:latin typeface="Hiragino Sans GB W6"/>
                          <a:ea typeface="Hiragino Sans GB W6"/>
                          <a:cs typeface="Hiragino Sans GB W6"/>
                        </a:rPr>
                        <a:t> 青 </a:t>
                      </a:r>
                      <a:r>
                        <a:rPr sz="900" b="1" i="0">
                          <a:solidFill>
                            <a:srgbClr val="14181F"/>
                          </a:solidFill>
                          <a:latin typeface="Consolas"/>
                          <a:ea typeface="NSimSun"/>
                          <a:cs typeface="NSimSun"/>
                        </a:rPr>
                        <a:t>×N</a:t>
                      </a:r>
                    </a:p>
                  </a:txBody>
                  <a:tcPr marL="95151" marR="95151" marT="0" marB="0" anchor="ctr">
                    <a:lnL w="9525" cap="flat" cmpd="sng" algn="ctr">
                      <a:solidFill>
                        <a:srgbClr val="DFE4EC"/>
                      </a:solidFill>
                    </a:lnL>
                    <a:lnR w="9525" cap="flat" cmpd="sng" algn="ctr">
                      <a:solidFill>
                        <a:srgbClr val="DFE4EC"/>
                      </a:solidFill>
                    </a:lnR>
                    <a:lnT w="9525" cap="flat" cmpd="sng" algn="ctr">
                      <a:solidFill>
                        <a:srgbClr val="DFE4EC"/>
                      </a:solidFill>
                    </a:lnT>
                    <a:lnB w="9525" cap="flat" cmpd="sng" algn="ctr">
                      <a:solidFill>
                        <a:srgbClr val="DFE4EC"/>
                      </a:solidFill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0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4A5464"/>
                          </a:solidFill>
                          <a:latin typeface="Hiragino Sans GB W6"/>
                          <a:ea typeface="Hiragino Sans GB W6"/>
                          <a:cs typeface="Hiragino Sans GB W6"/>
                        </a:rPr>
                        <a:t>多对一：N 个论文目标对应同一处代码</a:t>
                      </a:r>
                    </a:p>
                  </a:txBody>
                  <a:tcPr marL="95151" marR="95151" marT="0" marB="0" anchor="ctr">
                    <a:lnL w="9525" cap="flat" cmpd="sng" algn="ctr">
                      <a:solidFill>
                        <a:srgbClr val="DFE4EC"/>
                      </a:solidFill>
                    </a:lnL>
                    <a:lnR w="9525" cap="flat" cmpd="sng" algn="ctr">
                      <a:solidFill>
                        <a:srgbClr val="DFE4EC"/>
                      </a:solidFill>
                    </a:lnR>
                    <a:lnT w="9525" cap="flat" cmpd="sng" algn="ctr">
                      <a:solidFill>
                        <a:srgbClr val="DFE4EC"/>
                      </a:solidFill>
                    </a:lnT>
                    <a:lnB w="9525" cap="flat" cmpd="sng" algn="ctr">
                      <a:solidFill>
                        <a:srgbClr val="DFE4EC"/>
                      </a:solidFill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1134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0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D99B06"/>
                          </a:solidFill>
                          <a:latin typeface="Hiragino Sans GB W6"/>
                          <a:ea typeface="Hiragino Sans GB W6"/>
                          <a:cs typeface="Hiragino Sans GB W6"/>
                        </a:rPr>
                        <a:t>■</a:t>
                      </a:r>
                      <a:r>
                        <a:rPr sz="900" b="1" i="0">
                          <a:solidFill>
                            <a:srgbClr val="14181F"/>
                          </a:solidFill>
                          <a:latin typeface="Hiragino Sans GB W6"/>
                          <a:ea typeface="Hiragino Sans GB W6"/>
                          <a:cs typeface="Hiragino Sans GB W6"/>
                        </a:rPr>
                        <a:t> 黄</a:t>
                      </a:r>
                    </a:p>
                  </a:txBody>
                  <a:tcPr marL="95151" marR="95151" marT="0" marB="0" anchor="ctr">
                    <a:lnL w="9525" cap="flat" cmpd="sng" algn="ctr">
                      <a:solidFill>
                        <a:srgbClr val="DFE4EC"/>
                      </a:solidFill>
                    </a:lnL>
                    <a:lnR w="9525" cap="flat" cmpd="sng" algn="ctr">
                      <a:solidFill>
                        <a:srgbClr val="DFE4EC"/>
                      </a:solidFill>
                    </a:lnR>
                    <a:lnT w="9525" cap="flat" cmpd="sng" algn="ctr">
                      <a:solidFill>
                        <a:srgbClr val="DFE4EC"/>
                      </a:solidFill>
                    </a:lnT>
                    <a:lnB w="9525" cap="flat" cmpd="sng" algn="ctr">
                      <a:solidFill>
                        <a:srgbClr val="DFE4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0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4A5464"/>
                          </a:solidFill>
                          <a:latin typeface="Hiragino Sans GB W6"/>
                          <a:ea typeface="Hiragino Sans GB W6"/>
                          <a:cs typeface="Hiragino Sans GB W6"/>
                        </a:rPr>
                        <a:t>当前选中（实底）/ 悬停预览（浅底）</a:t>
                      </a:r>
                    </a:p>
                  </a:txBody>
                  <a:tcPr marL="95151" marR="95151" marT="0" marB="0" anchor="ctr">
                    <a:lnL w="9525" cap="flat" cmpd="sng" algn="ctr">
                      <a:solidFill>
                        <a:srgbClr val="DFE4EC"/>
                      </a:solidFill>
                    </a:lnL>
                    <a:lnR w="9525" cap="flat" cmpd="sng" algn="ctr">
                      <a:solidFill>
                        <a:srgbClr val="DFE4EC"/>
                      </a:solidFill>
                    </a:lnR>
                    <a:lnT w="9525" cap="flat" cmpd="sng" algn="ctr">
                      <a:solidFill>
                        <a:srgbClr val="DFE4EC"/>
                      </a:solidFill>
                    </a:lnT>
                    <a:lnB w="9525" cap="flat" cmpd="sng" algn="ctr">
                      <a:solidFill>
                        <a:srgbClr val="DFE4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7" name="TextBox 76"/>
          <p:cNvSpPr txBox="1"/>
          <p:nvPr/>
        </p:nvSpPr>
        <p:spPr>
          <a:xfrm>
            <a:off x="11146629" y="6473825"/>
            <a:ext cx="747231" cy="1826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124"/>
              </a:lnSpc>
            </a:pPr>
            <a:r>
              <a:rPr sz="899" spc="54">
                <a:solidFill>
                  <a:srgbClr val="8B95A5"/>
                </a:solidFill>
                <a:latin typeface="Hiragino Sans GB W6"/>
                <a:ea typeface="Hiragino Sans GB W6"/>
                <a:cs typeface="Hiragino Sans GB W6"/>
              </a:rPr>
              <a:t>11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Rectangle 1"/>
          <p:cNvSpPr/>
          <p:nvPr/>
        </p:nvSpPr>
        <p:spPr>
          <a:xfrm>
            <a:off x="-1" y="0"/>
            <a:ext cx="12191972" cy="6858000"/>
          </a:xfrm>
          <a:prstGeom prst="rect">
            <a:avLst/>
          </a:prstGeom>
          <a:solidFill>
            <a:srgbClr val="14262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50" name="TextBox 2"/>
          <p:cNvSpPr txBox="1"/>
          <p:nvPr/>
        </p:nvSpPr>
        <p:spPr>
          <a:xfrm>
            <a:off x="566927" y="1783079"/>
            <a:ext cx="3657601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6200">
                <a:solidFill>
                  <a:srgbClr val="2C4450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t>02</a:t>
            </a:r>
          </a:p>
        </p:txBody>
      </p:sp>
      <p:sp>
        <p:nvSpPr>
          <p:cNvPr id="451" name="TextBox 3"/>
          <p:cNvSpPr txBox="1"/>
          <p:nvPr/>
        </p:nvSpPr>
        <p:spPr>
          <a:xfrm>
            <a:off x="566927" y="2743200"/>
            <a:ext cx="9144001" cy="635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36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b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置信度计算公式设计</a:t>
            </a:r>
          </a:p>
        </p:txBody>
      </p:sp>
      <p:sp>
        <p:nvSpPr>
          <p:cNvPr id="452" name="TextBox 14"/>
          <p:cNvSpPr txBox="1"/>
          <p:nvPr/>
        </p:nvSpPr>
        <p:spPr>
          <a:xfrm>
            <a:off x="11231850" y="6473952"/>
            <a:ext cx="4572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900">
                <a:solidFill>
                  <a:srgbClr val="4C748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lvl1pPr>
          </a:lstStyle>
          <a:p>
            <a:r>
              <a:t>12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Rectangle 2"/>
          <p:cNvSpPr/>
          <p:nvPr/>
        </p:nvSpPr>
        <p:spPr>
          <a:xfrm>
            <a:off x="-1" y="0"/>
            <a:ext cx="56695" cy="6858000"/>
          </a:xfrm>
          <a:prstGeom prst="rect">
            <a:avLst/>
          </a:prstGeom>
          <a:solidFill>
            <a:srgbClr val="1F6F8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56" name="TextBox 3"/>
          <p:cNvSpPr txBox="1"/>
          <p:nvPr/>
        </p:nvSpPr>
        <p:spPr>
          <a:xfrm>
            <a:off x="566927" y="384047"/>
            <a:ext cx="1105811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1F6F8B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t>FORMULA</a:t>
            </a:r>
          </a:p>
        </p:txBody>
      </p:sp>
      <p:sp>
        <p:nvSpPr>
          <p:cNvPr id="457" name="TextBox 4"/>
          <p:cNvSpPr txBox="1"/>
          <p:nvPr/>
        </p:nvSpPr>
        <p:spPr>
          <a:xfrm>
            <a:off x="560592" y="602533"/>
            <a:ext cx="11058116" cy="384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2500">
                <a:solidFill>
                  <a:srgbClr val="14181F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b="1" dirty="0" err="1"/>
              <a:t>加权</a:t>
            </a:r>
            <a:r>
              <a:rPr b="1" dirty="0" err="1">
                <a:latin typeface="+mj-lt"/>
                <a:ea typeface="+mj-ea"/>
                <a:cs typeface="+mj-cs"/>
                <a:sym typeface="Helvetica"/>
              </a:rPr>
              <a:t>置信度公式</a:t>
            </a:r>
            <a:endParaRPr b="1"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459" name="TextBox 6"/>
          <p:cNvSpPr txBox="1"/>
          <p:nvPr/>
        </p:nvSpPr>
        <p:spPr>
          <a:xfrm>
            <a:off x="11231850" y="6473952"/>
            <a:ext cx="4572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9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lvl1pPr>
          </a:lstStyle>
          <a:p>
            <a:r>
              <a:t>14</a:t>
            </a:r>
          </a:p>
        </p:txBody>
      </p:sp>
      <p:sp>
        <p:nvSpPr>
          <p:cNvPr id="460" name="Rounded Rectangle 7"/>
          <p:cNvSpPr/>
          <p:nvPr/>
        </p:nvSpPr>
        <p:spPr>
          <a:xfrm>
            <a:off x="566927" y="1416858"/>
            <a:ext cx="11058116" cy="910047"/>
          </a:xfrm>
          <a:prstGeom prst="roundRect">
            <a:avLst>
              <a:gd name="adj" fmla="val 5526"/>
            </a:avLst>
          </a:prstGeom>
          <a:solidFill>
            <a:srgbClr val="FFFFFF"/>
          </a:solidFill>
          <a:ln w="20320">
            <a:solidFill>
              <a:srgbClr val="1F6F8B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461" name="TextBox 8"/>
          <p:cNvSpPr txBox="1"/>
          <p:nvPr/>
        </p:nvSpPr>
        <p:spPr>
          <a:xfrm>
            <a:off x="566927" y="1527590"/>
            <a:ext cx="11058116" cy="6885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700">
                <a:solidFill>
                  <a:srgbClr val="14181F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2800" dirty="0"/>
              <a:t>confidence = clamp[0,1] ( Σ w</a:t>
            </a:r>
            <a:r>
              <a:rPr sz="2800" b="1" dirty="0">
                <a:latin typeface="+mj-lt"/>
                <a:ea typeface="+mj-ea"/>
                <a:cs typeface="+mj-cs"/>
                <a:sym typeface="Helvetica"/>
              </a:rPr>
              <a:t>ᵢ </a:t>
            </a:r>
            <a:r>
              <a:rPr sz="2800" dirty="0"/>
              <a:t>· d</a:t>
            </a:r>
            <a:r>
              <a:rPr sz="2800" b="1" dirty="0">
                <a:latin typeface="+mj-lt"/>
                <a:ea typeface="+mj-ea"/>
                <a:cs typeface="+mj-cs"/>
                <a:sym typeface="Helvetica"/>
              </a:rPr>
              <a:t>ᵢ  </a:t>
            </a:r>
            <a:r>
              <a:rPr sz="2800" dirty="0"/>
              <a:t>+  Σ pⱼ )</a:t>
            </a:r>
            <a:r>
              <a:rPr lang="zh-CN" altLang="en-US" sz="2800" dirty="0"/>
              <a:t> </a:t>
            </a:r>
            <a:endParaRPr lang="en-US" altLang="zh-CN" sz="2800" dirty="0"/>
          </a:p>
          <a:p>
            <a:pPr algn="ctr">
              <a:lnSpc>
                <a:spcPct val="114000"/>
              </a:lnSpc>
              <a:defRPr sz="9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en-US" altLang="zh-CN" sz="1200" dirty="0"/>
              <a:t>d</a:t>
            </a:r>
            <a:r>
              <a:rPr lang="en-US" altLang="zh-CN" sz="1200" dirty="0">
                <a:latin typeface="+mj-lt"/>
                <a:ea typeface="+mj-ea"/>
                <a:cs typeface="+mj-cs"/>
                <a:sym typeface="Helvetica"/>
              </a:rPr>
              <a:t>ᵢ </a:t>
            </a:r>
            <a:r>
              <a:rPr lang="zh-CN" altLang="en-US" sz="1200" dirty="0"/>
              <a:t>∈ </a:t>
            </a:r>
            <a:r>
              <a:rPr lang="en-US" altLang="zh-CN" sz="1200" dirty="0"/>
              <a:t>[0,1] </a:t>
            </a:r>
            <a:r>
              <a:rPr lang="zh-CN" altLang="en-US" sz="1200" dirty="0">
                <a:latin typeface="+mj-lt"/>
                <a:ea typeface="+mj-ea"/>
                <a:cs typeface="+mj-cs"/>
                <a:sym typeface="Helvetica"/>
              </a:rPr>
              <a:t>六个维度得分 </a:t>
            </a:r>
            <a:r>
              <a:rPr lang="en-US" altLang="zh-CN" sz="1200" dirty="0"/>
              <a:t>· w</a:t>
            </a:r>
            <a:r>
              <a:rPr lang="en-US" altLang="zh-CN" sz="1200" dirty="0">
                <a:latin typeface="+mj-lt"/>
                <a:ea typeface="+mj-ea"/>
                <a:cs typeface="+mj-cs"/>
                <a:sym typeface="Helvetica"/>
              </a:rPr>
              <a:t>ᵢ </a:t>
            </a:r>
            <a:r>
              <a:rPr lang="zh-CN" altLang="en-US" sz="1200" dirty="0">
                <a:latin typeface="+mj-lt"/>
                <a:ea typeface="+mj-ea"/>
                <a:cs typeface="+mj-cs"/>
                <a:sym typeface="Helvetica"/>
              </a:rPr>
              <a:t>固定权重且 </a:t>
            </a:r>
            <a:r>
              <a:rPr lang="en-US" altLang="zh-CN" sz="1200" dirty="0" err="1"/>
              <a:t>Σw</a:t>
            </a:r>
            <a:r>
              <a:rPr lang="en-US" altLang="zh-CN" sz="1200" dirty="0">
                <a:latin typeface="+mj-lt"/>
                <a:ea typeface="+mj-ea"/>
                <a:cs typeface="+mj-cs"/>
                <a:sym typeface="Helvetica"/>
              </a:rPr>
              <a:t>ᵢ </a:t>
            </a:r>
            <a:r>
              <a:rPr lang="en-US" altLang="zh-CN" sz="1200" dirty="0"/>
              <a:t>= 1.00 · pⱼ </a:t>
            </a:r>
            <a:r>
              <a:rPr lang="zh-CN" altLang="en-US" sz="1200" dirty="0">
                <a:latin typeface="+mj-lt"/>
                <a:ea typeface="+mj-ea"/>
                <a:cs typeface="+mj-cs"/>
                <a:sym typeface="Helvetica"/>
              </a:rPr>
              <a:t>为去重后的减分项</a:t>
            </a:r>
          </a:p>
        </p:txBody>
      </p:sp>
      <p:sp>
        <p:nvSpPr>
          <p:cNvPr id="462" name="TextBox 9"/>
          <p:cNvSpPr txBox="1"/>
          <p:nvPr/>
        </p:nvSpPr>
        <p:spPr>
          <a:xfrm>
            <a:off x="566928" y="2693744"/>
            <a:ext cx="6766560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300">
                <a:solidFill>
                  <a:srgbClr val="14181F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600" b="1" dirty="0" err="1">
                <a:latin typeface="+mj-lt"/>
                <a:ea typeface="+mj-ea"/>
                <a:cs typeface="+mj-cs"/>
                <a:sym typeface="Helvetica"/>
              </a:rPr>
              <a:t>六个维度与权重（</a:t>
            </a:r>
            <a:r>
              <a:rPr sz="1600" dirty="0" err="1"/>
              <a:t>Σ</a:t>
            </a:r>
            <a:r>
              <a:rPr sz="1600" dirty="0"/>
              <a:t> = 1.00</a:t>
            </a:r>
            <a:r>
              <a:rPr sz="1600" b="1" dirty="0">
                <a:latin typeface="+mj-lt"/>
                <a:ea typeface="+mj-ea"/>
                <a:cs typeface="+mj-cs"/>
                <a:sym typeface="Helvetica"/>
              </a:rPr>
              <a:t>）</a:t>
            </a:r>
          </a:p>
        </p:txBody>
      </p:sp>
      <p:sp>
        <p:nvSpPr>
          <p:cNvPr id="463" name="TextBox 10"/>
          <p:cNvSpPr txBox="1"/>
          <p:nvPr/>
        </p:nvSpPr>
        <p:spPr>
          <a:xfrm>
            <a:off x="566927" y="3100871"/>
            <a:ext cx="2286001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14181F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rPr sz="1200" dirty="0" err="1"/>
              <a:t>causal_reachability</a:t>
            </a:r>
            <a:endParaRPr sz="1200" dirty="0"/>
          </a:p>
        </p:txBody>
      </p:sp>
      <p:sp>
        <p:nvSpPr>
          <p:cNvPr id="464" name="TextBox 11"/>
          <p:cNvSpPr txBox="1"/>
          <p:nvPr/>
        </p:nvSpPr>
        <p:spPr>
          <a:xfrm>
            <a:off x="2852927" y="3112844"/>
            <a:ext cx="2103122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8B95A5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100">
                <a:latin typeface="+mj-lt"/>
                <a:ea typeface="+mj-ea"/>
                <a:cs typeface="+mj-cs"/>
                <a:sym typeface="Helvetica"/>
              </a:rPr>
              <a:t>调用链是否读通</a:t>
            </a:r>
          </a:p>
        </p:txBody>
      </p:sp>
      <p:sp>
        <p:nvSpPr>
          <p:cNvPr id="465" name="Rounded Rectangle 12"/>
          <p:cNvSpPr/>
          <p:nvPr/>
        </p:nvSpPr>
        <p:spPr>
          <a:xfrm>
            <a:off x="5001767" y="3136794"/>
            <a:ext cx="1828801" cy="191589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800"/>
          </a:p>
        </p:txBody>
      </p:sp>
      <p:sp>
        <p:nvSpPr>
          <p:cNvPr id="466" name="Rounded Rectangle 13"/>
          <p:cNvSpPr/>
          <p:nvPr/>
        </p:nvSpPr>
        <p:spPr>
          <a:xfrm>
            <a:off x="5001767" y="3136794"/>
            <a:ext cx="1828801" cy="191589"/>
          </a:xfrm>
          <a:prstGeom prst="roundRect">
            <a:avLst>
              <a:gd name="adj" fmla="val 50000"/>
            </a:avLst>
          </a:prstGeom>
          <a:solidFill>
            <a:srgbClr val="1F6F8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800"/>
          </a:p>
        </p:txBody>
      </p:sp>
      <p:sp>
        <p:nvSpPr>
          <p:cNvPr id="467" name="TextBox 14"/>
          <p:cNvSpPr txBox="1"/>
          <p:nvPr/>
        </p:nvSpPr>
        <p:spPr>
          <a:xfrm>
            <a:off x="6922007" y="3100871"/>
            <a:ext cx="457201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1F6F8B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rPr sz="1200"/>
              <a:t>0.25</a:t>
            </a:r>
          </a:p>
        </p:txBody>
      </p:sp>
      <p:sp>
        <p:nvSpPr>
          <p:cNvPr id="468" name="TextBox 15"/>
          <p:cNvSpPr txBox="1"/>
          <p:nvPr/>
        </p:nvSpPr>
        <p:spPr>
          <a:xfrm>
            <a:off x="566927" y="3603790"/>
            <a:ext cx="2286001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14181F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rPr sz="1200"/>
              <a:t>change_directness</a:t>
            </a:r>
          </a:p>
        </p:txBody>
      </p:sp>
      <p:sp>
        <p:nvSpPr>
          <p:cNvPr id="469" name="TextBox 16"/>
          <p:cNvSpPr txBox="1"/>
          <p:nvPr/>
        </p:nvSpPr>
        <p:spPr>
          <a:xfrm>
            <a:off x="2852927" y="3615765"/>
            <a:ext cx="2103122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9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100">
                <a:latin typeface="+mj-lt"/>
                <a:ea typeface="+mj-ea"/>
                <a:cs typeface="+mj-cs"/>
                <a:sym typeface="Helvetica"/>
              </a:rPr>
              <a:t>论文</a:t>
            </a:r>
            <a:r>
              <a:rPr sz="1100"/>
              <a:t>→</a:t>
            </a:r>
            <a:r>
              <a:rPr sz="1100">
                <a:latin typeface="+mj-lt"/>
                <a:ea typeface="+mj-ea"/>
                <a:cs typeface="+mj-cs"/>
                <a:sym typeface="Helvetica"/>
              </a:rPr>
              <a:t>代码映射有多直接</a:t>
            </a:r>
          </a:p>
        </p:txBody>
      </p:sp>
      <p:sp>
        <p:nvSpPr>
          <p:cNvPr id="470" name="Rounded Rectangle 17"/>
          <p:cNvSpPr/>
          <p:nvPr/>
        </p:nvSpPr>
        <p:spPr>
          <a:xfrm>
            <a:off x="5001767" y="3639713"/>
            <a:ext cx="1828801" cy="191589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800"/>
          </a:p>
        </p:txBody>
      </p:sp>
      <p:sp>
        <p:nvSpPr>
          <p:cNvPr id="471" name="Rounded Rectangle 18"/>
          <p:cNvSpPr/>
          <p:nvPr/>
        </p:nvSpPr>
        <p:spPr>
          <a:xfrm>
            <a:off x="5001767" y="3639713"/>
            <a:ext cx="1463041" cy="191589"/>
          </a:xfrm>
          <a:prstGeom prst="roundRect">
            <a:avLst>
              <a:gd name="adj" fmla="val 50000"/>
            </a:avLst>
          </a:prstGeom>
          <a:solidFill>
            <a:srgbClr val="1F6F8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800"/>
          </a:p>
        </p:txBody>
      </p:sp>
      <p:sp>
        <p:nvSpPr>
          <p:cNvPr id="472" name="TextBox 19"/>
          <p:cNvSpPr txBox="1"/>
          <p:nvPr/>
        </p:nvSpPr>
        <p:spPr>
          <a:xfrm>
            <a:off x="6922007" y="3603790"/>
            <a:ext cx="457201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1F6F8B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rPr sz="1200"/>
              <a:t>0.20</a:t>
            </a:r>
          </a:p>
        </p:txBody>
      </p:sp>
      <p:sp>
        <p:nvSpPr>
          <p:cNvPr id="473" name="TextBox 20"/>
          <p:cNvSpPr txBox="1"/>
          <p:nvPr/>
        </p:nvSpPr>
        <p:spPr>
          <a:xfrm>
            <a:off x="566927" y="4106711"/>
            <a:ext cx="2286001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14181F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rPr sz="1200"/>
              <a:t>requirement_support</a:t>
            </a:r>
          </a:p>
        </p:txBody>
      </p:sp>
      <p:sp>
        <p:nvSpPr>
          <p:cNvPr id="474" name="TextBox 21"/>
          <p:cNvSpPr txBox="1"/>
          <p:nvPr/>
        </p:nvSpPr>
        <p:spPr>
          <a:xfrm>
            <a:off x="2852927" y="4118685"/>
            <a:ext cx="2103122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8B95A5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100">
                <a:latin typeface="+mj-lt"/>
                <a:ea typeface="+mj-ea"/>
                <a:cs typeface="+mj-cs"/>
                <a:sym typeface="Helvetica"/>
              </a:rPr>
              <a:t>论文是否明确要求</a:t>
            </a:r>
          </a:p>
        </p:txBody>
      </p:sp>
      <p:sp>
        <p:nvSpPr>
          <p:cNvPr id="475" name="Rounded Rectangle 22"/>
          <p:cNvSpPr/>
          <p:nvPr/>
        </p:nvSpPr>
        <p:spPr>
          <a:xfrm>
            <a:off x="5001767" y="4142634"/>
            <a:ext cx="1828801" cy="191589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800"/>
          </a:p>
        </p:txBody>
      </p:sp>
      <p:sp>
        <p:nvSpPr>
          <p:cNvPr id="476" name="Rounded Rectangle 23"/>
          <p:cNvSpPr/>
          <p:nvPr/>
        </p:nvSpPr>
        <p:spPr>
          <a:xfrm>
            <a:off x="5001767" y="4142634"/>
            <a:ext cx="1463041" cy="191589"/>
          </a:xfrm>
          <a:prstGeom prst="roundRect">
            <a:avLst>
              <a:gd name="adj" fmla="val 50000"/>
            </a:avLst>
          </a:prstGeom>
          <a:solidFill>
            <a:srgbClr val="1F6F8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800"/>
          </a:p>
        </p:txBody>
      </p:sp>
      <p:sp>
        <p:nvSpPr>
          <p:cNvPr id="477" name="TextBox 24"/>
          <p:cNvSpPr txBox="1"/>
          <p:nvPr/>
        </p:nvSpPr>
        <p:spPr>
          <a:xfrm>
            <a:off x="6922007" y="4106711"/>
            <a:ext cx="457201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1F6F8B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rPr sz="1200"/>
              <a:t>0.20</a:t>
            </a:r>
          </a:p>
        </p:txBody>
      </p:sp>
      <p:sp>
        <p:nvSpPr>
          <p:cNvPr id="478" name="TextBox 25"/>
          <p:cNvSpPr txBox="1"/>
          <p:nvPr/>
        </p:nvSpPr>
        <p:spPr>
          <a:xfrm>
            <a:off x="566927" y="4609631"/>
            <a:ext cx="2286001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14181F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rPr sz="1200"/>
              <a:t>trace_support</a:t>
            </a:r>
          </a:p>
        </p:txBody>
      </p:sp>
      <p:sp>
        <p:nvSpPr>
          <p:cNvPr id="479" name="TextBox 26"/>
          <p:cNvSpPr txBox="1"/>
          <p:nvPr/>
        </p:nvSpPr>
        <p:spPr>
          <a:xfrm>
            <a:off x="2852927" y="4621605"/>
            <a:ext cx="2103122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8B95A5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100">
                <a:latin typeface="+mj-lt"/>
                <a:ea typeface="+mj-ea"/>
                <a:cs typeface="+mj-cs"/>
                <a:sym typeface="Helvetica"/>
              </a:rPr>
              <a:t>是否有已复核先例</a:t>
            </a:r>
          </a:p>
        </p:txBody>
      </p:sp>
      <p:sp>
        <p:nvSpPr>
          <p:cNvPr id="480" name="Rounded Rectangle 27"/>
          <p:cNvSpPr/>
          <p:nvPr/>
        </p:nvSpPr>
        <p:spPr>
          <a:xfrm>
            <a:off x="5001767" y="4645554"/>
            <a:ext cx="1828801" cy="191589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800"/>
          </a:p>
        </p:txBody>
      </p:sp>
      <p:sp>
        <p:nvSpPr>
          <p:cNvPr id="481" name="Rounded Rectangle 28"/>
          <p:cNvSpPr/>
          <p:nvPr/>
        </p:nvSpPr>
        <p:spPr>
          <a:xfrm>
            <a:off x="5001767" y="4645554"/>
            <a:ext cx="1097281" cy="191589"/>
          </a:xfrm>
          <a:prstGeom prst="roundRect">
            <a:avLst>
              <a:gd name="adj" fmla="val 50000"/>
            </a:avLst>
          </a:prstGeom>
          <a:solidFill>
            <a:srgbClr val="1F6F8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800"/>
          </a:p>
        </p:txBody>
      </p:sp>
      <p:sp>
        <p:nvSpPr>
          <p:cNvPr id="482" name="TextBox 29"/>
          <p:cNvSpPr txBox="1"/>
          <p:nvPr/>
        </p:nvSpPr>
        <p:spPr>
          <a:xfrm>
            <a:off x="6922007" y="4609631"/>
            <a:ext cx="457201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1F6F8B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rPr sz="1200"/>
              <a:t>0.15</a:t>
            </a:r>
          </a:p>
        </p:txBody>
      </p:sp>
      <p:sp>
        <p:nvSpPr>
          <p:cNvPr id="483" name="TextBox 30"/>
          <p:cNvSpPr txBox="1"/>
          <p:nvPr/>
        </p:nvSpPr>
        <p:spPr>
          <a:xfrm>
            <a:off x="566927" y="5112551"/>
            <a:ext cx="2286001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14181F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rPr sz="1200"/>
              <a:t>verification_support</a:t>
            </a:r>
          </a:p>
        </p:txBody>
      </p:sp>
      <p:sp>
        <p:nvSpPr>
          <p:cNvPr id="484" name="TextBox 31"/>
          <p:cNvSpPr txBox="1"/>
          <p:nvPr/>
        </p:nvSpPr>
        <p:spPr>
          <a:xfrm>
            <a:off x="2852927" y="5124524"/>
            <a:ext cx="2103122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8B95A5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100">
                <a:latin typeface="+mj-lt"/>
                <a:ea typeface="+mj-ea"/>
                <a:cs typeface="+mj-cs"/>
                <a:sym typeface="Helvetica"/>
              </a:rPr>
              <a:t>是否有测试覆盖</a:t>
            </a:r>
          </a:p>
        </p:txBody>
      </p:sp>
      <p:sp>
        <p:nvSpPr>
          <p:cNvPr id="485" name="Rounded Rectangle 32"/>
          <p:cNvSpPr/>
          <p:nvPr/>
        </p:nvSpPr>
        <p:spPr>
          <a:xfrm>
            <a:off x="5001767" y="5148474"/>
            <a:ext cx="1828801" cy="146305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800"/>
          </a:p>
        </p:txBody>
      </p:sp>
      <p:sp>
        <p:nvSpPr>
          <p:cNvPr id="486" name="Rounded Rectangle 33"/>
          <p:cNvSpPr/>
          <p:nvPr/>
        </p:nvSpPr>
        <p:spPr>
          <a:xfrm>
            <a:off x="5001767" y="5148474"/>
            <a:ext cx="731521" cy="191589"/>
          </a:xfrm>
          <a:prstGeom prst="roundRect">
            <a:avLst>
              <a:gd name="adj" fmla="val 50000"/>
            </a:avLst>
          </a:prstGeom>
          <a:solidFill>
            <a:srgbClr val="1F6F8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800"/>
          </a:p>
        </p:txBody>
      </p:sp>
      <p:sp>
        <p:nvSpPr>
          <p:cNvPr id="487" name="TextBox 34"/>
          <p:cNvSpPr txBox="1"/>
          <p:nvPr/>
        </p:nvSpPr>
        <p:spPr>
          <a:xfrm>
            <a:off x="6922007" y="5112551"/>
            <a:ext cx="457201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1F6F8B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rPr sz="1200"/>
              <a:t>0.10</a:t>
            </a:r>
          </a:p>
        </p:txBody>
      </p:sp>
      <p:sp>
        <p:nvSpPr>
          <p:cNvPr id="488" name="TextBox 35"/>
          <p:cNvSpPr txBox="1"/>
          <p:nvPr/>
        </p:nvSpPr>
        <p:spPr>
          <a:xfrm>
            <a:off x="566927" y="5615470"/>
            <a:ext cx="2286001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14181F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rPr sz="1200"/>
              <a:t>context_coverage</a:t>
            </a:r>
          </a:p>
        </p:txBody>
      </p:sp>
      <p:sp>
        <p:nvSpPr>
          <p:cNvPr id="489" name="TextBox 36"/>
          <p:cNvSpPr txBox="1"/>
          <p:nvPr/>
        </p:nvSpPr>
        <p:spPr>
          <a:xfrm>
            <a:off x="2852927" y="5627444"/>
            <a:ext cx="2103122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8B95A5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100">
                <a:latin typeface="+mj-lt"/>
                <a:ea typeface="+mj-ea"/>
                <a:cs typeface="+mj-cs"/>
                <a:sym typeface="Helvetica"/>
              </a:rPr>
              <a:t>相关文件是否读全</a:t>
            </a:r>
          </a:p>
        </p:txBody>
      </p:sp>
      <p:sp>
        <p:nvSpPr>
          <p:cNvPr id="490" name="Rounded Rectangle 37"/>
          <p:cNvSpPr/>
          <p:nvPr/>
        </p:nvSpPr>
        <p:spPr>
          <a:xfrm>
            <a:off x="5001767" y="5651393"/>
            <a:ext cx="1828801" cy="191589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800"/>
          </a:p>
        </p:txBody>
      </p:sp>
      <p:sp>
        <p:nvSpPr>
          <p:cNvPr id="491" name="Rounded Rectangle 38"/>
          <p:cNvSpPr/>
          <p:nvPr/>
        </p:nvSpPr>
        <p:spPr>
          <a:xfrm>
            <a:off x="5001767" y="5651393"/>
            <a:ext cx="731521" cy="191589"/>
          </a:xfrm>
          <a:prstGeom prst="roundRect">
            <a:avLst>
              <a:gd name="adj" fmla="val 50000"/>
            </a:avLst>
          </a:prstGeom>
          <a:solidFill>
            <a:srgbClr val="1F6F8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800"/>
          </a:p>
        </p:txBody>
      </p:sp>
      <p:sp>
        <p:nvSpPr>
          <p:cNvPr id="492" name="TextBox 39"/>
          <p:cNvSpPr txBox="1"/>
          <p:nvPr/>
        </p:nvSpPr>
        <p:spPr>
          <a:xfrm>
            <a:off x="6922007" y="5615470"/>
            <a:ext cx="457201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1F6F8B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rPr sz="1200"/>
              <a:t>0.10</a:t>
            </a:r>
          </a:p>
        </p:txBody>
      </p:sp>
      <p:sp>
        <p:nvSpPr>
          <p:cNvPr id="493" name="TextBox 40"/>
          <p:cNvSpPr txBox="1"/>
          <p:nvPr/>
        </p:nvSpPr>
        <p:spPr>
          <a:xfrm>
            <a:off x="7607807" y="2693744"/>
            <a:ext cx="4017234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 b="1">
                <a:solidFill>
                  <a:srgbClr val="14181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b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600" b="1" dirty="0" err="1">
                <a:latin typeface="+mj-lt"/>
                <a:ea typeface="+mj-ea"/>
                <a:cs typeface="+mj-cs"/>
                <a:sym typeface="Helvetica"/>
              </a:rPr>
              <a:t>六类减分项（去重后各扣一次</a:t>
            </a:r>
            <a:r>
              <a:rPr sz="1600" b="1" dirty="0">
                <a:latin typeface="+mj-lt"/>
                <a:ea typeface="+mj-ea"/>
                <a:cs typeface="+mj-cs"/>
                <a:sym typeface="Helvetica"/>
              </a:rPr>
              <a:t>）</a:t>
            </a:r>
          </a:p>
        </p:txBody>
      </p:sp>
      <p:sp>
        <p:nvSpPr>
          <p:cNvPr id="494" name="Rounded Rectangle 41"/>
          <p:cNvSpPr/>
          <p:nvPr/>
        </p:nvSpPr>
        <p:spPr>
          <a:xfrm>
            <a:off x="7607807" y="3052973"/>
            <a:ext cx="4017235" cy="431075"/>
          </a:xfrm>
          <a:prstGeom prst="roundRect">
            <a:avLst>
              <a:gd name="adj" fmla="val 11666"/>
            </a:avLst>
          </a:prstGeom>
          <a:solidFill>
            <a:srgbClr val="FDF1F0"/>
          </a:solidFill>
          <a:ln>
            <a:solidFill>
              <a:srgbClr val="EEBDB8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800"/>
          </a:p>
        </p:txBody>
      </p:sp>
      <p:sp>
        <p:nvSpPr>
          <p:cNvPr id="495" name="TextBox 42"/>
          <p:cNvSpPr txBox="1"/>
          <p:nvPr/>
        </p:nvSpPr>
        <p:spPr>
          <a:xfrm>
            <a:off x="7735823" y="3124819"/>
            <a:ext cx="3108961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4A5464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r>
              <a:rPr sz="1200"/>
              <a:t>no_call_entry</a:t>
            </a:r>
          </a:p>
        </p:txBody>
      </p:sp>
      <p:sp>
        <p:nvSpPr>
          <p:cNvPr id="496" name="TextBox 43"/>
          <p:cNvSpPr txBox="1"/>
          <p:nvPr/>
        </p:nvSpPr>
        <p:spPr>
          <a:xfrm>
            <a:off x="10899647" y="3124819"/>
            <a:ext cx="640081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D9564A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rPr sz="1200"/>
              <a:t>−0.20</a:t>
            </a:r>
          </a:p>
        </p:txBody>
      </p:sp>
      <p:sp>
        <p:nvSpPr>
          <p:cNvPr id="497" name="Rounded Rectangle 44"/>
          <p:cNvSpPr/>
          <p:nvPr/>
        </p:nvSpPr>
        <p:spPr>
          <a:xfrm>
            <a:off x="7607807" y="3555893"/>
            <a:ext cx="4017235" cy="431075"/>
          </a:xfrm>
          <a:prstGeom prst="roundRect">
            <a:avLst>
              <a:gd name="adj" fmla="val 11666"/>
            </a:avLst>
          </a:prstGeom>
          <a:solidFill>
            <a:srgbClr val="FDF1F0"/>
          </a:solidFill>
          <a:ln>
            <a:solidFill>
              <a:srgbClr val="EEBDB8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800"/>
          </a:p>
        </p:txBody>
      </p:sp>
      <p:sp>
        <p:nvSpPr>
          <p:cNvPr id="498" name="TextBox 45"/>
          <p:cNvSpPr txBox="1"/>
          <p:nvPr/>
        </p:nvSpPr>
        <p:spPr>
          <a:xfrm>
            <a:off x="7735823" y="3627739"/>
            <a:ext cx="3108961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4A5464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r>
              <a:rPr sz="1200"/>
              <a:t>alternate_implementation</a:t>
            </a:r>
          </a:p>
        </p:txBody>
      </p:sp>
      <p:sp>
        <p:nvSpPr>
          <p:cNvPr id="499" name="TextBox 46"/>
          <p:cNvSpPr txBox="1"/>
          <p:nvPr/>
        </p:nvSpPr>
        <p:spPr>
          <a:xfrm>
            <a:off x="10899647" y="3627739"/>
            <a:ext cx="640081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D9564A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rPr sz="1200"/>
              <a:t>−0.20</a:t>
            </a:r>
          </a:p>
        </p:txBody>
      </p:sp>
      <p:sp>
        <p:nvSpPr>
          <p:cNvPr id="500" name="Rounded Rectangle 47"/>
          <p:cNvSpPr/>
          <p:nvPr/>
        </p:nvSpPr>
        <p:spPr>
          <a:xfrm>
            <a:off x="7607807" y="4058813"/>
            <a:ext cx="4017235" cy="431075"/>
          </a:xfrm>
          <a:prstGeom prst="roundRect">
            <a:avLst>
              <a:gd name="adj" fmla="val 11666"/>
            </a:avLst>
          </a:prstGeom>
          <a:solidFill>
            <a:srgbClr val="FDF1F0"/>
          </a:solidFill>
          <a:ln>
            <a:solidFill>
              <a:srgbClr val="EEBDB8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800"/>
          </a:p>
        </p:txBody>
      </p:sp>
      <p:sp>
        <p:nvSpPr>
          <p:cNvPr id="501" name="TextBox 48"/>
          <p:cNvSpPr txBox="1"/>
          <p:nvPr/>
        </p:nvSpPr>
        <p:spPr>
          <a:xfrm>
            <a:off x="7735823" y="4130659"/>
            <a:ext cx="3108961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4A5464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r>
              <a:rPr sz="1200"/>
              <a:t>config_or_caller_unread</a:t>
            </a:r>
          </a:p>
        </p:txBody>
      </p:sp>
      <p:sp>
        <p:nvSpPr>
          <p:cNvPr id="502" name="TextBox 49"/>
          <p:cNvSpPr txBox="1"/>
          <p:nvPr/>
        </p:nvSpPr>
        <p:spPr>
          <a:xfrm>
            <a:off x="10899647" y="4130659"/>
            <a:ext cx="640081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D9564A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rPr sz="1200"/>
              <a:t>−0.15</a:t>
            </a:r>
          </a:p>
        </p:txBody>
      </p:sp>
      <p:sp>
        <p:nvSpPr>
          <p:cNvPr id="503" name="Rounded Rectangle 50"/>
          <p:cNvSpPr/>
          <p:nvPr/>
        </p:nvSpPr>
        <p:spPr>
          <a:xfrm>
            <a:off x="7607807" y="4561734"/>
            <a:ext cx="4017235" cy="329185"/>
          </a:xfrm>
          <a:prstGeom prst="roundRect">
            <a:avLst>
              <a:gd name="adj" fmla="val 15277"/>
            </a:avLst>
          </a:prstGeom>
          <a:solidFill>
            <a:srgbClr val="FDF1F0"/>
          </a:solidFill>
          <a:ln>
            <a:solidFill>
              <a:srgbClr val="EEBDB8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800"/>
          </a:p>
        </p:txBody>
      </p:sp>
      <p:sp>
        <p:nvSpPr>
          <p:cNvPr id="504" name="TextBox 51"/>
          <p:cNvSpPr txBox="1"/>
          <p:nvPr/>
        </p:nvSpPr>
        <p:spPr>
          <a:xfrm>
            <a:off x="7735823" y="4633580"/>
            <a:ext cx="3108961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4A5464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r>
              <a:rPr sz="1200"/>
              <a:t>context_truncated</a:t>
            </a:r>
          </a:p>
        </p:txBody>
      </p:sp>
      <p:sp>
        <p:nvSpPr>
          <p:cNvPr id="505" name="TextBox 52"/>
          <p:cNvSpPr txBox="1"/>
          <p:nvPr/>
        </p:nvSpPr>
        <p:spPr>
          <a:xfrm>
            <a:off x="10899647" y="4633580"/>
            <a:ext cx="640081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D9564A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rPr sz="1200"/>
              <a:t>−0.15</a:t>
            </a:r>
          </a:p>
        </p:txBody>
      </p:sp>
      <p:sp>
        <p:nvSpPr>
          <p:cNvPr id="506" name="Rounded Rectangle 53"/>
          <p:cNvSpPr/>
          <p:nvPr/>
        </p:nvSpPr>
        <p:spPr>
          <a:xfrm>
            <a:off x="7607807" y="5064654"/>
            <a:ext cx="4017235" cy="431075"/>
          </a:xfrm>
          <a:prstGeom prst="roundRect">
            <a:avLst>
              <a:gd name="adj" fmla="val 11666"/>
            </a:avLst>
          </a:prstGeom>
          <a:solidFill>
            <a:srgbClr val="FDF1F0"/>
          </a:solidFill>
          <a:ln>
            <a:solidFill>
              <a:srgbClr val="EEBDB8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800"/>
          </a:p>
        </p:txBody>
      </p:sp>
      <p:sp>
        <p:nvSpPr>
          <p:cNvPr id="507" name="TextBox 54"/>
          <p:cNvSpPr txBox="1"/>
          <p:nvPr/>
        </p:nvSpPr>
        <p:spPr>
          <a:xfrm>
            <a:off x="7735823" y="5136500"/>
            <a:ext cx="3108961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4A5464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r>
              <a:rPr sz="1200"/>
              <a:t>runtime_condition_unverified</a:t>
            </a:r>
          </a:p>
        </p:txBody>
      </p:sp>
      <p:sp>
        <p:nvSpPr>
          <p:cNvPr id="508" name="TextBox 55"/>
          <p:cNvSpPr txBox="1"/>
          <p:nvPr/>
        </p:nvSpPr>
        <p:spPr>
          <a:xfrm>
            <a:off x="10899647" y="5136500"/>
            <a:ext cx="640081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D9564A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rPr sz="1200"/>
              <a:t>−0.15</a:t>
            </a:r>
          </a:p>
        </p:txBody>
      </p:sp>
      <p:sp>
        <p:nvSpPr>
          <p:cNvPr id="509" name="Rounded Rectangle 56"/>
          <p:cNvSpPr/>
          <p:nvPr/>
        </p:nvSpPr>
        <p:spPr>
          <a:xfrm>
            <a:off x="7607807" y="5567574"/>
            <a:ext cx="4017235" cy="329185"/>
          </a:xfrm>
          <a:prstGeom prst="roundRect">
            <a:avLst>
              <a:gd name="adj" fmla="val 15277"/>
            </a:avLst>
          </a:prstGeom>
          <a:solidFill>
            <a:srgbClr val="FDF1F0"/>
          </a:solidFill>
          <a:ln>
            <a:solidFill>
              <a:srgbClr val="EEBDB8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800"/>
          </a:p>
        </p:txBody>
      </p:sp>
      <p:sp>
        <p:nvSpPr>
          <p:cNvPr id="510" name="TextBox 57"/>
          <p:cNvSpPr txBox="1"/>
          <p:nvPr/>
        </p:nvSpPr>
        <p:spPr>
          <a:xfrm>
            <a:off x="7735823" y="5639420"/>
            <a:ext cx="3108961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4A5464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r>
              <a:rPr sz="1200"/>
              <a:t>paper_association_inferred</a:t>
            </a:r>
          </a:p>
        </p:txBody>
      </p:sp>
      <p:sp>
        <p:nvSpPr>
          <p:cNvPr id="511" name="TextBox 58"/>
          <p:cNvSpPr txBox="1"/>
          <p:nvPr/>
        </p:nvSpPr>
        <p:spPr>
          <a:xfrm>
            <a:off x="10899647" y="5639420"/>
            <a:ext cx="640081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D9564A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rPr sz="1200"/>
              <a:t>−0.10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Rectangle 1"/>
          <p:cNvSpPr/>
          <p:nvPr/>
        </p:nvSpPr>
        <p:spPr>
          <a:xfrm>
            <a:off x="-1" y="0"/>
            <a:ext cx="12191972" cy="6858000"/>
          </a:xfrm>
          <a:prstGeom prst="rect">
            <a:avLst/>
          </a:prstGeom>
          <a:solidFill>
            <a:srgbClr val="14262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20" name="TextBox 2"/>
          <p:cNvSpPr txBox="1"/>
          <p:nvPr/>
        </p:nvSpPr>
        <p:spPr>
          <a:xfrm>
            <a:off x="566927" y="1783079"/>
            <a:ext cx="3657601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6200">
                <a:solidFill>
                  <a:srgbClr val="2C4450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t>03</a:t>
            </a:r>
          </a:p>
        </p:txBody>
      </p:sp>
      <p:sp>
        <p:nvSpPr>
          <p:cNvPr id="521" name="TextBox 3"/>
          <p:cNvSpPr txBox="1"/>
          <p:nvPr/>
        </p:nvSpPr>
        <p:spPr>
          <a:xfrm>
            <a:off x="566927" y="2743200"/>
            <a:ext cx="9144001" cy="635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36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b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相较传统方式的优势</a:t>
            </a:r>
          </a:p>
        </p:txBody>
      </p:sp>
      <p:sp>
        <p:nvSpPr>
          <p:cNvPr id="522" name="TextBox 10"/>
          <p:cNvSpPr txBox="1"/>
          <p:nvPr/>
        </p:nvSpPr>
        <p:spPr>
          <a:xfrm>
            <a:off x="11231850" y="6473952"/>
            <a:ext cx="4572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900">
                <a:solidFill>
                  <a:srgbClr val="4C748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lvl1pPr>
          </a:lstStyle>
          <a:p>
            <a:r>
              <a:t>16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Rectangle 2"/>
          <p:cNvSpPr/>
          <p:nvPr/>
        </p:nvSpPr>
        <p:spPr>
          <a:xfrm>
            <a:off x="-1" y="0"/>
            <a:ext cx="56695" cy="6858000"/>
          </a:xfrm>
          <a:prstGeom prst="rect">
            <a:avLst/>
          </a:prstGeom>
          <a:solidFill>
            <a:srgbClr val="1F6F8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526" name="TextBox 3"/>
          <p:cNvSpPr txBox="1"/>
          <p:nvPr/>
        </p:nvSpPr>
        <p:spPr>
          <a:xfrm>
            <a:off x="566927" y="384047"/>
            <a:ext cx="1105811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1F6F8B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t>COMPARISON</a:t>
            </a:r>
          </a:p>
        </p:txBody>
      </p:sp>
      <p:sp>
        <p:nvSpPr>
          <p:cNvPr id="527" name="TextBox 4"/>
          <p:cNvSpPr txBox="1"/>
          <p:nvPr/>
        </p:nvSpPr>
        <p:spPr>
          <a:xfrm>
            <a:off x="566927" y="603504"/>
            <a:ext cx="11058116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500" b="1">
                <a:solidFill>
                  <a:srgbClr val="14181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b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四种做法逐项对比</a:t>
            </a:r>
          </a:p>
        </p:txBody>
      </p:sp>
      <p:sp>
        <p:nvSpPr>
          <p:cNvPr id="528" name="TextBox 5"/>
          <p:cNvSpPr txBox="1"/>
          <p:nvPr/>
        </p:nvSpPr>
        <p:spPr>
          <a:xfrm>
            <a:off x="566927" y="1251477"/>
            <a:ext cx="10509476" cy="2442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1100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400" dirty="0" err="1">
                <a:latin typeface="+mj-lt"/>
                <a:ea typeface="+mj-ea"/>
                <a:cs typeface="+mj-cs"/>
                <a:sym typeface="Helvetica"/>
              </a:rPr>
              <a:t>关键差异不在能否给出结果，而在结果能否被定位、复核与维护</a:t>
            </a:r>
            <a:endParaRPr sz="1400"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529" name="TextBox 6"/>
          <p:cNvSpPr txBox="1"/>
          <p:nvPr/>
        </p:nvSpPr>
        <p:spPr>
          <a:xfrm>
            <a:off x="11231850" y="6473952"/>
            <a:ext cx="4572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9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lvl1pPr>
          </a:lstStyle>
          <a:p>
            <a:r>
              <a:t>17</a:t>
            </a:r>
          </a:p>
        </p:txBody>
      </p:sp>
      <p:graphicFrame>
        <p:nvGraphicFramePr>
          <p:cNvPr id="530" name="Table 7"/>
          <p:cNvGraphicFramePr/>
          <p:nvPr>
            <p:extLst>
              <p:ext uri="{D42A27DB-BD31-4B8C-83A1-F6EECF244321}">
                <p14:modId xmlns:p14="http://schemas.microsoft.com/office/powerpoint/2010/main" val="1745958579"/>
              </p:ext>
            </p:extLst>
          </p:nvPr>
        </p:nvGraphicFramePr>
        <p:xfrm>
          <a:off x="566927" y="1851035"/>
          <a:ext cx="11058112" cy="4158756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93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30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66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766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523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5218"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000">
                          <a:solidFill>
                            <a:srgbClr val="14181F"/>
                          </a:solidFill>
                          <a:latin typeface="PingFang SC Semibold"/>
                          <a:ea typeface="PingFang SC Semibold"/>
                          <a:cs typeface="PingFang SC Semibold"/>
                          <a:sym typeface="PingFang SC Semibold"/>
                        </a:defRPr>
                      </a:pPr>
                      <a:r>
                        <a:rPr sz="1200" b="1" dirty="0" err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评价维度</a:t>
                      </a:r>
                      <a:endParaRPr sz="1200" b="1" dirty="0">
                        <a:latin typeface="+mj-lt"/>
                        <a:ea typeface="+mj-ea"/>
                        <a:cs typeface="+mj-cs"/>
                        <a:sym typeface="Helvetica"/>
                      </a:endParaRP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000">
                          <a:solidFill>
                            <a:srgbClr val="14181F"/>
                          </a:solidFill>
                          <a:latin typeface="PingFang SC Semibold"/>
                          <a:ea typeface="PingFang SC Semibold"/>
                          <a:cs typeface="PingFang SC Semibold"/>
                          <a:sym typeface="PingFang SC Semibold"/>
                        </a:defRPr>
                      </a:pPr>
                      <a:r>
                        <a:rPr sz="1200" b="1" dirty="0" err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人工对照</a:t>
                      </a:r>
                      <a:endParaRPr sz="1200" b="1" dirty="0">
                        <a:latin typeface="+mj-lt"/>
                        <a:ea typeface="+mj-ea"/>
                        <a:cs typeface="+mj-cs"/>
                        <a:sym typeface="Helvetica"/>
                      </a:endParaRP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000">
                          <a:solidFill>
                            <a:srgbClr val="14181F"/>
                          </a:solidFill>
                          <a:latin typeface="PingFang SC Semibold"/>
                          <a:ea typeface="PingFang SC Semibold"/>
                          <a:cs typeface="PingFang SC Semibold"/>
                          <a:sym typeface="PingFang SC Semibold"/>
                        </a:defRPr>
                      </a:pPr>
                      <a:r>
                        <a:rPr sz="1200" b="1" dirty="0" err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关键词</a:t>
                      </a:r>
                      <a:r>
                        <a:rPr sz="1200" b="1" dirty="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 </a:t>
                      </a:r>
                      <a:r>
                        <a:rPr sz="1200" dirty="0"/>
                        <a:t>/ </a:t>
                      </a:r>
                      <a:r>
                        <a:rPr sz="1200" b="1" dirty="0" err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静态规则</a:t>
                      </a:r>
                      <a:endParaRPr sz="1200" b="1" dirty="0">
                        <a:latin typeface="+mj-lt"/>
                        <a:ea typeface="+mj-ea"/>
                        <a:cs typeface="+mj-cs"/>
                        <a:sym typeface="Helvetica"/>
                      </a:endParaRP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000">
                          <a:solidFill>
                            <a:srgbClr val="14181F"/>
                          </a:solidFill>
                          <a:latin typeface="PingFang SC Semibold"/>
                          <a:ea typeface="PingFang SC Semibold"/>
                          <a:cs typeface="PingFang SC Semibold"/>
                          <a:sym typeface="PingFang SC Semibold"/>
                        </a:defRPr>
                      </a:pPr>
                      <a:r>
                        <a:rPr sz="1200" b="1" dirty="0" err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长上下文直接问答</a:t>
                      </a:r>
                      <a:endParaRPr sz="1200" b="1" dirty="0">
                        <a:latin typeface="+mj-lt"/>
                        <a:ea typeface="+mj-ea"/>
                        <a:cs typeface="+mj-cs"/>
                        <a:sym typeface="Helvetica"/>
                      </a:endParaRP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800"/>
                      </a:pPr>
                      <a:r>
                        <a:rPr sz="2000" b="1" dirty="0" err="1">
                          <a:solidFill>
                            <a:srgbClr val="1F6F8B"/>
                          </a:solidFill>
                          <a:latin typeface="PingFang SC Semibold"/>
                          <a:ea typeface="PingFang SC Semibold"/>
                          <a:cs typeface="PingFang SC Semibold"/>
                          <a:sym typeface="PingFang SC Semibold"/>
                        </a:rPr>
                        <a:t>TraceLab</a:t>
                      </a:r>
                      <a:endParaRPr sz="2000" b="1" dirty="0">
                        <a:solidFill>
                          <a:srgbClr val="1F6F8B"/>
                        </a:solidFill>
                        <a:latin typeface="PingFang SC Semibold"/>
                        <a:ea typeface="PingFang SC Semibold"/>
                        <a:cs typeface="PingFang SC Semibold"/>
                        <a:sym typeface="PingFang SC Semibold"/>
                      </a:endParaRP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0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1934"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000">
                          <a:solidFill>
                            <a:srgbClr val="14181F"/>
                          </a:solidFill>
                          <a:latin typeface="PingFang SC Semibold"/>
                          <a:ea typeface="PingFang SC Semibold"/>
                          <a:cs typeface="PingFang SC Semibold"/>
                          <a:sym typeface="PingFang SC Semibold"/>
                        </a:defRPr>
                      </a:pPr>
                      <a:r>
                        <a:rPr sz="1200" b="1" dirty="0" err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结果可定位</a:t>
                      </a:r>
                      <a:endParaRPr sz="1200" b="1" dirty="0">
                        <a:latin typeface="+mj-lt"/>
                        <a:ea typeface="+mj-ea"/>
                        <a:cs typeface="+mj-cs"/>
                        <a:sym typeface="Helvetica"/>
                      </a:endParaRP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000">
                          <a:solidFill>
                            <a:srgbClr val="4A5464"/>
                          </a:solidFill>
                          <a:latin typeface="PingFang SC Regular"/>
                          <a:ea typeface="PingFang SC Regular"/>
                          <a:cs typeface="PingFang SC Regular"/>
                          <a:sym typeface="PingFang SC Regular"/>
                        </a:defRPr>
                      </a:pPr>
                      <a:r>
                        <a:rPr sz="1200" dirty="0" err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凭记忆，无锚点</a:t>
                      </a:r>
                      <a:endParaRPr sz="1200" dirty="0">
                        <a:latin typeface="+mj-lt"/>
                        <a:ea typeface="+mj-ea"/>
                        <a:cs typeface="+mj-cs"/>
                        <a:sym typeface="Helvetica"/>
                      </a:endParaRP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000">
                          <a:solidFill>
                            <a:srgbClr val="4A5464"/>
                          </a:solidFill>
                          <a:latin typeface="PingFang SC Regular"/>
                          <a:ea typeface="PingFang SC Regular"/>
                          <a:cs typeface="PingFang SC Regular"/>
                          <a:sym typeface="PingFang SC Regular"/>
                        </a:defRPr>
                      </a:pPr>
                      <a:r>
                        <a:rPr sz="12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块 </a:t>
                      </a:r>
                      <a:r>
                        <a:rPr sz="1200"/>
                        <a:t>/ </a:t>
                      </a:r>
                      <a:r>
                        <a:rPr sz="12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符号级，常错位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000">
                          <a:solidFill>
                            <a:srgbClr val="4A5464"/>
                          </a:solidFill>
                          <a:latin typeface="PingFang SC Regular"/>
                          <a:ea typeface="PingFang SC Regular"/>
                          <a:cs typeface="PingFang SC Regular"/>
                          <a:sym typeface="PingFang SC Regular"/>
                        </a:defRPr>
                      </a:pPr>
                      <a:r>
                        <a:rPr sz="12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通常无行号与原文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000">
                          <a:solidFill>
                            <a:srgbClr val="1F6F8B"/>
                          </a:solidFill>
                          <a:latin typeface="PingFang SC Semibold"/>
                          <a:ea typeface="PingFang SC Semibold"/>
                          <a:cs typeface="PingFang SC Semibold"/>
                          <a:sym typeface="PingFang SC Semibold"/>
                        </a:defRPr>
                      </a:pPr>
                      <a:r>
                        <a:rPr lang="zh-CN" altLang="en-US" sz="1200" b="1" dirty="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 </a:t>
                      </a:r>
                      <a:r>
                        <a:rPr lang="zh-CN" altLang="en-US" sz="1200" b="1" dirty="0"/>
                        <a:t>行号原文双向定位快速锁定</a:t>
                      </a:r>
                      <a:endParaRPr sz="1200" b="1" dirty="0"/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AFD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1934"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000">
                          <a:solidFill>
                            <a:srgbClr val="14181F"/>
                          </a:solidFill>
                          <a:latin typeface="PingFang SC Semibold"/>
                          <a:ea typeface="PingFang SC Semibold"/>
                          <a:cs typeface="PingFang SC Semibold"/>
                          <a:sym typeface="PingFang SC Semibold"/>
                        </a:defRPr>
                      </a:pPr>
                      <a:r>
                        <a:rPr sz="1200" b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结果可复核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000">
                          <a:solidFill>
                            <a:srgbClr val="4A5464"/>
                          </a:solidFill>
                          <a:latin typeface="PingFang SC Regular"/>
                          <a:ea typeface="PingFang SC Regular"/>
                          <a:cs typeface="PingFang SC Regular"/>
                          <a:sym typeface="PingFang SC Regular"/>
                        </a:defRPr>
                      </a:pPr>
                      <a:r>
                        <a:rPr sz="1200" dirty="0" err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仅本人可复核</a:t>
                      </a:r>
                      <a:endParaRPr sz="1200" dirty="0">
                        <a:latin typeface="+mj-lt"/>
                        <a:ea typeface="+mj-ea"/>
                        <a:cs typeface="+mj-cs"/>
                        <a:sym typeface="Helvetica"/>
                      </a:endParaRP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000">
                          <a:solidFill>
                            <a:srgbClr val="4A5464"/>
                          </a:solidFill>
                          <a:latin typeface="PingFang SC Regular"/>
                          <a:ea typeface="PingFang SC Regular"/>
                          <a:cs typeface="PingFang SC Regular"/>
                          <a:sym typeface="PingFang SC Regular"/>
                        </a:defRPr>
                      </a:pPr>
                      <a:r>
                        <a:rPr sz="1200" dirty="0" err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无双侧证据</a:t>
                      </a:r>
                      <a:endParaRPr sz="1200" dirty="0">
                        <a:latin typeface="+mj-lt"/>
                        <a:ea typeface="+mj-ea"/>
                        <a:cs typeface="+mj-cs"/>
                        <a:sym typeface="Helvetica"/>
                      </a:endParaRP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000">
                          <a:solidFill>
                            <a:srgbClr val="4A5464"/>
                          </a:solidFill>
                          <a:latin typeface="PingFang SC Regular"/>
                          <a:ea typeface="PingFang SC Regular"/>
                          <a:cs typeface="PingFang SC Regular"/>
                          <a:sym typeface="PingFang SC Regular"/>
                        </a:defRPr>
                      </a:pPr>
                      <a:r>
                        <a:rPr sz="12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无法核对是否臆造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000">
                          <a:solidFill>
                            <a:srgbClr val="1F6F8B"/>
                          </a:solidFill>
                          <a:latin typeface="PingFang SC Semibold"/>
                          <a:ea typeface="PingFang SC Semibold"/>
                          <a:cs typeface="PingFang SC Semibold"/>
                          <a:sym typeface="PingFang SC Semibold"/>
                        </a:defRPr>
                      </a:pPr>
                      <a:r>
                        <a:rPr lang="zh-CN" altLang="en-US" sz="1200" b="1" dirty="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每条结果保留论文和代码两侧证据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AFD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1934"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000">
                          <a:solidFill>
                            <a:srgbClr val="14181F"/>
                          </a:solidFill>
                          <a:latin typeface="PingFang SC Semibold"/>
                          <a:ea typeface="PingFang SC Semibold"/>
                          <a:cs typeface="PingFang SC Semibold"/>
                          <a:sym typeface="PingFang SC Semibold"/>
                        </a:defRPr>
                      </a:pPr>
                      <a:r>
                        <a:rPr sz="1200" b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语义判断力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000">
                          <a:solidFill>
                            <a:srgbClr val="4A5464"/>
                          </a:solidFill>
                          <a:latin typeface="PingFang SC Regular"/>
                          <a:ea typeface="PingFang SC Regular"/>
                          <a:cs typeface="PingFang SC Regular"/>
                          <a:sym typeface="PingFang SC Regular"/>
                        </a:defRPr>
                      </a:pPr>
                      <a:r>
                        <a:rPr sz="12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强（人来判断）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000">
                          <a:solidFill>
                            <a:srgbClr val="4A5464"/>
                          </a:solidFill>
                          <a:latin typeface="PingFang SC Regular"/>
                          <a:ea typeface="PingFang SC Regular"/>
                          <a:cs typeface="PingFang SC Regular"/>
                          <a:sym typeface="PingFang SC Regular"/>
                        </a:defRPr>
                      </a:pPr>
                      <a:r>
                        <a:rPr sz="1200" dirty="0" err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无，仅字面重叠</a:t>
                      </a:r>
                      <a:endParaRPr sz="1200" dirty="0">
                        <a:latin typeface="+mj-lt"/>
                        <a:ea typeface="+mj-ea"/>
                        <a:cs typeface="+mj-cs"/>
                        <a:sym typeface="Helvetica"/>
                      </a:endParaRP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000">
                          <a:solidFill>
                            <a:srgbClr val="4A5464"/>
                          </a:solidFill>
                          <a:latin typeface="PingFang SC Regular"/>
                          <a:ea typeface="PingFang SC Regular"/>
                          <a:cs typeface="PingFang SC Regular"/>
                          <a:sym typeface="PingFang SC Regular"/>
                        </a:defRPr>
                      </a:pPr>
                      <a:r>
                        <a:rPr sz="1200" dirty="0" err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强但不可审计</a:t>
                      </a:r>
                      <a:endParaRPr sz="1200" dirty="0">
                        <a:latin typeface="+mj-lt"/>
                        <a:ea typeface="+mj-ea"/>
                        <a:cs typeface="+mj-cs"/>
                        <a:sym typeface="Helvetica"/>
                      </a:endParaRP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000">
                          <a:solidFill>
                            <a:srgbClr val="1F6F8B"/>
                          </a:solidFill>
                          <a:latin typeface="PingFang SC Semibold"/>
                          <a:ea typeface="PingFang SC Semibold"/>
                          <a:cs typeface="PingFang SC Semibold"/>
                          <a:sym typeface="PingFang SC Semibold"/>
                        </a:defRPr>
                      </a:pPr>
                      <a:r>
                        <a:rPr sz="1200" b="1" dirty="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强 </a:t>
                      </a:r>
                      <a:r>
                        <a:rPr sz="1200" dirty="0"/>
                        <a:t>+ </a:t>
                      </a:r>
                      <a:r>
                        <a:rPr sz="1200" b="1" dirty="0" err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反证检查</a:t>
                      </a:r>
                      <a:endParaRPr sz="1200" b="1" dirty="0">
                        <a:latin typeface="+mj-lt"/>
                        <a:ea typeface="+mj-ea"/>
                        <a:cs typeface="+mj-cs"/>
                        <a:sym typeface="Helvetica"/>
                      </a:endParaRP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AFD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1934"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000">
                          <a:solidFill>
                            <a:srgbClr val="14181F"/>
                          </a:solidFill>
                          <a:latin typeface="PingFang SC Semibold"/>
                          <a:ea typeface="PingFang SC Semibold"/>
                          <a:cs typeface="PingFang SC Semibold"/>
                          <a:sym typeface="PingFang SC Semibold"/>
                        </a:defRPr>
                      </a:pPr>
                      <a:r>
                        <a:rPr sz="1200" b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代码变更后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000">
                          <a:solidFill>
                            <a:srgbClr val="4A5464"/>
                          </a:solidFill>
                          <a:latin typeface="PingFang SC Regular"/>
                          <a:ea typeface="PingFang SC Regular"/>
                          <a:cs typeface="PingFang SC Regular"/>
                          <a:sym typeface="PingFang SC Regular"/>
                        </a:defRPr>
                      </a:pPr>
                      <a:r>
                        <a:rPr sz="12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需人工重做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000">
                          <a:solidFill>
                            <a:srgbClr val="4A5464"/>
                          </a:solidFill>
                          <a:latin typeface="PingFang SC Regular"/>
                          <a:ea typeface="PingFang SC Regular"/>
                          <a:cs typeface="PingFang SC Regular"/>
                          <a:sym typeface="PingFang SC Regular"/>
                        </a:defRPr>
                      </a:pPr>
                      <a:r>
                        <a:rPr sz="1200" dirty="0" err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重跑，正确性未知</a:t>
                      </a:r>
                      <a:endParaRPr sz="1200" dirty="0">
                        <a:latin typeface="+mj-lt"/>
                        <a:ea typeface="+mj-ea"/>
                        <a:cs typeface="+mj-cs"/>
                        <a:sym typeface="Helvetica"/>
                      </a:endParaRP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000">
                          <a:solidFill>
                            <a:srgbClr val="4A5464"/>
                          </a:solidFill>
                          <a:latin typeface="PingFang SC Regular"/>
                          <a:ea typeface="PingFang SC Regular"/>
                          <a:cs typeface="PingFang SC Regular"/>
                          <a:sym typeface="PingFang SC Regular"/>
                        </a:defRPr>
                      </a:pPr>
                      <a:r>
                        <a:rPr sz="1200" dirty="0" err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无版本概念</a:t>
                      </a:r>
                      <a:endParaRPr sz="1200" dirty="0">
                        <a:latin typeface="+mj-lt"/>
                        <a:ea typeface="+mj-ea"/>
                        <a:cs typeface="+mj-cs"/>
                        <a:sym typeface="Helvetica"/>
                      </a:endParaRP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000">
                          <a:solidFill>
                            <a:srgbClr val="1F6F8B"/>
                          </a:solidFill>
                          <a:latin typeface="PingFang SC Semibold"/>
                          <a:ea typeface="PingFang SC Semibold"/>
                          <a:cs typeface="PingFang SC Semibold"/>
                          <a:sym typeface="PingFang SC Semibold"/>
                        </a:defRPr>
                      </a:pPr>
                      <a:r>
                        <a:rPr lang="zh-CN" altLang="en-US" sz="1200" b="1" dirty="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变动检测</a:t>
                      </a:r>
                      <a:r>
                        <a:rPr sz="1200" b="1" dirty="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 </a:t>
                      </a:r>
                      <a:r>
                        <a:rPr sz="1200" dirty="0"/>
                        <a:t>→</a:t>
                      </a:r>
                      <a:r>
                        <a:rPr lang="zh-CN" altLang="en-US" sz="1200" b="1" i="0" u="none" strike="noStrike" cap="none" spc="0" baseline="0" dirty="0">
                          <a:solidFill>
                            <a:srgbClr val="1F6F8B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"/>
                        </a:rPr>
                        <a:t>旧结果作废 </a:t>
                      </a:r>
                      <a:r>
                        <a:rPr sz="1200" dirty="0"/>
                        <a:t>+ </a:t>
                      </a:r>
                      <a:r>
                        <a:rPr sz="1200" b="1" dirty="0" err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重锚</a:t>
                      </a:r>
                      <a:endParaRPr sz="1200" b="1" dirty="0">
                        <a:latin typeface="+mj-lt"/>
                        <a:ea typeface="+mj-ea"/>
                        <a:cs typeface="+mj-cs"/>
                        <a:sym typeface="Helvetica"/>
                      </a:endParaRP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AFD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1934"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000">
                          <a:solidFill>
                            <a:srgbClr val="14181F"/>
                          </a:solidFill>
                          <a:latin typeface="PingFang SC Semibold"/>
                          <a:ea typeface="PingFang SC Semibold"/>
                          <a:cs typeface="PingFang SC Semibold"/>
                          <a:sym typeface="PingFang SC Semibold"/>
                        </a:defRPr>
                      </a:pPr>
                      <a:r>
                        <a:rPr sz="1200" b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人工结论保留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000">
                          <a:solidFill>
                            <a:srgbClr val="4A5464"/>
                          </a:solidFill>
                          <a:latin typeface="PingFang SC Regular"/>
                          <a:ea typeface="PingFang SC Regular"/>
                          <a:cs typeface="PingFang SC Regular"/>
                          <a:sym typeface="PingFang SC Regular"/>
                        </a:defRPr>
                      </a:pPr>
                      <a:r>
                        <a:rPr sz="12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不成体系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000">
                          <a:solidFill>
                            <a:srgbClr val="4A5464"/>
                          </a:solidFill>
                          <a:latin typeface="PingFang SC Regular"/>
                          <a:ea typeface="PingFang SC Regular"/>
                          <a:cs typeface="PingFang SC Regular"/>
                          <a:sym typeface="PingFang SC Regular"/>
                        </a:defRPr>
                      </a:pPr>
                      <a:r>
                        <a:rPr sz="12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易被重跑覆盖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000">
                          <a:solidFill>
                            <a:srgbClr val="4A5464"/>
                          </a:solidFill>
                          <a:latin typeface="PingFang SC Regular"/>
                          <a:ea typeface="PingFang SC Regular"/>
                          <a:cs typeface="PingFang SC Regular"/>
                          <a:sym typeface="PingFang SC Regular"/>
                        </a:defRPr>
                      </a:pPr>
                      <a:r>
                        <a:rPr sz="1200" dirty="0" err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无状态</a:t>
                      </a:r>
                      <a:endParaRPr sz="1200" dirty="0">
                        <a:latin typeface="+mj-lt"/>
                        <a:ea typeface="+mj-ea"/>
                        <a:cs typeface="+mj-cs"/>
                        <a:sym typeface="Helvetica"/>
                      </a:endParaRP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000">
                          <a:solidFill>
                            <a:srgbClr val="1F6F8B"/>
                          </a:solidFill>
                          <a:latin typeface="PingFang SC Semibold"/>
                          <a:ea typeface="PingFang SC Semibold"/>
                          <a:cs typeface="PingFang SC Semibold"/>
                          <a:sym typeface="PingFang SC Semibold"/>
                        </a:defRPr>
                      </a:pPr>
                      <a:r>
                        <a:rPr lang="zh-CN" altLang="en-US" sz="1200" b="1" i="0" u="none" strike="noStrike" cap="none" spc="0" baseline="0" dirty="0">
                          <a:solidFill>
                            <a:srgbClr val="1F6F8B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"/>
                        </a:rPr>
                        <a:t>已确认 </a:t>
                      </a:r>
                      <a:r>
                        <a:rPr lang="en-US" altLang="zh-CN" sz="1200" b="1" i="0" u="none" strike="noStrike" cap="none" spc="0" baseline="0" dirty="0">
                          <a:solidFill>
                            <a:srgbClr val="1F6F8B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"/>
                        </a:rPr>
                        <a:t>/ </a:t>
                      </a:r>
                      <a:r>
                        <a:rPr lang="zh-CN" altLang="en-US" sz="1200" b="1" i="0" u="none" strike="noStrike" cap="none" spc="0" baseline="0" dirty="0">
                          <a:solidFill>
                            <a:srgbClr val="1F6F8B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"/>
                        </a:rPr>
                        <a:t>已驳回的结论不会被自动覆盖</a:t>
                      </a:r>
                      <a:endParaRPr sz="1200" b="1" dirty="0">
                        <a:latin typeface="+mj-lt"/>
                        <a:ea typeface="+mj-ea"/>
                        <a:cs typeface="+mj-cs"/>
                        <a:sym typeface="Helvetica"/>
                      </a:endParaRP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AFD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1934"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000">
                          <a:solidFill>
                            <a:srgbClr val="14181F"/>
                          </a:solidFill>
                          <a:latin typeface="PingFang SC Semibold"/>
                          <a:ea typeface="PingFang SC Semibold"/>
                          <a:cs typeface="PingFang SC Semibold"/>
                          <a:sym typeface="PingFang SC Semibold"/>
                        </a:defRPr>
                      </a:pPr>
                      <a:r>
                        <a:rPr sz="1200" b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无结果时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000">
                          <a:solidFill>
                            <a:srgbClr val="4A5464"/>
                          </a:solidFill>
                          <a:latin typeface="PingFang SC Regular"/>
                          <a:ea typeface="PingFang SC Regular"/>
                          <a:cs typeface="PingFang SC Regular"/>
                          <a:sym typeface="PingFang SC Regular"/>
                        </a:defRPr>
                      </a:pPr>
                      <a:r>
                        <a:rPr sz="12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放弃或猜测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000">
                          <a:solidFill>
                            <a:srgbClr val="4A5464"/>
                          </a:solidFill>
                          <a:latin typeface="PingFang SC Regular"/>
                          <a:ea typeface="PingFang SC Regular"/>
                          <a:cs typeface="PingFang SC Regular"/>
                          <a:sym typeface="PingFang SC Regular"/>
                        </a:defRPr>
                      </a:pPr>
                      <a:r>
                        <a:rPr sz="12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产出噪声链接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000">
                          <a:solidFill>
                            <a:srgbClr val="4A5464"/>
                          </a:solidFill>
                          <a:latin typeface="PingFang SC Regular"/>
                          <a:ea typeface="PingFang SC Regular"/>
                          <a:cs typeface="PingFang SC Regular"/>
                          <a:sym typeface="PingFang SC Regular"/>
                        </a:defRPr>
                      </a:pPr>
                      <a:r>
                        <a:rPr sz="12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倾向编造答案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000">
                          <a:solidFill>
                            <a:srgbClr val="1F6F8B"/>
                          </a:solidFill>
                          <a:latin typeface="PingFang SC Semibold"/>
                          <a:ea typeface="PingFang SC Semibold"/>
                          <a:cs typeface="PingFang SC Semibold"/>
                          <a:sym typeface="PingFang SC Semibold"/>
                        </a:defRPr>
                      </a:pPr>
                      <a:r>
                        <a:rPr lang="zh-CN" altLang="en-US" sz="1200" b="1" dirty="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明确说明未匹配原因和已检查范围</a:t>
                      </a:r>
                      <a:endParaRPr sz="1200" b="1" dirty="0">
                        <a:latin typeface="+mj-lt"/>
                        <a:ea typeface="+mj-ea"/>
                        <a:cs typeface="+mj-cs"/>
                        <a:sym typeface="Helvetica"/>
                      </a:endParaRP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AFD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1934"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000">
                          <a:solidFill>
                            <a:srgbClr val="14181F"/>
                          </a:solidFill>
                          <a:latin typeface="PingFang SC Semibold"/>
                          <a:ea typeface="PingFang SC Semibold"/>
                          <a:cs typeface="PingFang SC Semibold"/>
                          <a:sym typeface="PingFang SC Semibold"/>
                        </a:defRPr>
                      </a:pPr>
                      <a:r>
                        <a:rPr sz="1200" b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隐私与依赖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000">
                          <a:solidFill>
                            <a:srgbClr val="4A5464"/>
                          </a:solidFill>
                          <a:latin typeface="PingFang SC Regular"/>
                          <a:ea typeface="PingFang SC Regular"/>
                          <a:cs typeface="PingFang SC Regular"/>
                          <a:sym typeface="PingFang SC Regular"/>
                        </a:defRPr>
                      </a:pPr>
                      <a:r>
                        <a:rPr sz="12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无外发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000">
                          <a:solidFill>
                            <a:srgbClr val="4A5464"/>
                          </a:solidFill>
                          <a:latin typeface="PingFang SC Regular"/>
                          <a:ea typeface="PingFang SC Regular"/>
                          <a:cs typeface="PingFang SC Regular"/>
                          <a:sym typeface="PingFang SC Regular"/>
                        </a:defRPr>
                      </a:pPr>
                      <a:r>
                        <a:rPr sz="12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无外发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000">
                          <a:solidFill>
                            <a:srgbClr val="4A5464"/>
                          </a:solidFill>
                          <a:latin typeface="PingFang SC Regular"/>
                          <a:ea typeface="PingFang SC Regular"/>
                          <a:cs typeface="PingFang SC Regular"/>
                          <a:sym typeface="PingFang SC Regular"/>
                        </a:defRPr>
                      </a:pPr>
                      <a:r>
                        <a:rPr sz="12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论文与仓库整体外发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000">
                          <a:solidFill>
                            <a:srgbClr val="1F6F8B"/>
                          </a:solidFill>
                          <a:latin typeface="PingFang SC Semibold"/>
                          <a:ea typeface="PingFang SC Semibold"/>
                          <a:cs typeface="PingFang SC Semibold"/>
                          <a:sym typeface="PingFang SC Semibold"/>
                        </a:defRPr>
                      </a:pPr>
                      <a:r>
                        <a:rPr lang="zh-CN" altLang="en-US" sz="1200" b="1" dirty="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只分析选中项目内容，核心流程可本地运行</a:t>
                      </a:r>
                      <a:endParaRPr sz="1200" b="1" dirty="0">
                        <a:latin typeface="+mj-lt"/>
                        <a:ea typeface="+mj-ea"/>
                        <a:cs typeface="+mj-cs"/>
                        <a:sym typeface="Helvetica"/>
                      </a:endParaRP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AFD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Rectangle 2"/>
          <p:cNvSpPr/>
          <p:nvPr/>
        </p:nvSpPr>
        <p:spPr>
          <a:xfrm>
            <a:off x="-1" y="0"/>
            <a:ext cx="56695" cy="6858000"/>
          </a:xfrm>
          <a:prstGeom prst="rect">
            <a:avLst/>
          </a:prstGeom>
          <a:solidFill>
            <a:srgbClr val="1F6F8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534" name="TextBox 3"/>
          <p:cNvSpPr txBox="1"/>
          <p:nvPr/>
        </p:nvSpPr>
        <p:spPr>
          <a:xfrm>
            <a:off x="566927" y="384047"/>
            <a:ext cx="1105811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1F6F8B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t>INNOVATION</a:t>
            </a:r>
          </a:p>
        </p:txBody>
      </p:sp>
      <p:sp>
        <p:nvSpPr>
          <p:cNvPr id="535" name="TextBox 4"/>
          <p:cNvSpPr txBox="1"/>
          <p:nvPr/>
        </p:nvSpPr>
        <p:spPr>
          <a:xfrm>
            <a:off x="566927" y="603504"/>
            <a:ext cx="11058116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500" b="1">
                <a:solidFill>
                  <a:srgbClr val="14181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b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产品特色与创新点</a:t>
            </a:r>
          </a:p>
        </p:txBody>
      </p:sp>
      <p:sp>
        <p:nvSpPr>
          <p:cNvPr id="536" name="TextBox 5"/>
          <p:cNvSpPr txBox="1"/>
          <p:nvPr/>
        </p:nvSpPr>
        <p:spPr>
          <a:xfrm>
            <a:off x="11231850" y="6473952"/>
            <a:ext cx="4572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9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lvl1pPr>
          </a:lstStyle>
          <a:p>
            <a:r>
              <a:t>18</a:t>
            </a:r>
          </a:p>
        </p:txBody>
      </p:sp>
      <p:sp>
        <p:nvSpPr>
          <p:cNvPr id="537" name="Rounded Rectangle 6"/>
          <p:cNvSpPr/>
          <p:nvPr/>
        </p:nvSpPr>
        <p:spPr>
          <a:xfrm>
            <a:off x="566927" y="1298447"/>
            <a:ext cx="2641085" cy="2049817"/>
          </a:xfrm>
          <a:prstGeom prst="roundRect">
            <a:avLst>
              <a:gd name="adj" fmla="val 2453"/>
            </a:avLst>
          </a:prstGeom>
          <a:solidFill>
            <a:srgbClr val="F0F7F9"/>
          </a:solidFill>
          <a:ln>
            <a:solidFill>
              <a:srgbClr val="B8D5D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538" name="Rectangle 7"/>
          <p:cNvSpPr/>
          <p:nvPr/>
        </p:nvSpPr>
        <p:spPr>
          <a:xfrm>
            <a:off x="566927" y="1298447"/>
            <a:ext cx="45721" cy="2049817"/>
          </a:xfrm>
          <a:prstGeom prst="rect">
            <a:avLst/>
          </a:prstGeom>
          <a:solidFill>
            <a:srgbClr val="1F6F8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539" name="Rounded Rectangle 8"/>
          <p:cNvSpPr/>
          <p:nvPr/>
        </p:nvSpPr>
        <p:spPr>
          <a:xfrm>
            <a:off x="749808" y="1501045"/>
            <a:ext cx="274321" cy="309856"/>
          </a:xfrm>
          <a:prstGeom prst="roundRect">
            <a:avLst>
              <a:gd name="adj" fmla="val 18333"/>
            </a:avLst>
          </a:prstGeom>
          <a:solidFill>
            <a:srgbClr val="1F6F8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540" name="TextBox 9"/>
          <p:cNvSpPr txBox="1"/>
          <p:nvPr/>
        </p:nvSpPr>
        <p:spPr>
          <a:xfrm>
            <a:off x="749808" y="1569123"/>
            <a:ext cx="274321" cy="173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14000"/>
              </a:lnSpc>
              <a:defRPr sz="900">
                <a:solidFill>
                  <a:srgbClr val="FFFFFF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rPr sz="1050"/>
              <a:t>01</a:t>
            </a:r>
          </a:p>
        </p:txBody>
      </p:sp>
      <p:sp>
        <p:nvSpPr>
          <p:cNvPr id="541" name="TextBox 10"/>
          <p:cNvSpPr txBox="1"/>
          <p:nvPr/>
        </p:nvSpPr>
        <p:spPr>
          <a:xfrm>
            <a:off x="1097280" y="1489128"/>
            <a:ext cx="1927852" cy="492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defRPr sz="1300" b="1">
                <a:solidFill>
                  <a:srgbClr val="1F6F8B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b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lang="zh-CN" altLang="en-US" sz="1600" b="1" dirty="0">
                <a:latin typeface="+mj-lt"/>
                <a:ea typeface="+mj-ea"/>
                <a:cs typeface="+mj-cs"/>
                <a:sym typeface="Helvetica"/>
              </a:rPr>
              <a:t>先本地整理证据，再调用 </a:t>
            </a:r>
            <a:r>
              <a:rPr lang="en-US" altLang="zh-CN" sz="1600" b="1" dirty="0">
                <a:latin typeface="+mj-lt"/>
                <a:ea typeface="+mj-ea"/>
                <a:cs typeface="+mj-cs"/>
                <a:sym typeface="Helvetica"/>
              </a:rPr>
              <a:t>Agent</a:t>
            </a:r>
            <a:endParaRPr sz="1600" b="1"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542" name="TextBox 11"/>
          <p:cNvSpPr txBox="1"/>
          <p:nvPr/>
        </p:nvSpPr>
        <p:spPr>
          <a:xfrm>
            <a:off x="749808" y="2065107"/>
            <a:ext cx="2275324" cy="1114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4000"/>
              </a:lnSpc>
              <a:defRPr sz="10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en-US" altLang="zh-CN" sz="1100" dirty="0"/>
              <a:t>· </a:t>
            </a:r>
            <a:r>
              <a:rPr lang="zh-CN" altLang="en-US" sz="1100" dirty="0"/>
              <a:t>本地先解析论文页块、代码符号和历史追溯关系</a:t>
            </a:r>
            <a:r>
              <a:rPr lang="en-US" altLang="zh-CN" sz="1100" dirty="0"/>
              <a:t>· </a:t>
            </a:r>
          </a:p>
          <a:p>
            <a:pPr>
              <a:lnSpc>
                <a:spcPct val="134000"/>
              </a:lnSpc>
              <a:defRPr sz="10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en-US" altLang="zh-CN" sz="1100" dirty="0"/>
              <a:t>Agent </a:t>
            </a:r>
            <a:r>
              <a:rPr lang="zh-CN" altLang="en-US" sz="1100" dirty="0"/>
              <a:t>只读取和当前问题相关的片段</a:t>
            </a:r>
            <a:endParaRPr lang="en-US" altLang="zh-CN" sz="1100" dirty="0"/>
          </a:p>
          <a:p>
            <a:pPr>
              <a:lnSpc>
                <a:spcPct val="134000"/>
              </a:lnSpc>
              <a:defRPr sz="10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en-US" altLang="zh-CN" sz="1100" dirty="0"/>
              <a:t>· </a:t>
            </a:r>
            <a:r>
              <a:rPr lang="zh-CN" altLang="en-US" sz="1100" dirty="0"/>
              <a:t>减少一次性上传整篇论文和整个仓库的成本</a:t>
            </a:r>
            <a:endParaRPr sz="1100" dirty="0">
              <a:solidFill>
                <a:srgbClr val="4A5464"/>
              </a:solidFill>
            </a:endParaRPr>
          </a:p>
        </p:txBody>
      </p:sp>
      <p:sp>
        <p:nvSpPr>
          <p:cNvPr id="543" name="Rounded Rectangle 12"/>
          <p:cNvSpPr/>
          <p:nvPr/>
        </p:nvSpPr>
        <p:spPr>
          <a:xfrm>
            <a:off x="3372603" y="1298447"/>
            <a:ext cx="2641085" cy="2049817"/>
          </a:xfrm>
          <a:prstGeom prst="roundRect">
            <a:avLst>
              <a:gd name="adj" fmla="val 2453"/>
            </a:avLst>
          </a:prstGeom>
          <a:solidFill>
            <a:srgbClr val="F5F2FC"/>
          </a:solidFill>
          <a:ln>
            <a:solidFill>
              <a:srgbClr val="CCC0E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544" name="Rectangle 13"/>
          <p:cNvSpPr/>
          <p:nvPr/>
        </p:nvSpPr>
        <p:spPr>
          <a:xfrm>
            <a:off x="3372603" y="1298447"/>
            <a:ext cx="45721" cy="2049817"/>
          </a:xfrm>
          <a:prstGeom prst="rect">
            <a:avLst/>
          </a:prstGeom>
          <a:solidFill>
            <a:srgbClr val="7A5CC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545" name="Rounded Rectangle 14"/>
          <p:cNvSpPr/>
          <p:nvPr/>
        </p:nvSpPr>
        <p:spPr>
          <a:xfrm>
            <a:off x="3555484" y="1501045"/>
            <a:ext cx="274321" cy="309856"/>
          </a:xfrm>
          <a:prstGeom prst="roundRect">
            <a:avLst>
              <a:gd name="adj" fmla="val 18333"/>
            </a:avLst>
          </a:prstGeom>
          <a:solidFill>
            <a:srgbClr val="7A5CC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546" name="TextBox 15"/>
          <p:cNvSpPr txBox="1"/>
          <p:nvPr/>
        </p:nvSpPr>
        <p:spPr>
          <a:xfrm>
            <a:off x="3555484" y="1569123"/>
            <a:ext cx="274321" cy="173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14000"/>
              </a:lnSpc>
              <a:defRPr sz="900">
                <a:solidFill>
                  <a:srgbClr val="FFFFFF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rPr sz="1050"/>
              <a:t>02</a:t>
            </a:r>
          </a:p>
        </p:txBody>
      </p:sp>
      <p:sp>
        <p:nvSpPr>
          <p:cNvPr id="547" name="TextBox 16"/>
          <p:cNvSpPr txBox="1"/>
          <p:nvPr/>
        </p:nvSpPr>
        <p:spPr>
          <a:xfrm>
            <a:off x="3902955" y="1489128"/>
            <a:ext cx="1964429" cy="492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 b="1">
                <a:solidFill>
                  <a:srgbClr val="7A5CC4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b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lang="zh-CN" altLang="en-US" sz="1600" b="1" dirty="0">
                <a:latin typeface="+mj-lt"/>
                <a:ea typeface="+mj-ea"/>
                <a:cs typeface="+mj-cs"/>
                <a:sym typeface="Helvetica"/>
              </a:rPr>
              <a:t>追溯结果是可检查和审查的关系</a:t>
            </a:r>
            <a:endParaRPr sz="1600" b="1"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548" name="TextBox 17"/>
          <p:cNvSpPr txBox="1"/>
          <p:nvPr/>
        </p:nvSpPr>
        <p:spPr>
          <a:xfrm>
            <a:off x="3555484" y="2040397"/>
            <a:ext cx="2275325" cy="1110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4000"/>
              </a:lnSpc>
              <a:defRPr sz="10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en-US" altLang="zh-CN" sz="1100" dirty="0"/>
              <a:t>· </a:t>
            </a:r>
            <a:r>
              <a:rPr lang="zh-CN" altLang="en-US" sz="1100" dirty="0"/>
              <a:t>每条结果同时绑定论文位置和代码位置</a:t>
            </a:r>
            <a:endParaRPr lang="en-US" altLang="zh-CN" sz="1100" dirty="0"/>
          </a:p>
          <a:p>
            <a:pPr>
              <a:lnSpc>
                <a:spcPct val="134000"/>
              </a:lnSpc>
              <a:defRPr sz="10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en-US" altLang="zh-CN" sz="1100" dirty="0"/>
              <a:t>· </a:t>
            </a:r>
            <a:r>
              <a:rPr lang="zh-CN" altLang="en-US" sz="1100" dirty="0"/>
              <a:t>保留证据、理由、置信度和状态</a:t>
            </a:r>
            <a:endParaRPr lang="en-US" altLang="zh-CN" sz="1100" dirty="0"/>
          </a:p>
          <a:p>
            <a:pPr>
              <a:lnSpc>
                <a:spcPct val="134000"/>
              </a:lnSpc>
              <a:defRPr sz="10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en-US" altLang="zh-CN" sz="1100" dirty="0"/>
              <a:t>· </a:t>
            </a:r>
            <a:r>
              <a:rPr lang="zh-CN" altLang="en-US" sz="1100" dirty="0"/>
              <a:t>用户可以接受、驳回或后续重新检查</a:t>
            </a:r>
            <a:endParaRPr sz="1100" dirty="0">
              <a:solidFill>
                <a:srgbClr val="4A5464"/>
              </a:solidFill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549" name="Rounded Rectangle 18"/>
          <p:cNvSpPr/>
          <p:nvPr/>
        </p:nvSpPr>
        <p:spPr>
          <a:xfrm>
            <a:off x="6196569" y="1298447"/>
            <a:ext cx="2641084" cy="2049817"/>
          </a:xfrm>
          <a:prstGeom prst="roundRect">
            <a:avLst>
              <a:gd name="adj" fmla="val 2453"/>
            </a:avLst>
          </a:prstGeom>
          <a:solidFill>
            <a:srgbClr val="EFF9F6"/>
          </a:solidFill>
          <a:ln>
            <a:solidFill>
              <a:srgbClr val="B3DED4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550" name="Rectangle 19"/>
          <p:cNvSpPr/>
          <p:nvPr/>
        </p:nvSpPr>
        <p:spPr>
          <a:xfrm>
            <a:off x="6178281" y="1298447"/>
            <a:ext cx="45721" cy="2049817"/>
          </a:xfrm>
          <a:prstGeom prst="rect">
            <a:avLst/>
          </a:prstGeom>
          <a:solidFill>
            <a:srgbClr val="1F8F7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551" name="Rounded Rectangle 20"/>
          <p:cNvSpPr/>
          <p:nvPr/>
        </p:nvSpPr>
        <p:spPr>
          <a:xfrm>
            <a:off x="6361160" y="1501045"/>
            <a:ext cx="274321" cy="309856"/>
          </a:xfrm>
          <a:prstGeom prst="roundRect">
            <a:avLst>
              <a:gd name="adj" fmla="val 18333"/>
            </a:avLst>
          </a:prstGeom>
          <a:solidFill>
            <a:srgbClr val="1F8F7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552" name="TextBox 21"/>
          <p:cNvSpPr txBox="1"/>
          <p:nvPr/>
        </p:nvSpPr>
        <p:spPr>
          <a:xfrm>
            <a:off x="6361160" y="1569123"/>
            <a:ext cx="274321" cy="173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14000"/>
              </a:lnSpc>
              <a:defRPr sz="900">
                <a:solidFill>
                  <a:srgbClr val="FFFFFF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rPr sz="1050"/>
              <a:t>03</a:t>
            </a:r>
          </a:p>
        </p:txBody>
      </p:sp>
      <p:sp>
        <p:nvSpPr>
          <p:cNvPr id="553" name="TextBox 22"/>
          <p:cNvSpPr txBox="1"/>
          <p:nvPr/>
        </p:nvSpPr>
        <p:spPr>
          <a:xfrm>
            <a:off x="6708633" y="1489128"/>
            <a:ext cx="1964429" cy="492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300">
                <a:solidFill>
                  <a:srgbClr val="1F8F78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600" b="1" dirty="0" err="1">
                <a:latin typeface="+mj-lt"/>
                <a:ea typeface="+mj-ea"/>
                <a:cs typeface="+mj-cs"/>
                <a:sym typeface="Helvetica"/>
              </a:rPr>
              <a:t>引导式标注与</a:t>
            </a:r>
            <a:r>
              <a:rPr sz="1600" b="1" dirty="0"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sz="1600" b="1" dirty="0"/>
              <a:t>Agent </a:t>
            </a:r>
            <a:r>
              <a:rPr sz="1600" b="1" dirty="0" err="1">
                <a:latin typeface="+mj-lt"/>
                <a:ea typeface="+mj-ea"/>
                <a:cs typeface="+mj-cs"/>
                <a:sym typeface="Helvetica"/>
              </a:rPr>
              <a:t>同构</a:t>
            </a:r>
            <a:endParaRPr sz="1600" b="1"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554" name="TextBox 23"/>
          <p:cNvSpPr txBox="1"/>
          <p:nvPr/>
        </p:nvSpPr>
        <p:spPr>
          <a:xfrm>
            <a:off x="6361160" y="2219763"/>
            <a:ext cx="2275325" cy="6600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4000"/>
              </a:lnSpc>
              <a:defRPr sz="10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100" dirty="0"/>
              <a:t>· </a:t>
            </a:r>
            <a:r>
              <a:rPr sz="1100" dirty="0" err="1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按引用创建</a:t>
            </a:r>
            <a:r>
              <a:rPr lang="zh-CN" altLang="en-US" sz="1100" dirty="0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，复用</a:t>
            </a:r>
            <a:r>
              <a:rPr sz="1100" dirty="0" err="1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派生证据锚点</a:t>
            </a:r>
            <a:endParaRPr sz="1100" dirty="0">
              <a:solidFill>
                <a:srgbClr val="4A5464"/>
              </a:solidFill>
              <a:latin typeface="+mj-lt"/>
              <a:ea typeface="+mj-ea"/>
              <a:cs typeface="+mj-cs"/>
              <a:sym typeface="Helvetica"/>
            </a:endParaRPr>
          </a:p>
          <a:p>
            <a:pPr>
              <a:lnSpc>
                <a:spcPct val="134000"/>
              </a:lnSpc>
              <a:defRPr sz="10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100" dirty="0"/>
              <a:t>· </a:t>
            </a:r>
            <a:r>
              <a:rPr sz="1100" dirty="0" err="1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锚点</a:t>
            </a:r>
            <a:r>
              <a:rPr sz="1100" dirty="0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sz="1100" dirty="0">
                <a:solidFill>
                  <a:srgbClr val="4A5464"/>
                </a:solidFill>
              </a:rPr>
              <a:t>id </a:t>
            </a:r>
            <a:r>
              <a:rPr sz="1100" dirty="0" err="1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由内容派生</a:t>
            </a:r>
            <a:endParaRPr sz="1100" dirty="0">
              <a:solidFill>
                <a:srgbClr val="4A5464"/>
              </a:solidFill>
              <a:latin typeface="+mj-lt"/>
              <a:ea typeface="+mj-ea"/>
              <a:cs typeface="+mj-cs"/>
              <a:sym typeface="Helvetica"/>
            </a:endParaRPr>
          </a:p>
          <a:p>
            <a:pPr>
              <a:lnSpc>
                <a:spcPct val="134000"/>
              </a:lnSpc>
              <a:defRPr sz="10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100" dirty="0"/>
              <a:t>· </a:t>
            </a:r>
            <a:r>
              <a:rPr lang="zh-CN" altLang="en-US" sz="1100" dirty="0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最终</a:t>
            </a:r>
            <a:r>
              <a:rPr sz="1100" dirty="0" err="1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收敛为一个论文目标</a:t>
            </a:r>
            <a:endParaRPr sz="1100" dirty="0">
              <a:solidFill>
                <a:srgbClr val="4A5464"/>
              </a:solidFill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555" name="Rounded Rectangle 24"/>
          <p:cNvSpPr/>
          <p:nvPr/>
        </p:nvSpPr>
        <p:spPr>
          <a:xfrm>
            <a:off x="8983957" y="1298447"/>
            <a:ext cx="2641085" cy="2049817"/>
          </a:xfrm>
          <a:prstGeom prst="roundRect">
            <a:avLst>
              <a:gd name="adj" fmla="val 2453"/>
            </a:avLst>
          </a:prstGeom>
          <a:solidFill>
            <a:srgbClr val="FDF8EC"/>
          </a:solidFill>
          <a:ln>
            <a:solidFill>
              <a:srgbClr val="E9D29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556" name="Rectangle 25"/>
          <p:cNvSpPr/>
          <p:nvPr/>
        </p:nvSpPr>
        <p:spPr>
          <a:xfrm>
            <a:off x="8983957" y="1298447"/>
            <a:ext cx="45721" cy="2049817"/>
          </a:xfrm>
          <a:prstGeom prst="rect">
            <a:avLst/>
          </a:prstGeom>
          <a:solidFill>
            <a:srgbClr val="D99B0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557" name="Rounded Rectangle 26"/>
          <p:cNvSpPr/>
          <p:nvPr/>
        </p:nvSpPr>
        <p:spPr>
          <a:xfrm>
            <a:off x="9166837" y="1501045"/>
            <a:ext cx="274321" cy="309856"/>
          </a:xfrm>
          <a:prstGeom prst="roundRect">
            <a:avLst>
              <a:gd name="adj" fmla="val 18333"/>
            </a:avLst>
          </a:prstGeom>
          <a:solidFill>
            <a:srgbClr val="D99B0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558" name="TextBox 27"/>
          <p:cNvSpPr txBox="1"/>
          <p:nvPr/>
        </p:nvSpPr>
        <p:spPr>
          <a:xfrm>
            <a:off x="9166837" y="1569123"/>
            <a:ext cx="274321" cy="173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14000"/>
              </a:lnSpc>
              <a:defRPr sz="900">
                <a:solidFill>
                  <a:srgbClr val="FFFFFF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rPr sz="1050"/>
              <a:t>04</a:t>
            </a:r>
          </a:p>
        </p:txBody>
      </p:sp>
      <p:sp>
        <p:nvSpPr>
          <p:cNvPr id="559" name="TextBox 28"/>
          <p:cNvSpPr txBox="1"/>
          <p:nvPr/>
        </p:nvSpPr>
        <p:spPr>
          <a:xfrm>
            <a:off x="9514309" y="1489128"/>
            <a:ext cx="1964429" cy="492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300">
                <a:solidFill>
                  <a:srgbClr val="D99B06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lang="zh-CN" altLang="en-US" sz="1600" b="1" dirty="0">
                <a:latin typeface="+mj-lt"/>
                <a:ea typeface="+mj-ea"/>
                <a:cs typeface="+mj-cs"/>
                <a:sym typeface="Helvetica"/>
              </a:rPr>
              <a:t>面向代码变化的持续维护</a:t>
            </a:r>
            <a:endParaRPr sz="1600" b="1"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560" name="TextBox 29"/>
          <p:cNvSpPr txBox="1"/>
          <p:nvPr/>
        </p:nvSpPr>
        <p:spPr>
          <a:xfrm>
            <a:off x="9166837" y="1938522"/>
            <a:ext cx="2275325" cy="13409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4000"/>
              </a:lnSpc>
              <a:defRPr sz="10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zh-CN" altLang="zh-CN" sz="1100" dirty="0">
                <a:sym typeface="PingFang SC Regular"/>
              </a:rPr>
              <a:t>· 代码 revision 变化后，旧追溯会标记为需复核</a:t>
            </a:r>
            <a:br>
              <a:rPr lang="zh-CN" altLang="zh-CN" sz="1100" dirty="0">
                <a:sym typeface="PingFang SC Regular"/>
              </a:rPr>
            </a:br>
            <a:r>
              <a:rPr lang="zh-CN" altLang="zh-CN" sz="1100" dirty="0">
                <a:sym typeface="PingFang SC Regular"/>
              </a:rPr>
              <a:t>· 系统支持重新定位和重新生成追溯关系</a:t>
            </a:r>
            <a:br>
              <a:rPr lang="zh-CN" altLang="zh-CN" sz="1100" dirty="0">
                <a:sym typeface="PingFang SC Regular"/>
              </a:rPr>
            </a:br>
            <a:r>
              <a:rPr lang="zh-CN" altLang="zh-CN" sz="1100" dirty="0">
                <a:sym typeface="PingFang SC Regular"/>
              </a:rPr>
              <a:t>· 追溯结果能跟随项目演进，而不是一次性截图</a:t>
            </a:r>
            <a:endParaRPr sz="1400" dirty="0">
              <a:solidFill>
                <a:srgbClr val="4A5464"/>
              </a:solidFill>
            </a:endParaRPr>
          </a:p>
        </p:txBody>
      </p:sp>
      <p:sp>
        <p:nvSpPr>
          <p:cNvPr id="561" name="TextBox 30"/>
          <p:cNvSpPr txBox="1"/>
          <p:nvPr/>
        </p:nvSpPr>
        <p:spPr>
          <a:xfrm>
            <a:off x="566927" y="3610449"/>
            <a:ext cx="11058116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300">
                <a:solidFill>
                  <a:srgbClr val="14181F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600" dirty="0"/>
              <a:t>RAG </a:t>
            </a:r>
            <a:r>
              <a:rPr sz="1600" b="1" dirty="0" err="1">
                <a:latin typeface="+mj-lt"/>
                <a:ea typeface="+mj-ea"/>
                <a:cs typeface="+mj-cs"/>
                <a:sym typeface="Helvetica"/>
              </a:rPr>
              <a:t>三域索引与失效条件</a:t>
            </a:r>
            <a:endParaRPr sz="1600" b="1"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562" name="Rounded Rectangle 31"/>
          <p:cNvSpPr/>
          <p:nvPr/>
        </p:nvSpPr>
        <p:spPr>
          <a:xfrm>
            <a:off x="566927" y="4015645"/>
            <a:ext cx="3503159" cy="1048744"/>
          </a:xfrm>
          <a:prstGeom prst="roundRect">
            <a:avLst>
              <a:gd name="adj" fmla="val 4795"/>
            </a:avLst>
          </a:prstGeom>
          <a:solidFill>
            <a:srgbClr val="F0F7F9"/>
          </a:solidFill>
          <a:ln w="12700">
            <a:solidFill>
              <a:srgbClr val="B8D5D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563" name="TextBox 32"/>
          <p:cNvSpPr txBox="1"/>
          <p:nvPr/>
        </p:nvSpPr>
        <p:spPr>
          <a:xfrm>
            <a:off x="640080" y="4313321"/>
            <a:ext cx="3356855" cy="453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200">
                <a:solidFill>
                  <a:srgbClr val="1F6F8B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lang="zh-CN" altLang="en-US" sz="1600" b="1" dirty="0"/>
              <a:t>论文</a:t>
            </a:r>
            <a:r>
              <a:rPr sz="1600" b="1" dirty="0">
                <a:latin typeface="+mj-lt"/>
                <a:ea typeface="+mj-ea"/>
                <a:cs typeface="+mj-cs"/>
                <a:sym typeface="Helvetica"/>
              </a:rPr>
              <a:t>域</a:t>
            </a:r>
          </a:p>
          <a:p>
            <a:pPr algn="ctr">
              <a:lnSpc>
                <a:spcPct val="114000"/>
              </a:lnSpc>
              <a:defRPr sz="9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050" b="1" dirty="0" err="1"/>
              <a:t>MinerU</a:t>
            </a:r>
            <a:r>
              <a:rPr sz="1050" b="1" dirty="0"/>
              <a:t> </a:t>
            </a:r>
            <a:r>
              <a:rPr sz="1050" b="1" dirty="0" err="1">
                <a:latin typeface="+mj-lt"/>
                <a:ea typeface="+mj-ea"/>
                <a:cs typeface="+mj-cs"/>
                <a:sym typeface="Helvetica"/>
              </a:rPr>
              <a:t>页块</a:t>
            </a:r>
            <a:endParaRPr sz="1050" b="1"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564" name="Rounded Rectangle 33"/>
          <p:cNvSpPr/>
          <p:nvPr/>
        </p:nvSpPr>
        <p:spPr>
          <a:xfrm>
            <a:off x="4344406" y="4015645"/>
            <a:ext cx="3503159" cy="1048744"/>
          </a:xfrm>
          <a:prstGeom prst="roundRect">
            <a:avLst>
              <a:gd name="adj" fmla="val 4795"/>
            </a:avLst>
          </a:prstGeom>
          <a:solidFill>
            <a:srgbClr val="F5F2FC"/>
          </a:solidFill>
          <a:ln w="12700">
            <a:solidFill>
              <a:srgbClr val="CCC0E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565" name="TextBox 34"/>
          <p:cNvSpPr txBox="1"/>
          <p:nvPr/>
        </p:nvSpPr>
        <p:spPr>
          <a:xfrm>
            <a:off x="4417557" y="4313321"/>
            <a:ext cx="3356855" cy="453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200">
                <a:solidFill>
                  <a:srgbClr val="7A5CC4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lang="zh-CN" altLang="en-US" sz="1600" b="1" dirty="0"/>
              <a:t>代码</a:t>
            </a:r>
            <a:r>
              <a:rPr sz="1600" b="1" dirty="0">
                <a:latin typeface="+mj-lt"/>
                <a:ea typeface="+mj-ea"/>
                <a:cs typeface="+mj-cs"/>
                <a:sym typeface="Helvetica"/>
              </a:rPr>
              <a:t>域</a:t>
            </a:r>
          </a:p>
          <a:p>
            <a:pPr algn="ctr">
              <a:lnSpc>
                <a:spcPct val="114000"/>
              </a:lnSpc>
              <a:defRPr sz="9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050" b="1" dirty="0" err="1">
                <a:latin typeface="+mj-lt"/>
                <a:ea typeface="+mj-ea"/>
                <a:cs typeface="+mj-cs"/>
                <a:sym typeface="Helvetica"/>
              </a:rPr>
              <a:t>符号</a:t>
            </a:r>
            <a:r>
              <a:rPr sz="1050" b="1" dirty="0"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sz="1050" b="1" dirty="0"/>
              <a:t>+ </a:t>
            </a:r>
            <a:r>
              <a:rPr sz="1050" b="1" dirty="0" err="1">
                <a:latin typeface="+mj-lt"/>
                <a:ea typeface="+mj-ea"/>
                <a:cs typeface="+mj-cs"/>
                <a:sym typeface="Helvetica"/>
              </a:rPr>
              <a:t>真实源码片段</a:t>
            </a:r>
            <a:endParaRPr sz="1050" b="1"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566" name="Rounded Rectangle 35"/>
          <p:cNvSpPr/>
          <p:nvPr/>
        </p:nvSpPr>
        <p:spPr>
          <a:xfrm>
            <a:off x="8121884" y="4015645"/>
            <a:ext cx="3503158" cy="1048744"/>
          </a:xfrm>
          <a:prstGeom prst="roundRect">
            <a:avLst>
              <a:gd name="adj" fmla="val 4795"/>
            </a:avLst>
          </a:prstGeom>
          <a:solidFill>
            <a:srgbClr val="EFF9F6"/>
          </a:solidFill>
          <a:ln w="12700">
            <a:solidFill>
              <a:srgbClr val="B3DED4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567" name="TextBox 36"/>
          <p:cNvSpPr txBox="1"/>
          <p:nvPr/>
        </p:nvSpPr>
        <p:spPr>
          <a:xfrm>
            <a:off x="8195036" y="4313321"/>
            <a:ext cx="3356855" cy="453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200">
                <a:solidFill>
                  <a:srgbClr val="1F8F78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lang="zh-CN" altLang="en-US" sz="1600" b="1" dirty="0"/>
              <a:t>追溯关系</a:t>
            </a:r>
            <a:r>
              <a:rPr sz="1600" b="1" dirty="0">
                <a:latin typeface="+mj-lt"/>
                <a:ea typeface="+mj-ea"/>
                <a:cs typeface="+mj-cs"/>
                <a:sym typeface="Helvetica"/>
              </a:rPr>
              <a:t>域</a:t>
            </a:r>
          </a:p>
          <a:p>
            <a:pPr algn="ctr">
              <a:lnSpc>
                <a:spcPct val="114000"/>
              </a:lnSpc>
              <a:defRPr sz="9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050" b="1" dirty="0" err="1">
                <a:latin typeface="+mj-lt"/>
                <a:ea typeface="+mj-ea"/>
                <a:cs typeface="+mj-cs"/>
                <a:sym typeface="Helvetica"/>
              </a:rPr>
              <a:t>已复核</a:t>
            </a:r>
            <a:r>
              <a:rPr sz="1050" b="1" dirty="0"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sz="1050" b="1" dirty="0" err="1"/>
              <a:t>TraceLink</a:t>
            </a:r>
            <a:endParaRPr sz="1050" b="1" dirty="0"/>
          </a:p>
        </p:txBody>
      </p:sp>
      <p:sp>
        <p:nvSpPr>
          <p:cNvPr id="568" name="Rounded Rectangle 37"/>
          <p:cNvSpPr/>
          <p:nvPr/>
        </p:nvSpPr>
        <p:spPr>
          <a:xfrm>
            <a:off x="566927" y="5183563"/>
            <a:ext cx="11058116" cy="524372"/>
          </a:xfrm>
          <a:prstGeom prst="roundRect">
            <a:avLst>
              <a:gd name="adj" fmla="val 9590"/>
            </a:avLst>
          </a:prstGeom>
          <a:solidFill>
            <a:srgbClr val="F0F7F9"/>
          </a:solidFill>
          <a:ln>
            <a:solidFill>
              <a:srgbClr val="B8D5D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569" name="TextBox 38"/>
          <p:cNvSpPr txBox="1"/>
          <p:nvPr/>
        </p:nvSpPr>
        <p:spPr>
          <a:xfrm>
            <a:off x="566927" y="5314208"/>
            <a:ext cx="11058116" cy="2630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100">
                <a:solidFill>
                  <a:srgbClr val="1F6F8B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lang="en-US" altLang="zh-CN" sz="1600" b="1" dirty="0"/>
              <a:t>RAG </a:t>
            </a:r>
            <a:r>
              <a:rPr lang="zh-CN" altLang="en-US" sz="1600" b="1" dirty="0"/>
              <a:t>可以帮 </a:t>
            </a:r>
            <a:r>
              <a:rPr lang="en-US" altLang="zh-CN" sz="1600" b="1" dirty="0"/>
              <a:t>Agent </a:t>
            </a:r>
            <a:r>
              <a:rPr lang="zh-CN" altLang="en-US" sz="1600" b="1" dirty="0"/>
              <a:t>在调用 </a:t>
            </a:r>
            <a:r>
              <a:rPr lang="en-US" altLang="zh-CN" sz="1600" b="1" dirty="0"/>
              <a:t>API </a:t>
            </a:r>
            <a:r>
              <a:rPr lang="zh-CN" altLang="en-US" sz="1600" b="1" dirty="0"/>
              <a:t>前缩小阅读范围</a:t>
            </a:r>
            <a:endParaRPr sz="1600" b="1"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570" name="Rounded Rectangle 39"/>
          <p:cNvSpPr/>
          <p:nvPr/>
        </p:nvSpPr>
        <p:spPr>
          <a:xfrm>
            <a:off x="566927" y="5803276"/>
            <a:ext cx="11058116" cy="524372"/>
          </a:xfrm>
          <a:prstGeom prst="roundRect">
            <a:avLst>
              <a:gd name="adj" fmla="val 9590"/>
            </a:avLst>
          </a:prstGeom>
          <a:solidFill>
            <a:srgbClr val="FDF8EC"/>
          </a:solidFill>
          <a:ln>
            <a:solidFill>
              <a:srgbClr val="E9D29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571" name="TextBox 40"/>
          <p:cNvSpPr txBox="1"/>
          <p:nvPr/>
        </p:nvSpPr>
        <p:spPr>
          <a:xfrm>
            <a:off x="566927" y="5950366"/>
            <a:ext cx="11058116" cy="2301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100">
                <a:solidFill>
                  <a:srgbClr val="D99B06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lang="zh-CN" altLang="en-US" sz="1400" b="1" dirty="0">
                <a:latin typeface="+mj-lt"/>
                <a:ea typeface="+mj-ea"/>
                <a:cs typeface="+mj-cs"/>
                <a:sym typeface="Helvetica"/>
              </a:rPr>
              <a:t>索引不可用时工具返回 </a:t>
            </a:r>
            <a:r>
              <a:rPr lang="en-US" sz="1400" dirty="0"/>
              <a:t>found: false </a:t>
            </a:r>
            <a:r>
              <a:rPr lang="zh-CN" altLang="en-US" sz="1400" b="1" dirty="0">
                <a:latin typeface="+mj-lt"/>
                <a:ea typeface="+mj-ea"/>
                <a:cs typeface="+mj-cs"/>
                <a:sym typeface="Helvetica"/>
              </a:rPr>
              <a:t>与回退指引，</a:t>
            </a:r>
            <a:r>
              <a:rPr lang="en-US" sz="1400" dirty="0"/>
              <a:t>Agent </a:t>
            </a:r>
            <a:r>
              <a:rPr lang="zh-CN" altLang="en-US" sz="1400" b="1" dirty="0">
                <a:latin typeface="+mj-lt"/>
                <a:ea typeface="+mj-ea"/>
                <a:cs typeface="+mj-cs"/>
                <a:sym typeface="Helvetica"/>
              </a:rPr>
              <a:t>改用分页 </a:t>
            </a:r>
            <a:r>
              <a:rPr lang="en-US" altLang="zh-CN" sz="1400" dirty="0"/>
              <a:t>+ </a:t>
            </a:r>
            <a:r>
              <a:rPr lang="zh-CN" altLang="en-US" sz="1400" b="1" dirty="0">
                <a:latin typeface="+mj-lt"/>
                <a:ea typeface="+mj-ea"/>
                <a:cs typeface="+mj-cs"/>
                <a:sym typeface="Helvetica"/>
              </a:rPr>
              <a:t>文本搜索继续，流程不中断</a:t>
            </a: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Rectangle 1"/>
          <p:cNvSpPr/>
          <p:nvPr/>
        </p:nvSpPr>
        <p:spPr>
          <a:xfrm>
            <a:off x="-1" y="0"/>
            <a:ext cx="12191972" cy="6858000"/>
          </a:xfrm>
          <a:prstGeom prst="rect">
            <a:avLst/>
          </a:prstGeom>
          <a:solidFill>
            <a:srgbClr val="14262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74" name="TextBox 2"/>
          <p:cNvSpPr txBox="1"/>
          <p:nvPr/>
        </p:nvSpPr>
        <p:spPr>
          <a:xfrm>
            <a:off x="566927" y="1783079"/>
            <a:ext cx="3657601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6200">
                <a:solidFill>
                  <a:srgbClr val="2C4450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t>04</a:t>
            </a:r>
          </a:p>
        </p:txBody>
      </p:sp>
      <p:sp>
        <p:nvSpPr>
          <p:cNvPr id="575" name="TextBox 3"/>
          <p:cNvSpPr txBox="1"/>
          <p:nvPr/>
        </p:nvSpPr>
        <p:spPr>
          <a:xfrm>
            <a:off x="566927" y="2743200"/>
            <a:ext cx="9144001" cy="635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36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b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架构与关键技术</a:t>
            </a:r>
          </a:p>
        </p:txBody>
      </p:sp>
      <p:sp>
        <p:nvSpPr>
          <p:cNvPr id="576" name="Rounded Rectangle 4"/>
          <p:cNvSpPr/>
          <p:nvPr/>
        </p:nvSpPr>
        <p:spPr>
          <a:xfrm>
            <a:off x="566927" y="3931920"/>
            <a:ext cx="804673" cy="365761"/>
          </a:xfrm>
          <a:prstGeom prst="roundRect">
            <a:avLst>
              <a:gd name="adj" fmla="val 9000"/>
            </a:avLst>
          </a:prstGeom>
          <a:ln>
            <a:solidFill>
              <a:srgbClr val="4C7484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77" name="TextBox 5"/>
          <p:cNvSpPr txBox="1"/>
          <p:nvPr/>
        </p:nvSpPr>
        <p:spPr>
          <a:xfrm>
            <a:off x="566927" y="4025899"/>
            <a:ext cx="804673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14000"/>
              </a:lnSpc>
              <a:defRPr sz="1000">
                <a:solidFill>
                  <a:srgbClr val="CFE6ED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双运行壳</a:t>
            </a:r>
          </a:p>
        </p:txBody>
      </p:sp>
      <p:sp>
        <p:nvSpPr>
          <p:cNvPr id="578" name="Rounded Rectangle 6"/>
          <p:cNvSpPr/>
          <p:nvPr/>
        </p:nvSpPr>
        <p:spPr>
          <a:xfrm>
            <a:off x="1517903" y="3931920"/>
            <a:ext cx="1051561" cy="365761"/>
          </a:xfrm>
          <a:prstGeom prst="roundRect">
            <a:avLst>
              <a:gd name="adj" fmla="val 9000"/>
            </a:avLst>
          </a:prstGeom>
          <a:ln>
            <a:solidFill>
              <a:srgbClr val="4C7484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79" name="TextBox 7"/>
          <p:cNvSpPr txBox="1"/>
          <p:nvPr/>
        </p:nvSpPr>
        <p:spPr>
          <a:xfrm>
            <a:off x="1517903" y="4025899"/>
            <a:ext cx="105156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14000"/>
              </a:lnSpc>
              <a:defRPr sz="1000">
                <a:solidFill>
                  <a:srgbClr val="CFE6ED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四层依赖单向</a:t>
            </a:r>
          </a:p>
        </p:txBody>
      </p:sp>
      <p:sp>
        <p:nvSpPr>
          <p:cNvPr id="580" name="Rounded Rectangle 8"/>
          <p:cNvSpPr/>
          <p:nvPr/>
        </p:nvSpPr>
        <p:spPr>
          <a:xfrm>
            <a:off x="2715767" y="3931920"/>
            <a:ext cx="1668781" cy="365761"/>
          </a:xfrm>
          <a:prstGeom prst="roundRect">
            <a:avLst>
              <a:gd name="adj" fmla="val 9000"/>
            </a:avLst>
          </a:prstGeom>
          <a:ln>
            <a:solidFill>
              <a:srgbClr val="4C7484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81" name="TextBox 9"/>
          <p:cNvSpPr txBox="1"/>
          <p:nvPr/>
        </p:nvSpPr>
        <p:spPr>
          <a:xfrm>
            <a:off x="2715767" y="4025899"/>
            <a:ext cx="166878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000">
                <a:solidFill>
                  <a:srgbClr val="CFE6ED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t>Protocol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契约</a:t>
            </a:r>
          </a:p>
        </p:txBody>
      </p:sp>
      <p:sp>
        <p:nvSpPr>
          <p:cNvPr id="582" name="Rounded Rectangle 10"/>
          <p:cNvSpPr/>
          <p:nvPr/>
        </p:nvSpPr>
        <p:spPr>
          <a:xfrm>
            <a:off x="4530852" y="3931920"/>
            <a:ext cx="1051561" cy="365761"/>
          </a:xfrm>
          <a:prstGeom prst="roundRect">
            <a:avLst>
              <a:gd name="adj" fmla="val 9000"/>
            </a:avLst>
          </a:prstGeom>
          <a:ln>
            <a:solidFill>
              <a:srgbClr val="4C7484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83" name="TextBox 11"/>
          <p:cNvSpPr txBox="1"/>
          <p:nvPr/>
        </p:nvSpPr>
        <p:spPr>
          <a:xfrm>
            <a:off x="4530852" y="4025899"/>
            <a:ext cx="105156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14000"/>
              </a:lnSpc>
              <a:defRPr sz="1000">
                <a:solidFill>
                  <a:srgbClr val="CFE6ED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十类设计模式</a:t>
            </a:r>
          </a:p>
        </p:txBody>
      </p:sp>
      <p:sp>
        <p:nvSpPr>
          <p:cNvPr id="584" name="Rounded Rectangle 12"/>
          <p:cNvSpPr/>
          <p:nvPr/>
        </p:nvSpPr>
        <p:spPr>
          <a:xfrm>
            <a:off x="5728715" y="3931920"/>
            <a:ext cx="804673" cy="365761"/>
          </a:xfrm>
          <a:prstGeom prst="roundRect">
            <a:avLst>
              <a:gd name="adj" fmla="val 9000"/>
            </a:avLst>
          </a:prstGeom>
          <a:ln>
            <a:solidFill>
              <a:srgbClr val="4C7484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85" name="TextBox 13"/>
          <p:cNvSpPr txBox="1"/>
          <p:nvPr/>
        </p:nvSpPr>
        <p:spPr>
          <a:xfrm>
            <a:off x="5728715" y="4025899"/>
            <a:ext cx="804673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14000"/>
              </a:lnSpc>
              <a:defRPr sz="1000">
                <a:solidFill>
                  <a:srgbClr val="CFE6ED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关键技术</a:t>
            </a:r>
          </a:p>
        </p:txBody>
      </p:sp>
      <p:sp>
        <p:nvSpPr>
          <p:cNvPr id="586" name="TextBox 14"/>
          <p:cNvSpPr txBox="1"/>
          <p:nvPr/>
        </p:nvSpPr>
        <p:spPr>
          <a:xfrm>
            <a:off x="11231850" y="6473952"/>
            <a:ext cx="4572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900">
                <a:solidFill>
                  <a:srgbClr val="4C748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lvl1pPr>
          </a:lstStyle>
          <a:p>
            <a:r>
              <a:t>19</a:t>
            </a: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Rectangle 2"/>
          <p:cNvSpPr/>
          <p:nvPr/>
        </p:nvSpPr>
        <p:spPr>
          <a:xfrm>
            <a:off x="-1" y="0"/>
            <a:ext cx="56695" cy="6858000"/>
          </a:xfrm>
          <a:prstGeom prst="rect">
            <a:avLst/>
          </a:prstGeom>
          <a:solidFill>
            <a:srgbClr val="1F6F8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590" name="TextBox 3"/>
          <p:cNvSpPr txBox="1"/>
          <p:nvPr/>
        </p:nvSpPr>
        <p:spPr>
          <a:xfrm>
            <a:off x="566927" y="384047"/>
            <a:ext cx="1105811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1F6F8B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t>DEPLOYMENT</a:t>
            </a:r>
          </a:p>
        </p:txBody>
      </p:sp>
      <p:sp>
        <p:nvSpPr>
          <p:cNvPr id="591" name="TextBox 4"/>
          <p:cNvSpPr txBox="1"/>
          <p:nvPr/>
        </p:nvSpPr>
        <p:spPr>
          <a:xfrm>
            <a:off x="566927" y="603504"/>
            <a:ext cx="11058116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500" b="1">
                <a:solidFill>
                  <a:srgbClr val="14181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b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b="1" dirty="0" err="1">
                <a:latin typeface="+mj-lt"/>
                <a:ea typeface="+mj-ea"/>
                <a:cs typeface="+mj-cs"/>
                <a:sym typeface="Helvetica"/>
              </a:rPr>
              <a:t>总体架构：本地优先、单体后端、双运行壳</a:t>
            </a:r>
            <a:endParaRPr b="1"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592" name="TextBox 5"/>
          <p:cNvSpPr txBox="1"/>
          <p:nvPr/>
        </p:nvSpPr>
        <p:spPr>
          <a:xfrm>
            <a:off x="11231850" y="6473952"/>
            <a:ext cx="4572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9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lvl1pPr>
          </a:lstStyle>
          <a:p>
            <a:r>
              <a:t>20</a:t>
            </a:r>
          </a:p>
        </p:txBody>
      </p:sp>
      <p:sp>
        <p:nvSpPr>
          <p:cNvPr id="593" name="Rounded Rectangle 6"/>
          <p:cNvSpPr/>
          <p:nvPr/>
        </p:nvSpPr>
        <p:spPr>
          <a:xfrm>
            <a:off x="303791" y="1298447"/>
            <a:ext cx="2743201" cy="546653"/>
          </a:xfrm>
          <a:prstGeom prst="roundRect">
            <a:avLst>
              <a:gd name="adj" fmla="val 9200"/>
            </a:avLst>
          </a:prstGeom>
          <a:solidFill>
            <a:srgbClr val="14181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594" name="TextBox 7"/>
          <p:cNvSpPr txBox="1"/>
          <p:nvPr/>
        </p:nvSpPr>
        <p:spPr>
          <a:xfrm>
            <a:off x="303791" y="1442283"/>
            <a:ext cx="2743201" cy="2589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ctr">
              <a:lnSpc>
                <a:spcPct val="114000"/>
              </a:lnSpc>
              <a:defRPr sz="12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b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600" b="1" dirty="0" err="1">
                <a:latin typeface="+mj-lt"/>
                <a:ea typeface="+mj-ea"/>
                <a:cs typeface="+mj-cs"/>
                <a:sym typeface="Helvetica"/>
              </a:rPr>
              <a:t>运行壳</a:t>
            </a:r>
            <a:endParaRPr sz="1600" b="1"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595" name="Rounded Rectangle 8"/>
          <p:cNvSpPr/>
          <p:nvPr/>
        </p:nvSpPr>
        <p:spPr>
          <a:xfrm>
            <a:off x="3229872" y="1298447"/>
            <a:ext cx="4023360" cy="546653"/>
          </a:xfrm>
          <a:prstGeom prst="roundRect">
            <a:avLst>
              <a:gd name="adj" fmla="val 9200"/>
            </a:avLst>
          </a:prstGeom>
          <a:solidFill>
            <a:srgbClr val="1F6F8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596" name="TextBox 9"/>
          <p:cNvSpPr txBox="1"/>
          <p:nvPr/>
        </p:nvSpPr>
        <p:spPr>
          <a:xfrm>
            <a:off x="3229872" y="1440231"/>
            <a:ext cx="4023360" cy="2630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200">
                <a:solidFill>
                  <a:srgbClr val="FFFFFF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600"/>
              <a:t>FastAPI </a:t>
            </a:r>
            <a:r>
              <a:rPr sz="1600" b="1">
                <a:latin typeface="+mj-lt"/>
                <a:ea typeface="+mj-ea"/>
                <a:cs typeface="+mj-cs"/>
                <a:sym typeface="Helvetica"/>
              </a:rPr>
              <a:t>单体后端 </a:t>
            </a:r>
            <a:r>
              <a:rPr sz="1600"/>
              <a:t>· /api/v1</a:t>
            </a:r>
          </a:p>
        </p:txBody>
      </p:sp>
      <p:sp>
        <p:nvSpPr>
          <p:cNvPr id="597" name="Rounded Rectangle 10"/>
          <p:cNvSpPr/>
          <p:nvPr/>
        </p:nvSpPr>
        <p:spPr>
          <a:xfrm>
            <a:off x="7436111" y="1298447"/>
            <a:ext cx="2377441" cy="546653"/>
          </a:xfrm>
          <a:prstGeom prst="roundRect">
            <a:avLst>
              <a:gd name="adj" fmla="val 9200"/>
            </a:avLst>
          </a:prstGeom>
          <a:solidFill>
            <a:srgbClr val="D99B0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598" name="TextBox 11"/>
          <p:cNvSpPr txBox="1"/>
          <p:nvPr/>
        </p:nvSpPr>
        <p:spPr>
          <a:xfrm>
            <a:off x="7436111" y="1442283"/>
            <a:ext cx="2377441" cy="2589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ctr">
              <a:lnSpc>
                <a:spcPct val="114000"/>
              </a:lnSpc>
              <a:defRPr sz="12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b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600" b="1">
                <a:latin typeface="+mj-lt"/>
                <a:ea typeface="+mj-ea"/>
                <a:cs typeface="+mj-cs"/>
                <a:sym typeface="Helvetica"/>
              </a:rPr>
              <a:t>可选外部服务</a:t>
            </a:r>
          </a:p>
        </p:txBody>
      </p:sp>
      <p:sp>
        <p:nvSpPr>
          <p:cNvPr id="599" name="Rounded Rectangle 12"/>
          <p:cNvSpPr/>
          <p:nvPr/>
        </p:nvSpPr>
        <p:spPr>
          <a:xfrm>
            <a:off x="9996432" y="1298447"/>
            <a:ext cx="1828801" cy="546653"/>
          </a:xfrm>
          <a:prstGeom prst="roundRect">
            <a:avLst>
              <a:gd name="adj" fmla="val 9200"/>
            </a:avLst>
          </a:prstGeom>
          <a:solidFill>
            <a:srgbClr val="4A546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600" name="TextBox 13"/>
          <p:cNvSpPr txBox="1"/>
          <p:nvPr/>
        </p:nvSpPr>
        <p:spPr>
          <a:xfrm>
            <a:off x="9996432" y="1439430"/>
            <a:ext cx="1828801" cy="2646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ctr">
              <a:lnSpc>
                <a:spcPct val="114000"/>
              </a:lnSpc>
              <a:defRPr sz="1200">
                <a:solidFill>
                  <a:srgbClr val="FFFFFF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rPr sz="1600"/>
              <a:t>Sync Server</a:t>
            </a:r>
          </a:p>
        </p:txBody>
      </p:sp>
      <p:sp>
        <p:nvSpPr>
          <p:cNvPr id="601" name="Rounded Rectangle 14"/>
          <p:cNvSpPr/>
          <p:nvPr/>
        </p:nvSpPr>
        <p:spPr>
          <a:xfrm>
            <a:off x="303791" y="3639521"/>
            <a:ext cx="2743201" cy="658369"/>
          </a:xfrm>
          <a:prstGeom prst="roundRect">
            <a:avLst>
              <a:gd name="adj" fmla="val 7638"/>
            </a:avLst>
          </a:prstGeom>
          <a:solidFill>
            <a:srgbClr val="F0F7F9"/>
          </a:solidFill>
          <a:ln>
            <a:solidFill>
              <a:srgbClr val="B8D5D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602" name="TextBox 15"/>
          <p:cNvSpPr txBox="1"/>
          <p:nvPr/>
        </p:nvSpPr>
        <p:spPr>
          <a:xfrm>
            <a:off x="395231" y="3785719"/>
            <a:ext cx="2560322" cy="418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100">
                <a:solidFill>
                  <a:srgbClr val="1F6F8B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lang="en-US" sz="1400" dirty="0" err="1"/>
              <a:t>Vscode</a:t>
            </a:r>
            <a:r>
              <a:rPr lang="en-US" sz="1400" dirty="0"/>
              <a:t> </a:t>
            </a:r>
            <a:r>
              <a:rPr lang="zh-CN" altLang="en-US" sz="1400" dirty="0"/>
              <a:t>扩展</a:t>
            </a:r>
            <a:endParaRPr sz="1400" b="1" dirty="0">
              <a:latin typeface="+mj-lt"/>
              <a:ea typeface="+mj-ea"/>
              <a:cs typeface="+mj-cs"/>
              <a:sym typeface="Helvetica"/>
            </a:endParaRPr>
          </a:p>
          <a:p>
            <a:pPr algn="ctr">
              <a:lnSpc>
                <a:spcPct val="114000"/>
              </a:lnSpc>
              <a:defRPr sz="9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zh-CN" altLang="en-US" sz="1050" dirty="0">
                <a:latin typeface="+mj-lt"/>
                <a:ea typeface="+mj-ea"/>
                <a:cs typeface="+mj-cs"/>
                <a:sym typeface="Helvetica"/>
              </a:rPr>
              <a:t>能力可迁移到外部 </a:t>
            </a:r>
            <a:r>
              <a:rPr lang="en-US" altLang="zh-CN" sz="1050" dirty="0">
                <a:latin typeface="+mj-lt"/>
                <a:ea typeface="+mj-ea"/>
                <a:cs typeface="+mj-cs"/>
                <a:sym typeface="Helvetica"/>
              </a:rPr>
              <a:t>ide</a:t>
            </a:r>
            <a:endParaRPr sz="1050"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603" name="Rounded Rectangle 16"/>
          <p:cNvSpPr/>
          <p:nvPr/>
        </p:nvSpPr>
        <p:spPr>
          <a:xfrm>
            <a:off x="293812" y="2523635"/>
            <a:ext cx="2743201" cy="983974"/>
          </a:xfrm>
          <a:prstGeom prst="roundRect">
            <a:avLst>
              <a:gd name="adj" fmla="val 5111"/>
            </a:avLst>
          </a:prstGeom>
          <a:solidFill>
            <a:srgbClr val="F5F2FC"/>
          </a:solidFill>
          <a:ln>
            <a:solidFill>
              <a:srgbClr val="CCC0E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604" name="TextBox 17"/>
          <p:cNvSpPr txBox="1"/>
          <p:nvPr/>
        </p:nvSpPr>
        <p:spPr>
          <a:xfrm>
            <a:off x="385252" y="2802226"/>
            <a:ext cx="2560322" cy="418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100">
                <a:solidFill>
                  <a:srgbClr val="7A5CC4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400"/>
              <a:t>Desktop · Tauri 2</a:t>
            </a:r>
          </a:p>
          <a:p>
            <a:pPr algn="ctr">
              <a:lnSpc>
                <a:spcPct val="114000"/>
              </a:lnSpc>
              <a:defRPr sz="9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050"/>
              <a:t>Rust </a:t>
            </a:r>
            <a:r>
              <a:rPr sz="1050">
                <a:latin typeface="+mj-lt"/>
                <a:ea typeface="+mj-ea"/>
                <a:cs typeface="+mj-cs"/>
                <a:sym typeface="Helvetica"/>
              </a:rPr>
              <a:t>壳 </a:t>
            </a:r>
            <a:r>
              <a:rPr sz="1050"/>
              <a:t>+ sidecar</a:t>
            </a:r>
          </a:p>
        </p:txBody>
      </p:sp>
      <p:sp>
        <p:nvSpPr>
          <p:cNvPr id="607" name="Rounded Rectangle 20"/>
          <p:cNvSpPr/>
          <p:nvPr/>
        </p:nvSpPr>
        <p:spPr>
          <a:xfrm>
            <a:off x="303791" y="4416117"/>
            <a:ext cx="2743201" cy="983974"/>
          </a:xfrm>
          <a:prstGeom prst="roundRect">
            <a:avLst>
              <a:gd name="adj" fmla="val 5111"/>
            </a:avLst>
          </a:prstGeom>
          <a:solidFill>
            <a:srgbClr val="FDF8EC"/>
          </a:solidFill>
          <a:ln>
            <a:solidFill>
              <a:srgbClr val="E9D29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608" name="TextBox 21"/>
          <p:cNvSpPr txBox="1"/>
          <p:nvPr/>
        </p:nvSpPr>
        <p:spPr>
          <a:xfrm>
            <a:off x="395231" y="4606869"/>
            <a:ext cx="2560322" cy="602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100">
                <a:solidFill>
                  <a:srgbClr val="D99B06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400"/>
              <a:t>Desktop </a:t>
            </a:r>
            <a:r>
              <a:rPr sz="1400" b="1">
                <a:latin typeface="+mj-lt"/>
                <a:ea typeface="+mj-ea"/>
                <a:cs typeface="+mj-cs"/>
                <a:sym typeface="Helvetica"/>
              </a:rPr>
              <a:t>独有</a:t>
            </a:r>
          </a:p>
          <a:p>
            <a:pPr algn="ctr">
              <a:lnSpc>
                <a:spcPct val="114000"/>
              </a:lnSpc>
              <a:defRPr sz="9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050"/>
              <a:t>basedpyright LSP</a:t>
            </a:r>
          </a:p>
          <a:p>
            <a:pPr algn="ctr">
              <a:lnSpc>
                <a:spcPct val="114000"/>
              </a:lnSpc>
              <a:defRPr sz="9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050"/>
              <a:t>PTY </a:t>
            </a:r>
            <a:r>
              <a:rPr sz="1050">
                <a:latin typeface="+mj-lt"/>
                <a:ea typeface="+mj-ea"/>
                <a:cs typeface="+mj-cs"/>
                <a:sym typeface="Helvetica"/>
              </a:rPr>
              <a:t>终端</a:t>
            </a:r>
          </a:p>
        </p:txBody>
      </p:sp>
      <p:sp>
        <p:nvSpPr>
          <p:cNvPr id="609" name="Rounded Rectangle 22"/>
          <p:cNvSpPr/>
          <p:nvPr/>
        </p:nvSpPr>
        <p:spPr>
          <a:xfrm>
            <a:off x="3229872" y="1981762"/>
            <a:ext cx="4023360" cy="737981"/>
          </a:xfrm>
          <a:prstGeom prst="roundRect">
            <a:avLst>
              <a:gd name="adj" fmla="val 6814"/>
            </a:avLst>
          </a:prstGeom>
          <a:solidFill>
            <a:srgbClr val="F0F7F9"/>
          </a:solidFill>
          <a:ln>
            <a:solidFill>
              <a:srgbClr val="B8D5D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610" name="TextBox 23"/>
          <p:cNvSpPr txBox="1"/>
          <p:nvPr/>
        </p:nvSpPr>
        <p:spPr>
          <a:xfrm>
            <a:off x="3229872" y="2145249"/>
            <a:ext cx="4023360" cy="4110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100">
                <a:solidFill>
                  <a:srgbClr val="1F6F8B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400" b="1">
                <a:latin typeface="+mj-lt"/>
                <a:ea typeface="+mj-ea"/>
                <a:cs typeface="+mj-cs"/>
                <a:sym typeface="Helvetica"/>
              </a:rPr>
              <a:t>接口层 </a:t>
            </a:r>
            <a:r>
              <a:rPr sz="1400"/>
              <a:t>· routes + schemas</a:t>
            </a:r>
          </a:p>
          <a:p>
            <a:pPr algn="ctr">
              <a:lnSpc>
                <a:spcPct val="114000"/>
              </a:lnSpc>
              <a:defRPr sz="8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000"/>
              <a:t>projects · papers · repositories · traces · agent · workspace · rag</a:t>
            </a:r>
          </a:p>
        </p:txBody>
      </p:sp>
      <p:sp>
        <p:nvSpPr>
          <p:cNvPr id="611" name="Rounded Rectangle 24"/>
          <p:cNvSpPr/>
          <p:nvPr/>
        </p:nvSpPr>
        <p:spPr>
          <a:xfrm>
            <a:off x="3321311" y="2856406"/>
            <a:ext cx="1219201" cy="491987"/>
          </a:xfrm>
          <a:prstGeom prst="roundRect">
            <a:avLst>
              <a:gd name="adj" fmla="val 10222"/>
            </a:avLst>
          </a:prstGeom>
          <a:solidFill>
            <a:srgbClr val="F5F2FC"/>
          </a:solidFill>
          <a:ln>
            <a:solidFill>
              <a:srgbClr val="CCC0E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612" name="TextBox 25"/>
          <p:cNvSpPr txBox="1"/>
          <p:nvPr/>
        </p:nvSpPr>
        <p:spPr>
          <a:xfrm>
            <a:off x="3321311" y="3015549"/>
            <a:ext cx="1219201" cy="173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ctr">
              <a:lnSpc>
                <a:spcPct val="114000"/>
              </a:lnSpc>
              <a:defRPr sz="900">
                <a:solidFill>
                  <a:srgbClr val="7A5CC4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rPr sz="1050"/>
              <a:t>document_parsers</a:t>
            </a:r>
          </a:p>
        </p:txBody>
      </p:sp>
      <p:sp>
        <p:nvSpPr>
          <p:cNvPr id="613" name="Rounded Rectangle 26"/>
          <p:cNvSpPr/>
          <p:nvPr/>
        </p:nvSpPr>
        <p:spPr>
          <a:xfrm>
            <a:off x="4631952" y="2856406"/>
            <a:ext cx="1219201" cy="491987"/>
          </a:xfrm>
          <a:prstGeom prst="roundRect">
            <a:avLst>
              <a:gd name="adj" fmla="val 10222"/>
            </a:avLst>
          </a:prstGeom>
          <a:solidFill>
            <a:srgbClr val="F5F2FC"/>
          </a:solidFill>
          <a:ln>
            <a:solidFill>
              <a:srgbClr val="CCC0E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614" name="TextBox 27"/>
          <p:cNvSpPr txBox="1"/>
          <p:nvPr/>
        </p:nvSpPr>
        <p:spPr>
          <a:xfrm>
            <a:off x="4627189" y="3088287"/>
            <a:ext cx="1219201" cy="173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ctr">
              <a:lnSpc>
                <a:spcPct val="114000"/>
              </a:lnSpc>
              <a:defRPr sz="900">
                <a:solidFill>
                  <a:srgbClr val="7A5CC4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rPr sz="1050"/>
              <a:t>code_analysis</a:t>
            </a:r>
          </a:p>
        </p:txBody>
      </p:sp>
      <p:sp>
        <p:nvSpPr>
          <p:cNvPr id="615" name="Rounded Rectangle 28"/>
          <p:cNvSpPr/>
          <p:nvPr/>
        </p:nvSpPr>
        <p:spPr>
          <a:xfrm>
            <a:off x="5942592" y="2856406"/>
            <a:ext cx="1219201" cy="491987"/>
          </a:xfrm>
          <a:prstGeom prst="roundRect">
            <a:avLst>
              <a:gd name="adj" fmla="val 10222"/>
            </a:avLst>
          </a:prstGeom>
          <a:solidFill>
            <a:srgbClr val="F5F2FC"/>
          </a:solidFill>
          <a:ln>
            <a:solidFill>
              <a:srgbClr val="CCC0E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616" name="TextBox 29"/>
          <p:cNvSpPr txBox="1"/>
          <p:nvPr/>
        </p:nvSpPr>
        <p:spPr>
          <a:xfrm>
            <a:off x="5942592" y="3015549"/>
            <a:ext cx="1219201" cy="173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ctr">
              <a:lnSpc>
                <a:spcPct val="114000"/>
              </a:lnSpc>
              <a:defRPr sz="900">
                <a:solidFill>
                  <a:srgbClr val="7A5CC4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rPr sz="1050"/>
              <a:t>tensor_flow</a:t>
            </a:r>
          </a:p>
        </p:txBody>
      </p:sp>
      <p:sp>
        <p:nvSpPr>
          <p:cNvPr id="617" name="Rounded Rectangle 30"/>
          <p:cNvSpPr/>
          <p:nvPr/>
        </p:nvSpPr>
        <p:spPr>
          <a:xfrm>
            <a:off x="3321311" y="3430391"/>
            <a:ext cx="1219201" cy="491987"/>
          </a:xfrm>
          <a:prstGeom prst="roundRect">
            <a:avLst>
              <a:gd name="adj" fmla="val 10222"/>
            </a:avLst>
          </a:prstGeom>
          <a:solidFill>
            <a:srgbClr val="EFF9F6"/>
          </a:solidFill>
          <a:ln>
            <a:solidFill>
              <a:srgbClr val="B3DED4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618" name="TextBox 31"/>
          <p:cNvSpPr txBox="1"/>
          <p:nvPr/>
        </p:nvSpPr>
        <p:spPr>
          <a:xfrm>
            <a:off x="3321311" y="3589534"/>
            <a:ext cx="1219201" cy="173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ctr">
              <a:lnSpc>
                <a:spcPct val="114000"/>
              </a:lnSpc>
              <a:defRPr sz="900">
                <a:solidFill>
                  <a:srgbClr val="1F8F78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rPr sz="1050"/>
              <a:t>tracing</a:t>
            </a:r>
          </a:p>
        </p:txBody>
      </p:sp>
      <p:sp>
        <p:nvSpPr>
          <p:cNvPr id="619" name="Rounded Rectangle 32"/>
          <p:cNvSpPr/>
          <p:nvPr/>
        </p:nvSpPr>
        <p:spPr>
          <a:xfrm>
            <a:off x="4631952" y="3430391"/>
            <a:ext cx="1219201" cy="491987"/>
          </a:xfrm>
          <a:prstGeom prst="roundRect">
            <a:avLst>
              <a:gd name="adj" fmla="val 10222"/>
            </a:avLst>
          </a:prstGeom>
          <a:solidFill>
            <a:srgbClr val="EFF9F6"/>
          </a:solidFill>
          <a:ln>
            <a:solidFill>
              <a:srgbClr val="B3DED4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620" name="TextBox 33"/>
          <p:cNvSpPr txBox="1"/>
          <p:nvPr/>
        </p:nvSpPr>
        <p:spPr>
          <a:xfrm>
            <a:off x="4631952" y="3589534"/>
            <a:ext cx="1219201" cy="173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ctr">
              <a:lnSpc>
                <a:spcPct val="114000"/>
              </a:lnSpc>
              <a:defRPr sz="900">
                <a:solidFill>
                  <a:srgbClr val="1F8F78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rPr sz="1050"/>
              <a:t>agent</a:t>
            </a:r>
          </a:p>
        </p:txBody>
      </p:sp>
      <p:sp>
        <p:nvSpPr>
          <p:cNvPr id="621" name="Rounded Rectangle 34"/>
          <p:cNvSpPr/>
          <p:nvPr/>
        </p:nvSpPr>
        <p:spPr>
          <a:xfrm>
            <a:off x="5942592" y="3430391"/>
            <a:ext cx="1219201" cy="491987"/>
          </a:xfrm>
          <a:prstGeom prst="roundRect">
            <a:avLst>
              <a:gd name="adj" fmla="val 10222"/>
            </a:avLst>
          </a:prstGeom>
          <a:solidFill>
            <a:srgbClr val="EFF9F6"/>
          </a:solidFill>
          <a:ln>
            <a:solidFill>
              <a:srgbClr val="B3DED4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622" name="TextBox 35"/>
          <p:cNvSpPr txBox="1"/>
          <p:nvPr/>
        </p:nvSpPr>
        <p:spPr>
          <a:xfrm>
            <a:off x="5942592" y="3589534"/>
            <a:ext cx="1219201" cy="173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ctr">
              <a:lnSpc>
                <a:spcPct val="114000"/>
              </a:lnSpc>
              <a:defRPr sz="900">
                <a:solidFill>
                  <a:srgbClr val="1F8F78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rPr sz="1050"/>
              <a:t>rag</a:t>
            </a:r>
          </a:p>
        </p:txBody>
      </p:sp>
      <p:sp>
        <p:nvSpPr>
          <p:cNvPr id="623" name="TextBox 36"/>
          <p:cNvSpPr txBox="1"/>
          <p:nvPr/>
        </p:nvSpPr>
        <p:spPr>
          <a:xfrm>
            <a:off x="4805306" y="2884930"/>
            <a:ext cx="1838326" cy="1615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8B95A5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050" b="1">
                <a:latin typeface="+mj-lt"/>
                <a:ea typeface="+mj-ea"/>
                <a:cs typeface="+mj-cs"/>
                <a:sym typeface="Helvetica"/>
              </a:rPr>
              <a:t>领域层 </a:t>
            </a:r>
            <a:r>
              <a:rPr sz="1050"/>
              <a:t>· services</a:t>
            </a:r>
          </a:p>
        </p:txBody>
      </p:sp>
      <p:sp>
        <p:nvSpPr>
          <p:cNvPr id="624" name="Rounded Rectangle 37"/>
          <p:cNvSpPr/>
          <p:nvPr/>
        </p:nvSpPr>
        <p:spPr>
          <a:xfrm>
            <a:off x="3229872" y="4113705"/>
            <a:ext cx="4023360" cy="655983"/>
          </a:xfrm>
          <a:prstGeom prst="roundRect">
            <a:avLst>
              <a:gd name="adj" fmla="val 7666"/>
            </a:avLst>
          </a:prstGeom>
          <a:solidFill>
            <a:srgbClr val="F5F7F9"/>
          </a:solidFill>
          <a:ln>
            <a:solidFill>
              <a:srgbClr val="DFE4EC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625" name="TextBox 38"/>
          <p:cNvSpPr txBox="1"/>
          <p:nvPr/>
        </p:nvSpPr>
        <p:spPr>
          <a:xfrm>
            <a:off x="3234635" y="4262482"/>
            <a:ext cx="4023360" cy="3584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000">
                <a:solidFill>
                  <a:srgbClr val="14181F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100" b="1">
                <a:latin typeface="+mj-lt"/>
                <a:ea typeface="+mj-ea"/>
                <a:cs typeface="+mj-cs"/>
                <a:sym typeface="Helvetica"/>
              </a:rPr>
              <a:t>持久化层 </a:t>
            </a:r>
            <a:r>
              <a:rPr sz="1100"/>
              <a:t>· SQLModel / SQLAlchemy</a:t>
            </a:r>
          </a:p>
          <a:p>
            <a:pPr algn="ctr">
              <a:lnSpc>
                <a:spcPct val="114000"/>
              </a:lnSpc>
              <a:defRPr sz="8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000"/>
              <a:t>migration_runner · file_store</a:t>
            </a:r>
          </a:p>
        </p:txBody>
      </p:sp>
      <p:sp>
        <p:nvSpPr>
          <p:cNvPr id="626" name="Rounded Rectangle 39"/>
          <p:cNvSpPr/>
          <p:nvPr/>
        </p:nvSpPr>
        <p:spPr>
          <a:xfrm>
            <a:off x="3229872" y="4879018"/>
            <a:ext cx="4023360" cy="655983"/>
          </a:xfrm>
          <a:prstGeom prst="roundRect">
            <a:avLst>
              <a:gd name="adj" fmla="val 7666"/>
            </a:avLst>
          </a:prstGeom>
          <a:solidFill>
            <a:srgbClr val="FFFFFF"/>
          </a:solidFill>
          <a:ln>
            <a:solidFill>
              <a:srgbClr val="DFE4EC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627" name="TextBox 40"/>
          <p:cNvSpPr txBox="1"/>
          <p:nvPr/>
        </p:nvSpPr>
        <p:spPr>
          <a:xfrm>
            <a:off x="3229872" y="5028308"/>
            <a:ext cx="4023360" cy="357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000">
                <a:solidFill>
                  <a:srgbClr val="14181F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100"/>
              <a:t>lifespan </a:t>
            </a:r>
            <a:r>
              <a:rPr sz="1100" b="1">
                <a:latin typeface="+mj-lt"/>
                <a:ea typeface="+mj-ea"/>
                <a:cs typeface="+mj-cs"/>
                <a:sym typeface="Helvetica"/>
              </a:rPr>
              <a:t>恢复</a:t>
            </a:r>
          </a:p>
          <a:p>
            <a:pPr algn="ctr">
              <a:lnSpc>
                <a:spcPct val="114000"/>
              </a:lnSpc>
              <a:defRPr sz="8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000"/>
              <a:t>init_db → </a:t>
            </a:r>
            <a:r>
              <a:rPr sz="1000">
                <a:latin typeface="+mj-lt"/>
                <a:ea typeface="+mj-ea"/>
                <a:cs typeface="+mj-cs"/>
                <a:sym typeface="Helvetica"/>
              </a:rPr>
              <a:t>回调 </a:t>
            </a:r>
            <a:r>
              <a:rPr sz="1000"/>
              <a:t>→ </a:t>
            </a:r>
            <a:r>
              <a:rPr sz="1000">
                <a:latin typeface="+mj-lt"/>
                <a:ea typeface="+mj-ea"/>
                <a:cs typeface="+mj-cs"/>
                <a:sym typeface="Helvetica"/>
              </a:rPr>
              <a:t>恢复分析 </a:t>
            </a:r>
            <a:r>
              <a:rPr sz="1000"/>
              <a:t>→ </a:t>
            </a:r>
            <a:r>
              <a:rPr sz="1000">
                <a:latin typeface="+mj-lt"/>
                <a:ea typeface="+mj-ea"/>
                <a:cs typeface="+mj-cs"/>
                <a:sym typeface="Helvetica"/>
              </a:rPr>
              <a:t>恢复 </a:t>
            </a:r>
            <a:r>
              <a:rPr sz="1000"/>
              <a:t>Run</a:t>
            </a:r>
          </a:p>
        </p:txBody>
      </p:sp>
      <p:sp>
        <p:nvSpPr>
          <p:cNvPr id="628" name="Rounded Rectangle 41"/>
          <p:cNvSpPr/>
          <p:nvPr/>
        </p:nvSpPr>
        <p:spPr>
          <a:xfrm>
            <a:off x="3229872" y="5644331"/>
            <a:ext cx="4023360" cy="655983"/>
          </a:xfrm>
          <a:prstGeom prst="roundRect">
            <a:avLst>
              <a:gd name="adj" fmla="val 7666"/>
            </a:avLst>
          </a:prstGeom>
          <a:solidFill>
            <a:srgbClr val="F0F7F9"/>
          </a:solidFill>
          <a:ln>
            <a:solidFill>
              <a:srgbClr val="B8D5D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629" name="TextBox 42"/>
          <p:cNvSpPr txBox="1"/>
          <p:nvPr/>
        </p:nvSpPr>
        <p:spPr>
          <a:xfrm>
            <a:off x="3229872" y="5793108"/>
            <a:ext cx="4023360" cy="3584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000">
                <a:solidFill>
                  <a:srgbClr val="1F6F8B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100" b="1">
                <a:latin typeface="+mj-lt"/>
                <a:ea typeface="+mj-ea"/>
                <a:cs typeface="+mj-cs"/>
                <a:sym typeface="Helvetica"/>
              </a:rPr>
              <a:t>本机持久化</a:t>
            </a:r>
          </a:p>
          <a:p>
            <a:pPr algn="ctr">
              <a:lnSpc>
                <a:spcPct val="114000"/>
              </a:lnSpc>
              <a:defRPr sz="8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000"/>
              <a:t>SQLite workbench.db · uploads / data</a:t>
            </a:r>
          </a:p>
        </p:txBody>
      </p:sp>
      <p:sp>
        <p:nvSpPr>
          <p:cNvPr id="630" name="Rounded Rectangle 43"/>
          <p:cNvSpPr/>
          <p:nvPr/>
        </p:nvSpPr>
        <p:spPr>
          <a:xfrm>
            <a:off x="7436111" y="1981762"/>
            <a:ext cx="2377441" cy="792646"/>
          </a:xfrm>
          <a:prstGeom prst="roundRect">
            <a:avLst>
              <a:gd name="adj" fmla="val 6344"/>
            </a:avLst>
          </a:prstGeom>
          <a:solidFill>
            <a:srgbClr val="FFFFFF"/>
          </a:solidFill>
          <a:ln>
            <a:solidFill>
              <a:srgbClr val="DFE4EC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631" name="TextBox 44"/>
          <p:cNvSpPr txBox="1"/>
          <p:nvPr/>
        </p:nvSpPr>
        <p:spPr>
          <a:xfrm>
            <a:off x="7509264" y="2112950"/>
            <a:ext cx="2231136" cy="5302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000">
                <a:solidFill>
                  <a:srgbClr val="14181F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100"/>
              <a:t>MinerU</a:t>
            </a:r>
          </a:p>
          <a:p>
            <a:pPr algn="ctr">
              <a:lnSpc>
                <a:spcPct val="114000"/>
              </a:lnSpc>
              <a:defRPr sz="8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000">
                <a:latin typeface="+mj-lt"/>
                <a:ea typeface="+mj-ea"/>
                <a:cs typeface="+mj-cs"/>
                <a:sym typeface="Helvetica"/>
              </a:rPr>
              <a:t>本地 </a:t>
            </a:r>
            <a:r>
              <a:rPr sz="1000"/>
              <a:t> / </a:t>
            </a:r>
            <a:r>
              <a:rPr sz="1000">
                <a:latin typeface="+mj-lt"/>
                <a:ea typeface="+mj-ea"/>
                <a:cs typeface="+mj-cs"/>
                <a:sym typeface="Helvetica"/>
              </a:rPr>
              <a:t>官方 </a:t>
            </a:r>
            <a:r>
              <a:rPr sz="1000"/>
              <a:t>API</a:t>
            </a:r>
          </a:p>
          <a:p>
            <a:pPr algn="ctr">
              <a:lnSpc>
                <a:spcPct val="114000"/>
              </a:lnSpc>
              <a:defRPr sz="800">
                <a:solidFill>
                  <a:srgbClr val="D9564A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000">
                <a:latin typeface="+mj-lt"/>
                <a:ea typeface="+mj-ea"/>
                <a:cs typeface="+mj-cs"/>
                <a:sym typeface="Helvetica"/>
              </a:rPr>
              <a:t>失败：仅论文任务失败</a:t>
            </a:r>
          </a:p>
        </p:txBody>
      </p:sp>
      <p:sp>
        <p:nvSpPr>
          <p:cNvPr id="632" name="Rounded Rectangle 45"/>
          <p:cNvSpPr/>
          <p:nvPr/>
        </p:nvSpPr>
        <p:spPr>
          <a:xfrm>
            <a:off x="7436111" y="2883739"/>
            <a:ext cx="2377441" cy="792646"/>
          </a:xfrm>
          <a:prstGeom prst="roundRect">
            <a:avLst>
              <a:gd name="adj" fmla="val 6344"/>
            </a:avLst>
          </a:prstGeom>
          <a:solidFill>
            <a:srgbClr val="FFFFFF"/>
          </a:solidFill>
          <a:ln>
            <a:solidFill>
              <a:srgbClr val="DFE4EC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633" name="TextBox 46"/>
          <p:cNvSpPr txBox="1"/>
          <p:nvPr/>
        </p:nvSpPr>
        <p:spPr>
          <a:xfrm>
            <a:off x="7509264" y="3014926"/>
            <a:ext cx="2231136" cy="5302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000">
                <a:solidFill>
                  <a:srgbClr val="14181F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100"/>
              <a:t>OpenAI-compatible LLM</a:t>
            </a:r>
          </a:p>
          <a:p>
            <a:pPr algn="ctr">
              <a:lnSpc>
                <a:spcPct val="114000"/>
              </a:lnSpc>
              <a:defRPr sz="8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000"/>
              <a:t>/chat/completions</a:t>
            </a:r>
          </a:p>
          <a:p>
            <a:pPr algn="ctr">
              <a:lnSpc>
                <a:spcPct val="114000"/>
              </a:lnSpc>
              <a:defRPr sz="800">
                <a:solidFill>
                  <a:srgbClr val="D9564A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000">
                <a:latin typeface="+mj-lt"/>
                <a:ea typeface="+mj-ea"/>
                <a:cs typeface="+mj-cs"/>
                <a:sym typeface="Helvetica"/>
              </a:rPr>
              <a:t>失败：追溯等待，不写</a:t>
            </a:r>
          </a:p>
        </p:txBody>
      </p:sp>
      <p:sp>
        <p:nvSpPr>
          <p:cNvPr id="634" name="Rounded Rectangle 47"/>
          <p:cNvSpPr/>
          <p:nvPr/>
        </p:nvSpPr>
        <p:spPr>
          <a:xfrm>
            <a:off x="7436111" y="3785715"/>
            <a:ext cx="2377441" cy="792646"/>
          </a:xfrm>
          <a:prstGeom prst="roundRect">
            <a:avLst>
              <a:gd name="adj" fmla="val 6344"/>
            </a:avLst>
          </a:prstGeom>
          <a:solidFill>
            <a:srgbClr val="FFFFFF"/>
          </a:solidFill>
          <a:ln>
            <a:solidFill>
              <a:srgbClr val="DFE4EC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635" name="TextBox 48"/>
          <p:cNvSpPr txBox="1"/>
          <p:nvPr/>
        </p:nvSpPr>
        <p:spPr>
          <a:xfrm>
            <a:off x="7509264" y="3916902"/>
            <a:ext cx="2231136" cy="5302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000">
                <a:solidFill>
                  <a:srgbClr val="14181F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100"/>
              <a:t>GitHub</a:t>
            </a:r>
          </a:p>
          <a:p>
            <a:pPr algn="ctr">
              <a:lnSpc>
                <a:spcPct val="114000"/>
              </a:lnSpc>
              <a:defRPr sz="8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000">
                <a:latin typeface="+mj-lt"/>
                <a:ea typeface="+mj-ea"/>
                <a:cs typeface="+mj-cs"/>
                <a:sym typeface="Helvetica"/>
              </a:rPr>
              <a:t>下载公开仓库 </a:t>
            </a:r>
            <a:r>
              <a:rPr sz="1000"/>
              <a:t>archive</a:t>
            </a:r>
          </a:p>
          <a:p>
            <a:pPr algn="ctr">
              <a:lnSpc>
                <a:spcPct val="114000"/>
              </a:lnSpc>
              <a:defRPr sz="800">
                <a:solidFill>
                  <a:srgbClr val="D9564A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000">
                <a:latin typeface="+mj-lt"/>
                <a:ea typeface="+mj-ea"/>
                <a:cs typeface="+mj-cs"/>
                <a:sym typeface="Helvetica"/>
              </a:rPr>
              <a:t>用户主动触发</a:t>
            </a:r>
          </a:p>
        </p:txBody>
      </p:sp>
      <p:sp>
        <p:nvSpPr>
          <p:cNvPr id="636" name="Rounded Rectangle 49"/>
          <p:cNvSpPr/>
          <p:nvPr/>
        </p:nvSpPr>
        <p:spPr>
          <a:xfrm>
            <a:off x="7436111" y="4687691"/>
            <a:ext cx="2377441" cy="792645"/>
          </a:xfrm>
          <a:prstGeom prst="roundRect">
            <a:avLst>
              <a:gd name="adj" fmla="val 6344"/>
            </a:avLst>
          </a:prstGeom>
          <a:solidFill>
            <a:srgbClr val="FFFFFF"/>
          </a:solidFill>
          <a:ln>
            <a:solidFill>
              <a:srgbClr val="DFE4EC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637" name="TextBox 50"/>
          <p:cNvSpPr txBox="1"/>
          <p:nvPr/>
        </p:nvSpPr>
        <p:spPr>
          <a:xfrm>
            <a:off x="7509264" y="4817596"/>
            <a:ext cx="2231136" cy="5328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000">
                <a:solidFill>
                  <a:srgbClr val="14181F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100" b="1">
                <a:latin typeface="+mj-lt"/>
                <a:ea typeface="+mj-ea"/>
                <a:cs typeface="+mj-cs"/>
                <a:sym typeface="Helvetica"/>
              </a:rPr>
              <a:t>外部 </a:t>
            </a:r>
            <a:r>
              <a:rPr sz="1100"/>
              <a:t>HTTP MCP</a:t>
            </a:r>
          </a:p>
          <a:p>
            <a:pPr algn="ctr">
              <a:lnSpc>
                <a:spcPct val="114000"/>
              </a:lnSpc>
              <a:defRPr sz="8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000"/>
              <a:t>JSON-RPC tools/list</a:t>
            </a:r>
          </a:p>
          <a:p>
            <a:pPr algn="ctr">
              <a:lnSpc>
                <a:spcPct val="114000"/>
              </a:lnSpc>
              <a:defRPr sz="800">
                <a:solidFill>
                  <a:srgbClr val="D9564A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000">
                <a:latin typeface="+mj-lt"/>
                <a:ea typeface="+mj-ea"/>
                <a:cs typeface="+mj-cs"/>
                <a:sym typeface="Helvetica"/>
              </a:rPr>
              <a:t>默认不启用 </a:t>
            </a:r>
            <a:r>
              <a:rPr sz="1000"/>
              <a:t>/ </a:t>
            </a:r>
            <a:r>
              <a:rPr sz="1000">
                <a:latin typeface="+mj-lt"/>
                <a:ea typeface="+mj-ea"/>
                <a:cs typeface="+mj-cs"/>
                <a:sym typeface="Helvetica"/>
              </a:rPr>
              <a:t>不可信</a:t>
            </a:r>
          </a:p>
        </p:txBody>
      </p:sp>
      <p:sp>
        <p:nvSpPr>
          <p:cNvPr id="638" name="Rounded Rectangle 51"/>
          <p:cNvSpPr/>
          <p:nvPr/>
        </p:nvSpPr>
        <p:spPr>
          <a:xfrm>
            <a:off x="7436111" y="5589666"/>
            <a:ext cx="2377441" cy="655983"/>
          </a:xfrm>
          <a:prstGeom prst="roundRect">
            <a:avLst>
              <a:gd name="adj" fmla="val 7666"/>
            </a:avLst>
          </a:prstGeom>
          <a:solidFill>
            <a:srgbClr val="EFF9F6"/>
          </a:solidFill>
          <a:ln>
            <a:solidFill>
              <a:srgbClr val="B3DED4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639" name="TextBox 52"/>
          <p:cNvSpPr txBox="1"/>
          <p:nvPr/>
        </p:nvSpPr>
        <p:spPr>
          <a:xfrm>
            <a:off x="7436111" y="5827184"/>
            <a:ext cx="2377441" cy="1809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000">
                <a:solidFill>
                  <a:srgbClr val="1F8F78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100" b="1">
                <a:latin typeface="+mj-lt"/>
                <a:ea typeface="+mj-ea"/>
                <a:cs typeface="+mj-cs"/>
                <a:sym typeface="Helvetica"/>
              </a:rPr>
              <a:t>代码分析 </a:t>
            </a:r>
            <a:r>
              <a:rPr sz="1100"/>
              <a:t>/ </a:t>
            </a:r>
            <a:r>
              <a:rPr sz="1100" b="1">
                <a:latin typeface="+mj-lt"/>
                <a:ea typeface="+mj-ea"/>
                <a:cs typeface="+mj-cs"/>
                <a:sym typeface="Helvetica"/>
              </a:rPr>
              <a:t>张量流不依赖 </a:t>
            </a:r>
            <a:r>
              <a:rPr sz="1100"/>
              <a:t>LLM</a:t>
            </a:r>
          </a:p>
        </p:txBody>
      </p:sp>
      <p:sp>
        <p:nvSpPr>
          <p:cNvPr id="640" name="Rounded Rectangle 53"/>
          <p:cNvSpPr/>
          <p:nvPr/>
        </p:nvSpPr>
        <p:spPr>
          <a:xfrm>
            <a:off x="9996432" y="1981762"/>
            <a:ext cx="1828801" cy="710648"/>
          </a:xfrm>
          <a:prstGeom prst="roundRect">
            <a:avLst>
              <a:gd name="adj" fmla="val 7076"/>
            </a:avLst>
          </a:prstGeom>
          <a:solidFill>
            <a:srgbClr val="FFFFFF"/>
          </a:solidFill>
          <a:ln>
            <a:solidFill>
              <a:srgbClr val="DFE4EC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641" name="TextBox 54"/>
          <p:cNvSpPr txBox="1"/>
          <p:nvPr/>
        </p:nvSpPr>
        <p:spPr>
          <a:xfrm>
            <a:off x="10051295" y="2158385"/>
            <a:ext cx="1719073" cy="357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000">
                <a:solidFill>
                  <a:srgbClr val="14181F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100"/>
              <a:t>Nginx </a:t>
            </a:r>
            <a:r>
              <a:rPr sz="1100" b="1">
                <a:latin typeface="+mj-lt"/>
                <a:ea typeface="+mj-ea"/>
                <a:cs typeface="+mj-cs"/>
                <a:sym typeface="Helvetica"/>
              </a:rPr>
              <a:t>反代</a:t>
            </a:r>
          </a:p>
          <a:p>
            <a:pPr algn="ctr">
              <a:lnSpc>
                <a:spcPct val="114000"/>
              </a:lnSpc>
              <a:defRPr sz="8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000">
                <a:latin typeface="+mj-lt"/>
                <a:ea typeface="+mj-ea"/>
                <a:cs typeface="+mj-cs"/>
                <a:sym typeface="Helvetica"/>
              </a:rPr>
              <a:t>仅 </a:t>
            </a:r>
            <a:r>
              <a:rPr sz="1000"/>
              <a:t>80/443</a:t>
            </a:r>
          </a:p>
        </p:txBody>
      </p:sp>
      <p:sp>
        <p:nvSpPr>
          <p:cNvPr id="642" name="Rounded Rectangle 55"/>
          <p:cNvSpPr/>
          <p:nvPr/>
        </p:nvSpPr>
        <p:spPr>
          <a:xfrm>
            <a:off x="9996432" y="2801741"/>
            <a:ext cx="1828801" cy="710647"/>
          </a:xfrm>
          <a:prstGeom prst="roundRect">
            <a:avLst>
              <a:gd name="adj" fmla="val 7076"/>
            </a:avLst>
          </a:prstGeom>
          <a:solidFill>
            <a:srgbClr val="F5F2FC"/>
          </a:solidFill>
          <a:ln>
            <a:solidFill>
              <a:srgbClr val="CCC0E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643" name="TextBox 56"/>
          <p:cNvSpPr txBox="1"/>
          <p:nvPr/>
        </p:nvSpPr>
        <p:spPr>
          <a:xfrm>
            <a:off x="10051295" y="2977850"/>
            <a:ext cx="1719073" cy="3584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000">
                <a:solidFill>
                  <a:srgbClr val="7A5CC4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100"/>
              <a:t>Server FastAPI</a:t>
            </a:r>
          </a:p>
          <a:p>
            <a:pPr algn="ctr">
              <a:lnSpc>
                <a:spcPct val="114000"/>
              </a:lnSpc>
              <a:defRPr sz="8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000"/>
              <a:t>Auth · Sync · Blob</a:t>
            </a:r>
          </a:p>
        </p:txBody>
      </p:sp>
      <p:sp>
        <p:nvSpPr>
          <p:cNvPr id="644" name="Rounded Rectangle 57"/>
          <p:cNvSpPr/>
          <p:nvPr/>
        </p:nvSpPr>
        <p:spPr>
          <a:xfrm>
            <a:off x="9996432" y="3621718"/>
            <a:ext cx="1828801" cy="710648"/>
          </a:xfrm>
          <a:prstGeom prst="roundRect">
            <a:avLst>
              <a:gd name="adj" fmla="val 7076"/>
            </a:avLst>
          </a:prstGeom>
          <a:solidFill>
            <a:srgbClr val="FFFFFF"/>
          </a:solidFill>
          <a:ln>
            <a:solidFill>
              <a:srgbClr val="DFE4EC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645" name="TextBox 58"/>
          <p:cNvSpPr txBox="1"/>
          <p:nvPr/>
        </p:nvSpPr>
        <p:spPr>
          <a:xfrm>
            <a:off x="10051295" y="3886023"/>
            <a:ext cx="1719073" cy="1820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ctr">
              <a:lnSpc>
                <a:spcPct val="114000"/>
              </a:lnSpc>
              <a:defRPr sz="1000">
                <a:solidFill>
                  <a:srgbClr val="14181F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rPr sz="1100"/>
              <a:t>Worker</a:t>
            </a:r>
          </a:p>
        </p:txBody>
      </p:sp>
      <p:sp>
        <p:nvSpPr>
          <p:cNvPr id="646" name="Rounded Rectangle 59"/>
          <p:cNvSpPr/>
          <p:nvPr/>
        </p:nvSpPr>
        <p:spPr>
          <a:xfrm>
            <a:off x="9996432" y="4441697"/>
            <a:ext cx="1828801" cy="710648"/>
          </a:xfrm>
          <a:prstGeom prst="roundRect">
            <a:avLst>
              <a:gd name="adj" fmla="val 7076"/>
            </a:avLst>
          </a:prstGeom>
          <a:solidFill>
            <a:srgbClr val="F5F7F9"/>
          </a:solidFill>
          <a:ln>
            <a:solidFill>
              <a:srgbClr val="DFE4EC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647" name="TextBox 60"/>
          <p:cNvSpPr txBox="1"/>
          <p:nvPr/>
        </p:nvSpPr>
        <p:spPr>
          <a:xfrm>
            <a:off x="10051295" y="4618320"/>
            <a:ext cx="1719073" cy="357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000">
                <a:solidFill>
                  <a:srgbClr val="14181F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100"/>
              <a:t>PostgreSQL + Blob</a:t>
            </a:r>
          </a:p>
          <a:p>
            <a:pPr algn="ctr">
              <a:lnSpc>
                <a:spcPct val="114000"/>
              </a:lnSpc>
              <a:defRPr sz="8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000">
                <a:latin typeface="+mj-lt"/>
                <a:ea typeface="+mj-ea"/>
                <a:cs typeface="+mj-cs"/>
                <a:sym typeface="Helvetica"/>
              </a:rPr>
              <a:t>自有 </a:t>
            </a:r>
            <a:r>
              <a:rPr sz="1000"/>
              <a:t>Alembic</a:t>
            </a:r>
          </a:p>
        </p:txBody>
      </p:sp>
      <p:sp>
        <p:nvSpPr>
          <p:cNvPr id="648" name="Rounded Rectangle 61"/>
          <p:cNvSpPr/>
          <p:nvPr/>
        </p:nvSpPr>
        <p:spPr>
          <a:xfrm>
            <a:off x="9996432" y="5316341"/>
            <a:ext cx="1828801" cy="929309"/>
          </a:xfrm>
          <a:prstGeom prst="roundRect">
            <a:avLst>
              <a:gd name="adj" fmla="val 5411"/>
            </a:avLst>
          </a:prstGeom>
          <a:solidFill>
            <a:srgbClr val="FDF1F0"/>
          </a:solidFill>
          <a:ln>
            <a:solidFill>
              <a:srgbClr val="EEBDB8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649" name="TextBox 62"/>
          <p:cNvSpPr txBox="1"/>
          <p:nvPr/>
        </p:nvSpPr>
        <p:spPr>
          <a:xfrm>
            <a:off x="10051295" y="5514577"/>
            <a:ext cx="1719073" cy="5328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000">
                <a:solidFill>
                  <a:srgbClr val="D9564A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100" b="1">
                <a:latin typeface="+mj-lt"/>
                <a:ea typeface="+mj-ea"/>
                <a:cs typeface="+mj-cs"/>
                <a:sym typeface="Helvetica"/>
              </a:rPr>
              <a:t>不做的事</a:t>
            </a:r>
          </a:p>
          <a:p>
            <a:pPr algn="ctr">
              <a:lnSpc>
                <a:spcPct val="114000"/>
              </a:lnSpc>
              <a:defRPr sz="8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000">
                <a:latin typeface="+mj-lt"/>
                <a:ea typeface="+mj-ea"/>
                <a:cs typeface="+mj-cs"/>
                <a:sym typeface="Helvetica"/>
              </a:rPr>
              <a:t>不运行 </a:t>
            </a:r>
            <a:r>
              <a:rPr sz="1000"/>
              <a:t>MinerU / </a:t>
            </a:r>
            <a:r>
              <a:rPr sz="1000">
                <a:latin typeface="+mj-lt"/>
                <a:ea typeface="+mj-ea"/>
                <a:cs typeface="+mj-cs"/>
                <a:sym typeface="Helvetica"/>
              </a:rPr>
              <a:t>分析</a:t>
            </a:r>
          </a:p>
          <a:p>
            <a:pPr algn="ctr">
              <a:lnSpc>
                <a:spcPct val="114000"/>
              </a:lnSpc>
              <a:defRPr sz="8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000">
                <a:latin typeface="+mj-lt"/>
                <a:ea typeface="+mj-ea"/>
                <a:cs typeface="+mj-cs"/>
                <a:sym typeface="Helvetica"/>
              </a:rPr>
              <a:t>不运行 </a:t>
            </a:r>
            <a:r>
              <a:rPr sz="1000"/>
              <a:t>LLM / Agent</a:t>
            </a:r>
          </a:p>
        </p:txBody>
      </p:sp>
      <p:sp>
        <p:nvSpPr>
          <p:cNvPr id="650" name="Connector 63"/>
          <p:cNvSpPr/>
          <p:nvPr/>
        </p:nvSpPr>
        <p:spPr>
          <a:xfrm>
            <a:off x="3065279" y="3895044"/>
            <a:ext cx="146305" cy="1"/>
          </a:xfrm>
          <a:prstGeom prst="line">
            <a:avLst/>
          </a:prstGeom>
          <a:ln w="13970">
            <a:solidFill>
              <a:srgbClr val="8B95A5"/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endParaRPr sz="2400"/>
          </a:p>
        </p:txBody>
      </p:sp>
      <p:sp>
        <p:nvSpPr>
          <p:cNvPr id="651" name="Connector 64"/>
          <p:cNvSpPr/>
          <p:nvPr/>
        </p:nvSpPr>
        <p:spPr>
          <a:xfrm>
            <a:off x="7271520" y="3895044"/>
            <a:ext cx="146305" cy="1"/>
          </a:xfrm>
          <a:prstGeom prst="line">
            <a:avLst/>
          </a:prstGeom>
          <a:ln w="13970">
            <a:solidFill>
              <a:srgbClr val="8B95A5"/>
            </a:solidFill>
            <a:prstDash val="dash"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endParaRPr sz="2400"/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Rectangle 2"/>
          <p:cNvSpPr/>
          <p:nvPr/>
        </p:nvSpPr>
        <p:spPr>
          <a:xfrm>
            <a:off x="-1" y="0"/>
            <a:ext cx="56695" cy="6858000"/>
          </a:xfrm>
          <a:prstGeom prst="rect">
            <a:avLst/>
          </a:prstGeom>
          <a:solidFill>
            <a:srgbClr val="1F6F8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800"/>
          </a:p>
        </p:txBody>
      </p:sp>
      <p:sp>
        <p:nvSpPr>
          <p:cNvPr id="655" name="TextBox 3"/>
          <p:cNvSpPr txBox="1"/>
          <p:nvPr/>
        </p:nvSpPr>
        <p:spPr>
          <a:xfrm>
            <a:off x="566927" y="384047"/>
            <a:ext cx="1105811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1F6F8B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t>INTERFACE-BASED DESIGN</a:t>
            </a:r>
          </a:p>
        </p:txBody>
      </p:sp>
      <p:sp>
        <p:nvSpPr>
          <p:cNvPr id="656" name="TextBox 4"/>
          <p:cNvSpPr txBox="1"/>
          <p:nvPr/>
        </p:nvSpPr>
        <p:spPr>
          <a:xfrm>
            <a:off x="566927" y="603504"/>
            <a:ext cx="11058116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2500">
                <a:solidFill>
                  <a:srgbClr val="14181F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b="1" dirty="0" err="1">
                <a:latin typeface="+mj-lt"/>
                <a:ea typeface="+mj-ea"/>
                <a:cs typeface="+mj-cs"/>
                <a:sym typeface="Helvetica"/>
              </a:rPr>
              <a:t>基于接口的设计：用</a:t>
            </a:r>
            <a:r>
              <a:rPr b="1" dirty="0"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dirty="0"/>
              <a:t>Protocol </a:t>
            </a:r>
            <a:r>
              <a:rPr b="1" dirty="0" err="1">
                <a:latin typeface="+mj-lt"/>
                <a:ea typeface="+mj-ea"/>
                <a:cs typeface="+mj-cs"/>
                <a:sym typeface="Helvetica"/>
              </a:rPr>
              <a:t>定义能力边界</a:t>
            </a:r>
            <a:endParaRPr b="1"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657" name="TextBox 5"/>
          <p:cNvSpPr txBox="1"/>
          <p:nvPr/>
        </p:nvSpPr>
        <p:spPr>
          <a:xfrm>
            <a:off x="576071" y="1022522"/>
            <a:ext cx="10509476" cy="2792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1100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600" dirty="0" err="1">
                <a:latin typeface="+mj-lt"/>
                <a:ea typeface="+mj-ea"/>
                <a:cs typeface="+mj-cs"/>
                <a:sym typeface="Helvetica"/>
              </a:rPr>
              <a:t>可替换的外部能力先声明为结构化契约，再提供多个实现；调用方只依赖协议，不依赖具体类</a:t>
            </a:r>
            <a:endParaRPr sz="1600"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658" name="TextBox 6"/>
          <p:cNvSpPr txBox="1"/>
          <p:nvPr/>
        </p:nvSpPr>
        <p:spPr>
          <a:xfrm>
            <a:off x="11231850" y="6473952"/>
            <a:ext cx="4572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9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lvl1pPr>
          </a:lstStyle>
          <a:p>
            <a:r>
              <a:t>21</a:t>
            </a:r>
          </a:p>
        </p:txBody>
      </p:sp>
      <p:sp>
        <p:nvSpPr>
          <p:cNvPr id="659" name="Rounded Rectangle 7"/>
          <p:cNvSpPr/>
          <p:nvPr/>
        </p:nvSpPr>
        <p:spPr>
          <a:xfrm>
            <a:off x="566927" y="1423431"/>
            <a:ext cx="2094582" cy="2958353"/>
          </a:xfrm>
          <a:prstGeom prst="roundRect">
            <a:avLst>
              <a:gd name="adj" fmla="val 2401"/>
            </a:avLst>
          </a:prstGeom>
          <a:solidFill>
            <a:srgbClr val="F0F7F9"/>
          </a:solidFill>
          <a:ln>
            <a:solidFill>
              <a:srgbClr val="B8D5D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800"/>
          </a:p>
        </p:txBody>
      </p:sp>
      <p:sp>
        <p:nvSpPr>
          <p:cNvPr id="660" name="TextBox 8"/>
          <p:cNvSpPr txBox="1"/>
          <p:nvPr/>
        </p:nvSpPr>
        <p:spPr>
          <a:xfrm>
            <a:off x="640080" y="1566016"/>
            <a:ext cx="1948277" cy="4544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100">
                <a:solidFill>
                  <a:srgbClr val="1F6F8B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600"/>
              <a:t>DocumentParser</a:t>
            </a:r>
          </a:p>
          <a:p>
            <a:pPr algn="ctr">
              <a:lnSpc>
                <a:spcPct val="114000"/>
              </a:lnSpc>
              <a:defRPr sz="8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050"/>
              <a:t>parse(path) → ParseOutcome</a:t>
            </a:r>
          </a:p>
        </p:txBody>
      </p:sp>
      <p:sp>
        <p:nvSpPr>
          <p:cNvPr id="661" name="Rounded Rectangle 9"/>
          <p:cNvSpPr/>
          <p:nvPr/>
        </p:nvSpPr>
        <p:spPr>
          <a:xfrm>
            <a:off x="694944" y="2187673"/>
            <a:ext cx="1838549" cy="591671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7620">
            <a:solidFill>
              <a:srgbClr val="B8D5D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800"/>
          </a:p>
        </p:txBody>
      </p:sp>
      <p:sp>
        <p:nvSpPr>
          <p:cNvPr id="662" name="TextBox 10"/>
          <p:cNvSpPr txBox="1"/>
          <p:nvPr/>
        </p:nvSpPr>
        <p:spPr>
          <a:xfrm>
            <a:off x="731519" y="2393036"/>
            <a:ext cx="1765396" cy="1809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9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100"/>
              <a:t>MinerUParser</a:t>
            </a:r>
            <a:r>
              <a:rPr sz="1100">
                <a:latin typeface="+mj-lt"/>
                <a:ea typeface="+mj-ea"/>
                <a:cs typeface="+mj-cs"/>
                <a:sym typeface="Helvetica"/>
              </a:rPr>
              <a:t>（本地）</a:t>
            </a:r>
          </a:p>
        </p:txBody>
      </p:sp>
      <p:sp>
        <p:nvSpPr>
          <p:cNvPr id="663" name="Rounded Rectangle 11"/>
          <p:cNvSpPr/>
          <p:nvPr/>
        </p:nvSpPr>
        <p:spPr>
          <a:xfrm>
            <a:off x="694944" y="2877954"/>
            <a:ext cx="1838549" cy="438913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 w="7620">
            <a:solidFill>
              <a:srgbClr val="B8D5D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800"/>
          </a:p>
        </p:txBody>
      </p:sp>
      <p:sp>
        <p:nvSpPr>
          <p:cNvPr id="664" name="TextBox 12"/>
          <p:cNvSpPr txBox="1"/>
          <p:nvPr/>
        </p:nvSpPr>
        <p:spPr>
          <a:xfrm>
            <a:off x="731519" y="3083317"/>
            <a:ext cx="1765396" cy="1809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9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100"/>
              <a:t>Official MinerU</a:t>
            </a:r>
            <a:r>
              <a:rPr sz="1100">
                <a:latin typeface="+mj-lt"/>
                <a:ea typeface="+mj-ea"/>
                <a:cs typeface="+mj-cs"/>
                <a:sym typeface="Helvetica"/>
              </a:rPr>
              <a:t>（</a:t>
            </a:r>
            <a:r>
              <a:rPr sz="1100"/>
              <a:t>API</a:t>
            </a:r>
            <a:r>
              <a:rPr sz="1100">
                <a:latin typeface="+mj-lt"/>
                <a:ea typeface="+mj-ea"/>
                <a:cs typeface="+mj-cs"/>
                <a:sym typeface="Helvetica"/>
              </a:rPr>
              <a:t>）</a:t>
            </a:r>
          </a:p>
        </p:txBody>
      </p:sp>
      <p:sp>
        <p:nvSpPr>
          <p:cNvPr id="665" name="Rounded Rectangle 13"/>
          <p:cNvSpPr/>
          <p:nvPr/>
        </p:nvSpPr>
        <p:spPr>
          <a:xfrm>
            <a:off x="694944" y="3568237"/>
            <a:ext cx="1838549" cy="591670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7620">
            <a:solidFill>
              <a:srgbClr val="B8D5D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800"/>
          </a:p>
        </p:txBody>
      </p:sp>
      <p:sp>
        <p:nvSpPr>
          <p:cNvPr id="666" name="TextBox 14"/>
          <p:cNvSpPr txBox="1"/>
          <p:nvPr/>
        </p:nvSpPr>
        <p:spPr>
          <a:xfrm>
            <a:off x="731519" y="3773600"/>
            <a:ext cx="1765396" cy="1809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9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100"/>
              <a:t>StubParser</a:t>
            </a:r>
            <a:r>
              <a:rPr sz="1100">
                <a:latin typeface="+mj-lt"/>
                <a:ea typeface="+mj-ea"/>
                <a:cs typeface="+mj-cs"/>
                <a:sym typeface="Helvetica"/>
              </a:rPr>
              <a:t>（测试替身）</a:t>
            </a:r>
          </a:p>
        </p:txBody>
      </p:sp>
      <p:sp>
        <p:nvSpPr>
          <p:cNvPr id="667" name="Rounded Rectangle 15"/>
          <p:cNvSpPr/>
          <p:nvPr/>
        </p:nvSpPr>
        <p:spPr>
          <a:xfrm>
            <a:off x="2807811" y="1423431"/>
            <a:ext cx="2094582" cy="2958353"/>
          </a:xfrm>
          <a:prstGeom prst="roundRect">
            <a:avLst>
              <a:gd name="adj" fmla="val 2401"/>
            </a:avLst>
          </a:prstGeom>
          <a:solidFill>
            <a:srgbClr val="F5F2FC"/>
          </a:solidFill>
          <a:ln>
            <a:solidFill>
              <a:srgbClr val="CCC0E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800"/>
          </a:p>
        </p:txBody>
      </p:sp>
      <p:sp>
        <p:nvSpPr>
          <p:cNvPr id="668" name="TextBox 16"/>
          <p:cNvSpPr txBox="1"/>
          <p:nvPr/>
        </p:nvSpPr>
        <p:spPr>
          <a:xfrm>
            <a:off x="2880964" y="1566016"/>
            <a:ext cx="1948277" cy="4544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100">
                <a:solidFill>
                  <a:srgbClr val="7A5CC4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600"/>
              <a:t>AgentProvider</a:t>
            </a:r>
          </a:p>
          <a:p>
            <a:pPr algn="ctr">
              <a:lnSpc>
                <a:spcPct val="114000"/>
              </a:lnSpc>
              <a:defRPr sz="8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050"/>
              <a:t>next_step / next_step_stream</a:t>
            </a:r>
          </a:p>
        </p:txBody>
      </p:sp>
      <p:sp>
        <p:nvSpPr>
          <p:cNvPr id="669" name="Rounded Rectangle 17"/>
          <p:cNvSpPr/>
          <p:nvPr/>
        </p:nvSpPr>
        <p:spPr>
          <a:xfrm>
            <a:off x="2935827" y="2187673"/>
            <a:ext cx="1838550" cy="591671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7620">
            <a:solidFill>
              <a:srgbClr val="CCC0E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800"/>
          </a:p>
        </p:txBody>
      </p:sp>
      <p:sp>
        <p:nvSpPr>
          <p:cNvPr id="670" name="TextBox 18"/>
          <p:cNvSpPr txBox="1"/>
          <p:nvPr/>
        </p:nvSpPr>
        <p:spPr>
          <a:xfrm>
            <a:off x="2972404" y="2392490"/>
            <a:ext cx="1765395" cy="1820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14000"/>
              </a:lnSpc>
              <a:defRPr sz="9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lvl1pPr>
          </a:lstStyle>
          <a:p>
            <a:r>
              <a:rPr sz="1100"/>
              <a:t>CompatibleAgentProvider</a:t>
            </a:r>
          </a:p>
        </p:txBody>
      </p:sp>
      <p:sp>
        <p:nvSpPr>
          <p:cNvPr id="671" name="Rounded Rectangle 19"/>
          <p:cNvSpPr/>
          <p:nvPr/>
        </p:nvSpPr>
        <p:spPr>
          <a:xfrm>
            <a:off x="2935827" y="2877954"/>
            <a:ext cx="1838550" cy="591671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7620">
            <a:solidFill>
              <a:srgbClr val="CCC0E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800"/>
          </a:p>
        </p:txBody>
      </p:sp>
      <p:sp>
        <p:nvSpPr>
          <p:cNvPr id="672" name="TextBox 20"/>
          <p:cNvSpPr txBox="1"/>
          <p:nvPr/>
        </p:nvSpPr>
        <p:spPr>
          <a:xfrm>
            <a:off x="2972404" y="3083317"/>
            <a:ext cx="1765395" cy="1809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9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100">
                <a:latin typeface="+mj-lt"/>
                <a:ea typeface="+mj-ea"/>
                <a:cs typeface="+mj-cs"/>
                <a:sym typeface="Helvetica"/>
              </a:rPr>
              <a:t>原生 </a:t>
            </a:r>
            <a:r>
              <a:rPr sz="1100"/>
              <a:t>function calling</a:t>
            </a:r>
          </a:p>
        </p:txBody>
      </p:sp>
      <p:sp>
        <p:nvSpPr>
          <p:cNvPr id="673" name="Rounded Rectangle 21"/>
          <p:cNvSpPr/>
          <p:nvPr/>
        </p:nvSpPr>
        <p:spPr>
          <a:xfrm>
            <a:off x="2935827" y="3568237"/>
            <a:ext cx="1838550" cy="591670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7620">
            <a:solidFill>
              <a:srgbClr val="CCC0E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800"/>
          </a:p>
        </p:txBody>
      </p:sp>
      <p:sp>
        <p:nvSpPr>
          <p:cNvPr id="674" name="TextBox 22"/>
          <p:cNvSpPr txBox="1"/>
          <p:nvPr/>
        </p:nvSpPr>
        <p:spPr>
          <a:xfrm>
            <a:off x="2972404" y="3697220"/>
            <a:ext cx="1765395" cy="1809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9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100"/>
              <a:t>JSON fallback </a:t>
            </a:r>
            <a:r>
              <a:rPr sz="1100">
                <a:latin typeface="+mj-lt"/>
                <a:ea typeface="+mj-ea"/>
                <a:cs typeface="+mj-cs"/>
                <a:sym typeface="Helvetica"/>
              </a:rPr>
              <a:t>路径</a:t>
            </a:r>
          </a:p>
        </p:txBody>
      </p:sp>
      <p:sp>
        <p:nvSpPr>
          <p:cNvPr id="675" name="Rounded Rectangle 23"/>
          <p:cNvSpPr/>
          <p:nvPr/>
        </p:nvSpPr>
        <p:spPr>
          <a:xfrm>
            <a:off x="5048694" y="1423431"/>
            <a:ext cx="2072485" cy="2949464"/>
          </a:xfrm>
          <a:prstGeom prst="roundRect">
            <a:avLst>
              <a:gd name="adj" fmla="val 2559"/>
            </a:avLst>
          </a:prstGeom>
          <a:solidFill>
            <a:srgbClr val="EFF9F6"/>
          </a:solidFill>
          <a:ln>
            <a:solidFill>
              <a:srgbClr val="B3DED4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800"/>
          </a:p>
        </p:txBody>
      </p:sp>
      <p:sp>
        <p:nvSpPr>
          <p:cNvPr id="676" name="TextBox 24"/>
          <p:cNvSpPr txBox="1"/>
          <p:nvPr/>
        </p:nvSpPr>
        <p:spPr>
          <a:xfrm>
            <a:off x="5121847" y="1566016"/>
            <a:ext cx="1948277" cy="4544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100">
                <a:solidFill>
                  <a:srgbClr val="1F8F78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600"/>
              <a:t>Embedder</a:t>
            </a:r>
          </a:p>
          <a:p>
            <a:pPr algn="ctr">
              <a:lnSpc>
                <a:spcPct val="114000"/>
              </a:lnSpc>
              <a:defRPr sz="8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050"/>
              <a:t>embed(texts) → vectors</a:t>
            </a:r>
          </a:p>
        </p:txBody>
      </p:sp>
      <p:sp>
        <p:nvSpPr>
          <p:cNvPr id="677" name="Rounded Rectangle 25"/>
          <p:cNvSpPr/>
          <p:nvPr/>
        </p:nvSpPr>
        <p:spPr>
          <a:xfrm>
            <a:off x="5176711" y="2187673"/>
            <a:ext cx="1838549" cy="591671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7620">
            <a:solidFill>
              <a:srgbClr val="B3DED4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800"/>
          </a:p>
        </p:txBody>
      </p:sp>
      <p:sp>
        <p:nvSpPr>
          <p:cNvPr id="678" name="TextBox 26"/>
          <p:cNvSpPr txBox="1"/>
          <p:nvPr/>
        </p:nvSpPr>
        <p:spPr>
          <a:xfrm>
            <a:off x="5213286" y="2392490"/>
            <a:ext cx="1765396" cy="1820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14000"/>
              </a:lnSpc>
              <a:defRPr sz="9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lvl1pPr>
          </a:lstStyle>
          <a:p>
            <a:r>
              <a:rPr sz="1100"/>
              <a:t>LocalHashingEmbedder</a:t>
            </a:r>
          </a:p>
        </p:txBody>
      </p:sp>
      <p:sp>
        <p:nvSpPr>
          <p:cNvPr id="679" name="Rounded Rectangle 27"/>
          <p:cNvSpPr/>
          <p:nvPr/>
        </p:nvSpPr>
        <p:spPr>
          <a:xfrm>
            <a:off x="5176711" y="2877954"/>
            <a:ext cx="1838549" cy="591671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7620">
            <a:solidFill>
              <a:srgbClr val="B3DED4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800"/>
          </a:p>
        </p:txBody>
      </p:sp>
      <p:sp>
        <p:nvSpPr>
          <p:cNvPr id="680" name="TextBox 28"/>
          <p:cNvSpPr txBox="1"/>
          <p:nvPr/>
        </p:nvSpPr>
        <p:spPr>
          <a:xfrm>
            <a:off x="5213286" y="3082771"/>
            <a:ext cx="1765396" cy="1820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14000"/>
              </a:lnSpc>
              <a:defRPr sz="9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lvl1pPr>
          </a:lstStyle>
          <a:p>
            <a:r>
              <a:rPr sz="1100"/>
              <a:t>RemoteEmbedder</a:t>
            </a:r>
          </a:p>
        </p:txBody>
      </p:sp>
      <p:sp>
        <p:nvSpPr>
          <p:cNvPr id="681" name="Rounded Rectangle 29"/>
          <p:cNvSpPr/>
          <p:nvPr/>
        </p:nvSpPr>
        <p:spPr>
          <a:xfrm>
            <a:off x="5176711" y="3568237"/>
            <a:ext cx="1838549" cy="591670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7620">
            <a:solidFill>
              <a:srgbClr val="B3DED4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800"/>
          </a:p>
        </p:txBody>
      </p:sp>
      <p:sp>
        <p:nvSpPr>
          <p:cNvPr id="682" name="TextBox 30"/>
          <p:cNvSpPr txBox="1"/>
          <p:nvPr/>
        </p:nvSpPr>
        <p:spPr>
          <a:xfrm>
            <a:off x="5213286" y="3775042"/>
            <a:ext cx="1765396" cy="1780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14000"/>
              </a:lnSpc>
              <a:defRPr sz="900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100">
                <a:latin typeface="+mj-lt"/>
                <a:ea typeface="+mj-ea"/>
                <a:cs typeface="+mj-cs"/>
                <a:sym typeface="Helvetica"/>
              </a:rPr>
              <a:t>切换即标记索引待重建</a:t>
            </a:r>
          </a:p>
        </p:txBody>
      </p:sp>
      <p:sp>
        <p:nvSpPr>
          <p:cNvPr id="683" name="Rounded Rectangle 31"/>
          <p:cNvSpPr/>
          <p:nvPr/>
        </p:nvSpPr>
        <p:spPr>
          <a:xfrm>
            <a:off x="7289579" y="1423431"/>
            <a:ext cx="2134965" cy="2949464"/>
          </a:xfrm>
          <a:prstGeom prst="roundRect">
            <a:avLst>
              <a:gd name="adj" fmla="val 2401"/>
            </a:avLst>
          </a:prstGeom>
          <a:solidFill>
            <a:srgbClr val="FDF8EC"/>
          </a:solidFill>
          <a:ln>
            <a:solidFill>
              <a:srgbClr val="E9D29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800"/>
          </a:p>
        </p:txBody>
      </p:sp>
      <p:sp>
        <p:nvSpPr>
          <p:cNvPr id="684" name="TextBox 32"/>
          <p:cNvSpPr txBox="1"/>
          <p:nvPr/>
        </p:nvSpPr>
        <p:spPr>
          <a:xfrm>
            <a:off x="7362731" y="1425657"/>
            <a:ext cx="1948277" cy="7351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100">
                <a:solidFill>
                  <a:srgbClr val="D99B06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600"/>
              <a:t>TraceExplanationProvider</a:t>
            </a:r>
          </a:p>
          <a:p>
            <a:pPr algn="ctr">
              <a:lnSpc>
                <a:spcPct val="114000"/>
              </a:lnSpc>
              <a:defRPr sz="8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050"/>
              <a:t>explain(contexts) → items</a:t>
            </a:r>
          </a:p>
        </p:txBody>
      </p:sp>
      <p:sp>
        <p:nvSpPr>
          <p:cNvPr id="685" name="Rounded Rectangle 33"/>
          <p:cNvSpPr/>
          <p:nvPr/>
        </p:nvSpPr>
        <p:spPr>
          <a:xfrm>
            <a:off x="7417595" y="2187673"/>
            <a:ext cx="1838549" cy="591671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7620">
            <a:solidFill>
              <a:srgbClr val="E9D29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800"/>
          </a:p>
        </p:txBody>
      </p:sp>
      <p:sp>
        <p:nvSpPr>
          <p:cNvPr id="686" name="TextBox 34"/>
          <p:cNvSpPr txBox="1"/>
          <p:nvPr/>
        </p:nvSpPr>
        <p:spPr>
          <a:xfrm>
            <a:off x="7454171" y="2316111"/>
            <a:ext cx="1765396" cy="1820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14000"/>
              </a:lnSpc>
              <a:defRPr sz="9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lvl1pPr>
          </a:lstStyle>
          <a:p>
            <a:r>
              <a:rPr sz="1100"/>
              <a:t>CompatibleRESTProvider</a:t>
            </a:r>
          </a:p>
        </p:txBody>
      </p:sp>
      <p:sp>
        <p:nvSpPr>
          <p:cNvPr id="687" name="Rounded Rectangle 35"/>
          <p:cNvSpPr/>
          <p:nvPr/>
        </p:nvSpPr>
        <p:spPr>
          <a:xfrm>
            <a:off x="7417595" y="2877954"/>
            <a:ext cx="1838549" cy="591671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7620">
            <a:solidFill>
              <a:srgbClr val="E9D29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800"/>
          </a:p>
        </p:txBody>
      </p:sp>
      <p:sp>
        <p:nvSpPr>
          <p:cNvPr id="688" name="TextBox 36"/>
          <p:cNvSpPr txBox="1"/>
          <p:nvPr/>
        </p:nvSpPr>
        <p:spPr>
          <a:xfrm>
            <a:off x="7454171" y="3083317"/>
            <a:ext cx="1765396" cy="1809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9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100">
                <a:latin typeface="+mj-lt"/>
                <a:ea typeface="+mj-ea"/>
                <a:cs typeface="+mj-cs"/>
                <a:sym typeface="Helvetica"/>
              </a:rPr>
              <a:t>强制 </a:t>
            </a:r>
            <a:r>
              <a:rPr sz="1100"/>
              <a:t>json_object </a:t>
            </a:r>
            <a:r>
              <a:rPr sz="1100">
                <a:latin typeface="+mj-lt"/>
                <a:ea typeface="+mj-ea"/>
                <a:cs typeface="+mj-cs"/>
                <a:sym typeface="Helvetica"/>
              </a:rPr>
              <a:t>响应</a:t>
            </a:r>
          </a:p>
        </p:txBody>
      </p:sp>
      <p:sp>
        <p:nvSpPr>
          <p:cNvPr id="689" name="Rounded Rectangle 37"/>
          <p:cNvSpPr/>
          <p:nvPr/>
        </p:nvSpPr>
        <p:spPr>
          <a:xfrm>
            <a:off x="7417595" y="3568237"/>
            <a:ext cx="1838549" cy="591670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7620">
            <a:solidFill>
              <a:srgbClr val="E9D29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800"/>
          </a:p>
        </p:txBody>
      </p:sp>
      <p:sp>
        <p:nvSpPr>
          <p:cNvPr id="690" name="TextBox 38"/>
          <p:cNvSpPr txBox="1"/>
          <p:nvPr/>
        </p:nvSpPr>
        <p:spPr>
          <a:xfrm>
            <a:off x="7454171" y="3773600"/>
            <a:ext cx="1765396" cy="1809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9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100">
                <a:latin typeface="+mj-lt"/>
                <a:ea typeface="+mj-ea"/>
                <a:cs typeface="+mj-cs"/>
                <a:sym typeface="Helvetica"/>
              </a:rPr>
              <a:t>失败分类为 </a:t>
            </a:r>
            <a:r>
              <a:rPr sz="1100"/>
              <a:t>ProviderFailure</a:t>
            </a:r>
          </a:p>
        </p:txBody>
      </p:sp>
      <p:sp>
        <p:nvSpPr>
          <p:cNvPr id="691" name="Rounded Rectangle 39"/>
          <p:cNvSpPr/>
          <p:nvPr/>
        </p:nvSpPr>
        <p:spPr>
          <a:xfrm>
            <a:off x="9530461" y="1423431"/>
            <a:ext cx="2094581" cy="2958353"/>
          </a:xfrm>
          <a:prstGeom prst="roundRect">
            <a:avLst>
              <a:gd name="adj" fmla="val 2401"/>
            </a:avLst>
          </a:prstGeom>
          <a:solidFill>
            <a:srgbClr val="FFFFFF"/>
          </a:solidFill>
          <a:ln>
            <a:solidFill>
              <a:srgbClr val="DFE4EC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800"/>
          </a:p>
        </p:txBody>
      </p:sp>
      <p:sp>
        <p:nvSpPr>
          <p:cNvPr id="692" name="TextBox 40"/>
          <p:cNvSpPr txBox="1"/>
          <p:nvPr/>
        </p:nvSpPr>
        <p:spPr>
          <a:xfrm>
            <a:off x="9603613" y="1496515"/>
            <a:ext cx="1948277" cy="453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100">
                <a:solidFill>
                  <a:srgbClr val="14181F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600"/>
              <a:t>ConfidenceCandidate</a:t>
            </a:r>
          </a:p>
          <a:p>
            <a:pPr algn="ctr">
              <a:lnSpc>
                <a:spcPct val="114000"/>
              </a:lnSpc>
              <a:defRPr sz="8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050">
                <a:latin typeface="+mj-lt"/>
                <a:ea typeface="+mj-ea"/>
                <a:cs typeface="+mj-cs"/>
                <a:sym typeface="Helvetica"/>
              </a:rPr>
              <a:t>六维 </a:t>
            </a:r>
            <a:r>
              <a:rPr sz="1050"/>
              <a:t>+ penalties + fields_set</a:t>
            </a:r>
          </a:p>
        </p:txBody>
      </p:sp>
      <p:sp>
        <p:nvSpPr>
          <p:cNvPr id="693" name="Rounded Rectangle 41"/>
          <p:cNvSpPr/>
          <p:nvPr/>
        </p:nvSpPr>
        <p:spPr>
          <a:xfrm>
            <a:off x="9658477" y="2187673"/>
            <a:ext cx="1838549" cy="438913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 w="7620">
            <a:solidFill>
              <a:srgbClr val="DFE4EC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800"/>
          </a:p>
        </p:txBody>
      </p:sp>
      <p:sp>
        <p:nvSpPr>
          <p:cNvPr id="694" name="TextBox 42"/>
          <p:cNvSpPr txBox="1"/>
          <p:nvPr/>
        </p:nvSpPr>
        <p:spPr>
          <a:xfrm>
            <a:off x="9695053" y="2393036"/>
            <a:ext cx="1765396" cy="1809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9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100"/>
              <a:t>Agent </a:t>
            </a:r>
            <a:r>
              <a:rPr sz="1100">
                <a:latin typeface="+mj-lt"/>
                <a:ea typeface="+mj-ea"/>
                <a:cs typeface="+mj-cs"/>
                <a:sym typeface="Helvetica"/>
              </a:rPr>
              <a:t>发布候选</a:t>
            </a:r>
          </a:p>
        </p:txBody>
      </p:sp>
      <p:sp>
        <p:nvSpPr>
          <p:cNvPr id="695" name="Rounded Rectangle 43"/>
          <p:cNvSpPr/>
          <p:nvPr/>
        </p:nvSpPr>
        <p:spPr>
          <a:xfrm>
            <a:off x="9658477" y="2877954"/>
            <a:ext cx="1838549" cy="591671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7620">
            <a:solidFill>
              <a:srgbClr val="DFE4EC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800"/>
          </a:p>
        </p:txBody>
      </p:sp>
      <p:sp>
        <p:nvSpPr>
          <p:cNvPr id="696" name="TextBox 44"/>
          <p:cNvSpPr txBox="1"/>
          <p:nvPr/>
        </p:nvSpPr>
        <p:spPr>
          <a:xfrm>
            <a:off x="9695053" y="3084759"/>
            <a:ext cx="1765396" cy="1780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14000"/>
              </a:lnSpc>
              <a:defRPr sz="900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100">
                <a:latin typeface="+mj-lt"/>
                <a:ea typeface="+mj-ea"/>
                <a:cs typeface="+mj-cs"/>
                <a:sym typeface="Helvetica"/>
              </a:rPr>
              <a:t>子代理并行候选</a:t>
            </a:r>
          </a:p>
        </p:txBody>
      </p:sp>
      <p:sp>
        <p:nvSpPr>
          <p:cNvPr id="697" name="Rounded Rectangle 45"/>
          <p:cNvSpPr/>
          <p:nvPr/>
        </p:nvSpPr>
        <p:spPr>
          <a:xfrm>
            <a:off x="9658477" y="3568237"/>
            <a:ext cx="1838549" cy="591670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7620">
            <a:solidFill>
              <a:srgbClr val="DFE4EC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800"/>
          </a:p>
        </p:txBody>
      </p:sp>
      <p:sp>
        <p:nvSpPr>
          <p:cNvPr id="698" name="TextBox 46"/>
          <p:cNvSpPr txBox="1"/>
          <p:nvPr/>
        </p:nvSpPr>
        <p:spPr>
          <a:xfrm>
            <a:off x="9695053" y="3775042"/>
            <a:ext cx="1765396" cy="1780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14000"/>
              </a:lnSpc>
              <a:defRPr sz="900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100">
                <a:latin typeface="+mj-lt"/>
                <a:ea typeface="+mj-ea"/>
                <a:cs typeface="+mj-cs"/>
                <a:sym typeface="Helvetica"/>
              </a:rPr>
              <a:t>测试构造的桩对象</a:t>
            </a:r>
          </a:p>
        </p:txBody>
      </p:sp>
      <p:sp>
        <p:nvSpPr>
          <p:cNvPr id="699" name="TextBox 47"/>
          <p:cNvSpPr txBox="1"/>
          <p:nvPr/>
        </p:nvSpPr>
        <p:spPr>
          <a:xfrm>
            <a:off x="566927" y="4527982"/>
            <a:ext cx="11058116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 b="1">
                <a:solidFill>
                  <a:srgbClr val="14181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b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800" b="1">
                <a:latin typeface="+mj-lt"/>
                <a:ea typeface="+mj-ea"/>
                <a:cs typeface="+mj-cs"/>
                <a:sym typeface="Helvetica"/>
              </a:rPr>
              <a:t>这样设计换来什么</a:t>
            </a:r>
          </a:p>
        </p:txBody>
      </p:sp>
      <p:sp>
        <p:nvSpPr>
          <p:cNvPr id="700" name="Rounded Rectangle 48"/>
          <p:cNvSpPr/>
          <p:nvPr/>
        </p:nvSpPr>
        <p:spPr>
          <a:xfrm>
            <a:off x="566927" y="4922430"/>
            <a:ext cx="2641085" cy="887506"/>
          </a:xfrm>
          <a:prstGeom prst="roundRect">
            <a:avLst>
              <a:gd name="adj" fmla="val 5666"/>
            </a:avLst>
          </a:prstGeom>
          <a:solidFill>
            <a:srgbClr val="F0F7F9"/>
          </a:solidFill>
          <a:ln>
            <a:solidFill>
              <a:srgbClr val="B8D5D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800"/>
          </a:p>
        </p:txBody>
      </p:sp>
      <p:sp>
        <p:nvSpPr>
          <p:cNvPr id="701" name="Rectangle 49"/>
          <p:cNvSpPr/>
          <p:nvPr/>
        </p:nvSpPr>
        <p:spPr>
          <a:xfrm>
            <a:off x="566927" y="4922430"/>
            <a:ext cx="45721" cy="887506"/>
          </a:xfrm>
          <a:prstGeom prst="rect">
            <a:avLst/>
          </a:prstGeom>
          <a:solidFill>
            <a:srgbClr val="1F6F8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800"/>
          </a:p>
        </p:txBody>
      </p:sp>
      <p:sp>
        <p:nvSpPr>
          <p:cNvPr id="702" name="TextBox 50"/>
          <p:cNvSpPr txBox="1"/>
          <p:nvPr/>
        </p:nvSpPr>
        <p:spPr>
          <a:xfrm>
            <a:off x="749806" y="5005569"/>
            <a:ext cx="2311900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 b="1">
                <a:solidFill>
                  <a:srgbClr val="1F6F8B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b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800" b="1" dirty="0" err="1">
                <a:latin typeface="+mj-lt"/>
                <a:ea typeface="+mj-ea"/>
                <a:cs typeface="+mj-cs"/>
                <a:sym typeface="Helvetica"/>
              </a:rPr>
              <a:t>换实现零改动</a:t>
            </a:r>
            <a:endParaRPr sz="1800" b="1"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703" name="TextBox 51"/>
          <p:cNvSpPr txBox="1"/>
          <p:nvPr/>
        </p:nvSpPr>
        <p:spPr>
          <a:xfrm>
            <a:off x="736651" y="5402339"/>
            <a:ext cx="2522213" cy="2250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34000"/>
              </a:lnSpc>
              <a:defRPr sz="10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200" dirty="0"/>
              <a:t>· </a:t>
            </a:r>
            <a:r>
              <a:rPr sz="1200" dirty="0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换 </a:t>
            </a:r>
            <a:r>
              <a:rPr sz="1200" dirty="0">
                <a:solidFill>
                  <a:srgbClr val="4A5464"/>
                </a:solidFill>
              </a:rPr>
              <a:t>LLM / </a:t>
            </a:r>
            <a:r>
              <a:rPr sz="1200" dirty="0" err="1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嵌入</a:t>
            </a:r>
            <a:r>
              <a:rPr sz="1200" dirty="0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sz="1200" dirty="0">
                <a:solidFill>
                  <a:srgbClr val="4A5464"/>
                </a:solidFill>
              </a:rPr>
              <a:t>/ </a:t>
            </a:r>
            <a:r>
              <a:rPr sz="1200" dirty="0" err="1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解析器业务代码不变</a:t>
            </a:r>
            <a:endParaRPr sz="1200" dirty="0">
              <a:solidFill>
                <a:srgbClr val="4A5464"/>
              </a:solidFill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704" name="Rounded Rectangle 52"/>
          <p:cNvSpPr/>
          <p:nvPr/>
        </p:nvSpPr>
        <p:spPr>
          <a:xfrm>
            <a:off x="3372603" y="4922430"/>
            <a:ext cx="2641085" cy="887506"/>
          </a:xfrm>
          <a:prstGeom prst="roundRect">
            <a:avLst>
              <a:gd name="adj" fmla="val 5666"/>
            </a:avLst>
          </a:prstGeom>
          <a:solidFill>
            <a:srgbClr val="F0F7F9"/>
          </a:solidFill>
          <a:ln>
            <a:solidFill>
              <a:srgbClr val="B8D5D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800"/>
          </a:p>
        </p:txBody>
      </p:sp>
      <p:sp>
        <p:nvSpPr>
          <p:cNvPr id="705" name="Rectangle 53"/>
          <p:cNvSpPr/>
          <p:nvPr/>
        </p:nvSpPr>
        <p:spPr>
          <a:xfrm>
            <a:off x="3372603" y="4922430"/>
            <a:ext cx="45721" cy="887506"/>
          </a:xfrm>
          <a:prstGeom prst="rect">
            <a:avLst/>
          </a:prstGeom>
          <a:solidFill>
            <a:srgbClr val="1F6F8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800"/>
          </a:p>
        </p:txBody>
      </p:sp>
      <p:sp>
        <p:nvSpPr>
          <p:cNvPr id="706" name="TextBox 54"/>
          <p:cNvSpPr txBox="1"/>
          <p:nvPr/>
        </p:nvSpPr>
        <p:spPr>
          <a:xfrm>
            <a:off x="3555482" y="5005569"/>
            <a:ext cx="2311901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 b="1">
                <a:solidFill>
                  <a:srgbClr val="1F6F8B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b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800" b="1" dirty="0" err="1">
                <a:latin typeface="+mj-lt"/>
                <a:ea typeface="+mj-ea"/>
                <a:cs typeface="+mj-cs"/>
                <a:sym typeface="Helvetica"/>
              </a:rPr>
              <a:t>测试可全离线</a:t>
            </a:r>
            <a:endParaRPr sz="1800" b="1"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707" name="TextBox 55"/>
          <p:cNvSpPr txBox="1"/>
          <p:nvPr/>
        </p:nvSpPr>
        <p:spPr>
          <a:xfrm>
            <a:off x="3555484" y="5415495"/>
            <a:ext cx="2485638" cy="2250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34000"/>
              </a:lnSpc>
              <a:defRPr sz="10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200" dirty="0"/>
              <a:t>· </a:t>
            </a:r>
            <a:r>
              <a:rPr sz="1200" dirty="0" err="1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轻量替身注入，不访问网络与密钥</a:t>
            </a:r>
            <a:endParaRPr sz="1200" dirty="0">
              <a:solidFill>
                <a:srgbClr val="4A5464"/>
              </a:solidFill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708" name="Rounded Rectangle 56"/>
          <p:cNvSpPr/>
          <p:nvPr/>
        </p:nvSpPr>
        <p:spPr>
          <a:xfrm>
            <a:off x="6178281" y="4922430"/>
            <a:ext cx="2641084" cy="887506"/>
          </a:xfrm>
          <a:prstGeom prst="roundRect">
            <a:avLst>
              <a:gd name="adj" fmla="val 5666"/>
            </a:avLst>
          </a:prstGeom>
          <a:solidFill>
            <a:srgbClr val="F0F7F9"/>
          </a:solidFill>
          <a:ln>
            <a:solidFill>
              <a:srgbClr val="B8D5D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800"/>
          </a:p>
        </p:txBody>
      </p:sp>
      <p:sp>
        <p:nvSpPr>
          <p:cNvPr id="709" name="Rectangle 57"/>
          <p:cNvSpPr/>
          <p:nvPr/>
        </p:nvSpPr>
        <p:spPr>
          <a:xfrm>
            <a:off x="6178281" y="4922430"/>
            <a:ext cx="45721" cy="887506"/>
          </a:xfrm>
          <a:prstGeom prst="rect">
            <a:avLst/>
          </a:prstGeom>
          <a:solidFill>
            <a:srgbClr val="1F6F8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800"/>
          </a:p>
        </p:txBody>
      </p:sp>
      <p:sp>
        <p:nvSpPr>
          <p:cNvPr id="710" name="TextBox 58"/>
          <p:cNvSpPr txBox="1"/>
          <p:nvPr/>
        </p:nvSpPr>
        <p:spPr>
          <a:xfrm>
            <a:off x="6324584" y="5008698"/>
            <a:ext cx="2311901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 b="1">
                <a:solidFill>
                  <a:srgbClr val="1F6F8B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b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800" b="1" dirty="0" err="1">
                <a:latin typeface="+mj-lt"/>
                <a:ea typeface="+mj-ea"/>
                <a:cs typeface="+mj-cs"/>
                <a:sym typeface="Helvetica"/>
              </a:rPr>
              <a:t>降级集中一处</a:t>
            </a:r>
            <a:endParaRPr sz="1800" b="1"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711" name="TextBox 59"/>
          <p:cNvSpPr txBox="1"/>
          <p:nvPr/>
        </p:nvSpPr>
        <p:spPr>
          <a:xfrm>
            <a:off x="6361160" y="5415497"/>
            <a:ext cx="2275325" cy="2250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4000"/>
              </a:lnSpc>
              <a:defRPr sz="10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200" dirty="0"/>
              <a:t>· </a:t>
            </a:r>
            <a:r>
              <a:rPr sz="1200" dirty="0" err="1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失败收敛为协议级异常</a:t>
            </a:r>
            <a:endParaRPr sz="1200" dirty="0">
              <a:solidFill>
                <a:srgbClr val="4A5464"/>
              </a:solidFill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712" name="Rounded Rectangle 60"/>
          <p:cNvSpPr/>
          <p:nvPr/>
        </p:nvSpPr>
        <p:spPr>
          <a:xfrm>
            <a:off x="8983957" y="4922430"/>
            <a:ext cx="2641085" cy="887506"/>
          </a:xfrm>
          <a:prstGeom prst="roundRect">
            <a:avLst>
              <a:gd name="adj" fmla="val 5666"/>
            </a:avLst>
          </a:prstGeom>
          <a:solidFill>
            <a:srgbClr val="F0F7F9"/>
          </a:solidFill>
          <a:ln>
            <a:solidFill>
              <a:srgbClr val="B8D5D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800"/>
          </a:p>
        </p:txBody>
      </p:sp>
      <p:sp>
        <p:nvSpPr>
          <p:cNvPr id="713" name="Rectangle 61"/>
          <p:cNvSpPr/>
          <p:nvPr/>
        </p:nvSpPr>
        <p:spPr>
          <a:xfrm>
            <a:off x="8983957" y="4922430"/>
            <a:ext cx="45721" cy="887506"/>
          </a:xfrm>
          <a:prstGeom prst="rect">
            <a:avLst/>
          </a:prstGeom>
          <a:solidFill>
            <a:srgbClr val="1F6F8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800"/>
          </a:p>
        </p:txBody>
      </p:sp>
      <p:sp>
        <p:nvSpPr>
          <p:cNvPr id="714" name="TextBox 62"/>
          <p:cNvSpPr txBox="1"/>
          <p:nvPr/>
        </p:nvSpPr>
        <p:spPr>
          <a:xfrm>
            <a:off x="9161064" y="5013632"/>
            <a:ext cx="2311901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 b="1">
                <a:solidFill>
                  <a:srgbClr val="1F6F8B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b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800" b="1" dirty="0" err="1">
                <a:latin typeface="+mj-lt"/>
                <a:ea typeface="+mj-ea"/>
                <a:cs typeface="+mj-cs"/>
                <a:sym typeface="Helvetica"/>
              </a:rPr>
              <a:t>无需继承基类</a:t>
            </a:r>
            <a:endParaRPr sz="1800" b="1"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715" name="TextBox 63"/>
          <p:cNvSpPr txBox="1"/>
          <p:nvPr/>
        </p:nvSpPr>
        <p:spPr>
          <a:xfrm>
            <a:off x="9166837" y="5435231"/>
            <a:ext cx="2275325" cy="2250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4000"/>
              </a:lnSpc>
              <a:defRPr sz="10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200" dirty="0"/>
              <a:t>· </a:t>
            </a:r>
            <a:r>
              <a:rPr sz="1200" dirty="0" err="1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结构化类型，实现方保持独立</a:t>
            </a:r>
            <a:endParaRPr sz="1200" dirty="0">
              <a:solidFill>
                <a:srgbClr val="4A5464"/>
              </a:solidFill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716" name="Rounded Rectangle 64"/>
          <p:cNvSpPr/>
          <p:nvPr/>
        </p:nvSpPr>
        <p:spPr>
          <a:xfrm>
            <a:off x="566927" y="5957853"/>
            <a:ext cx="1883666" cy="369795"/>
          </a:xfrm>
          <a:prstGeom prst="roundRect">
            <a:avLst>
              <a:gd name="adj" fmla="val 13600"/>
            </a:avLst>
          </a:prstGeom>
          <a:solidFill>
            <a:srgbClr val="F5F2FC"/>
          </a:solidFill>
          <a:ln>
            <a:solidFill>
              <a:srgbClr val="CCC0E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800"/>
          </a:p>
        </p:txBody>
      </p:sp>
      <p:sp>
        <p:nvSpPr>
          <p:cNvPr id="717" name="TextBox 65"/>
          <p:cNvSpPr txBox="1"/>
          <p:nvPr/>
        </p:nvSpPr>
        <p:spPr>
          <a:xfrm>
            <a:off x="566927" y="6045640"/>
            <a:ext cx="1883666" cy="1942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000">
                <a:solidFill>
                  <a:srgbClr val="7A5CC4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200" b="1" dirty="0" err="1">
                <a:latin typeface="+mj-lt"/>
                <a:ea typeface="+mj-ea"/>
                <a:cs typeface="+mj-cs"/>
                <a:sym typeface="Helvetica"/>
              </a:rPr>
              <a:t>前端同样按接口切分</a:t>
            </a:r>
            <a:endParaRPr sz="1200" b="1"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718" name="Rounded Rectangle 66"/>
          <p:cNvSpPr/>
          <p:nvPr/>
        </p:nvSpPr>
        <p:spPr>
          <a:xfrm>
            <a:off x="2551176" y="5957853"/>
            <a:ext cx="2688336" cy="369795"/>
          </a:xfrm>
          <a:prstGeom prst="roundRect">
            <a:avLst>
              <a:gd name="adj" fmla="val 13600"/>
            </a:avLst>
          </a:prstGeom>
          <a:solidFill>
            <a:srgbClr val="F5F2FC"/>
          </a:solidFill>
          <a:ln>
            <a:solidFill>
              <a:srgbClr val="CCC0E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800"/>
          </a:p>
        </p:txBody>
      </p:sp>
      <p:sp>
        <p:nvSpPr>
          <p:cNvPr id="719" name="TextBox 67"/>
          <p:cNvSpPr txBox="1"/>
          <p:nvPr/>
        </p:nvSpPr>
        <p:spPr>
          <a:xfrm>
            <a:off x="2551176" y="6044069"/>
            <a:ext cx="2688336" cy="197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000">
                <a:solidFill>
                  <a:srgbClr val="7A5CC4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200"/>
              <a:t>types/*.ts </a:t>
            </a:r>
            <a:r>
              <a:rPr sz="1200" b="1">
                <a:latin typeface="+mj-lt"/>
                <a:ea typeface="+mj-ea"/>
                <a:cs typeface="+mj-cs"/>
                <a:sym typeface="Helvetica"/>
              </a:rPr>
              <a:t>与 </a:t>
            </a:r>
            <a:r>
              <a:rPr sz="1200"/>
              <a:t>schemas/*.py </a:t>
            </a:r>
            <a:r>
              <a:rPr sz="1200" b="1">
                <a:latin typeface="+mj-lt"/>
                <a:ea typeface="+mj-ea"/>
                <a:cs typeface="+mj-cs"/>
                <a:sym typeface="Helvetica"/>
              </a:rPr>
              <a:t>一一对应</a:t>
            </a:r>
          </a:p>
        </p:txBody>
      </p:sp>
      <p:sp>
        <p:nvSpPr>
          <p:cNvPr id="720" name="Rounded Rectangle 68"/>
          <p:cNvSpPr/>
          <p:nvPr/>
        </p:nvSpPr>
        <p:spPr>
          <a:xfrm>
            <a:off x="5340096" y="5957853"/>
            <a:ext cx="1803197" cy="369795"/>
          </a:xfrm>
          <a:prstGeom prst="roundRect">
            <a:avLst>
              <a:gd name="adj" fmla="val 13600"/>
            </a:avLst>
          </a:prstGeom>
          <a:solidFill>
            <a:srgbClr val="F5F2FC"/>
          </a:solidFill>
          <a:ln>
            <a:solidFill>
              <a:srgbClr val="CCC0E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800"/>
          </a:p>
        </p:txBody>
      </p:sp>
      <p:sp>
        <p:nvSpPr>
          <p:cNvPr id="721" name="TextBox 69"/>
          <p:cNvSpPr txBox="1"/>
          <p:nvPr/>
        </p:nvSpPr>
        <p:spPr>
          <a:xfrm>
            <a:off x="5340096" y="6044069"/>
            <a:ext cx="1781083" cy="197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000">
                <a:solidFill>
                  <a:srgbClr val="7A5CC4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200" dirty="0"/>
              <a:t>composable </a:t>
            </a:r>
            <a:r>
              <a:rPr sz="1200" b="1" dirty="0" err="1">
                <a:latin typeface="+mj-lt"/>
                <a:ea typeface="+mj-ea"/>
                <a:cs typeface="+mj-cs"/>
                <a:sym typeface="Helvetica"/>
              </a:rPr>
              <a:t>作为领域门面</a:t>
            </a:r>
            <a:endParaRPr sz="1200" b="1"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722" name="Rounded Rectangle 70"/>
          <p:cNvSpPr/>
          <p:nvPr/>
        </p:nvSpPr>
        <p:spPr>
          <a:xfrm>
            <a:off x="7308626" y="5975783"/>
            <a:ext cx="2419851" cy="369795"/>
          </a:xfrm>
          <a:prstGeom prst="roundRect">
            <a:avLst>
              <a:gd name="adj" fmla="val 13600"/>
            </a:avLst>
          </a:prstGeom>
          <a:solidFill>
            <a:srgbClr val="EFF9F6"/>
          </a:solidFill>
          <a:ln>
            <a:solidFill>
              <a:srgbClr val="B3DED4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800"/>
          </a:p>
        </p:txBody>
      </p:sp>
      <p:sp>
        <p:nvSpPr>
          <p:cNvPr id="723" name="TextBox 71"/>
          <p:cNvSpPr txBox="1"/>
          <p:nvPr/>
        </p:nvSpPr>
        <p:spPr>
          <a:xfrm>
            <a:off x="7308626" y="6044067"/>
            <a:ext cx="2279502" cy="197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000">
                <a:solidFill>
                  <a:srgbClr val="1F8F78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200" dirty="0" err="1"/>
              <a:t>vue-tsc</a:t>
            </a:r>
            <a:r>
              <a:rPr sz="1200" dirty="0"/>
              <a:t> </a:t>
            </a:r>
            <a:r>
              <a:rPr sz="1200" b="1" dirty="0" err="1">
                <a:latin typeface="+mj-lt"/>
                <a:ea typeface="+mj-ea"/>
                <a:cs typeface="+mj-cs"/>
                <a:sym typeface="Helvetica"/>
              </a:rPr>
              <a:t>把契约漂移变成编译错误</a:t>
            </a:r>
            <a:endParaRPr sz="1200" b="1" dirty="0">
              <a:latin typeface="+mj-lt"/>
              <a:ea typeface="+mj-ea"/>
              <a:cs typeface="+mj-cs"/>
              <a:sym typeface="Helvetica"/>
            </a:endParaRPr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Rectangle 2"/>
          <p:cNvSpPr/>
          <p:nvPr/>
        </p:nvSpPr>
        <p:spPr>
          <a:xfrm>
            <a:off x="-1" y="0"/>
            <a:ext cx="56695" cy="6858000"/>
          </a:xfrm>
          <a:prstGeom prst="rect">
            <a:avLst/>
          </a:prstGeom>
          <a:solidFill>
            <a:srgbClr val="1F6F8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800"/>
          </a:p>
        </p:txBody>
      </p:sp>
      <p:sp>
        <p:nvSpPr>
          <p:cNvPr id="727" name="TextBox 3"/>
          <p:cNvSpPr txBox="1"/>
          <p:nvPr/>
        </p:nvSpPr>
        <p:spPr>
          <a:xfrm>
            <a:off x="566927" y="384047"/>
            <a:ext cx="1105811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1F6F8B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t>KEY TECHNOLOGIES</a:t>
            </a:r>
          </a:p>
        </p:txBody>
      </p:sp>
      <p:sp>
        <p:nvSpPr>
          <p:cNvPr id="728" name="TextBox 4"/>
          <p:cNvSpPr txBox="1"/>
          <p:nvPr/>
        </p:nvSpPr>
        <p:spPr>
          <a:xfrm>
            <a:off x="566927" y="603504"/>
            <a:ext cx="11058116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500" b="1">
                <a:solidFill>
                  <a:srgbClr val="14181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b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关键技术与选型理由</a:t>
            </a:r>
          </a:p>
        </p:txBody>
      </p:sp>
      <p:sp>
        <p:nvSpPr>
          <p:cNvPr id="729" name="TextBox 5"/>
          <p:cNvSpPr txBox="1"/>
          <p:nvPr/>
        </p:nvSpPr>
        <p:spPr>
          <a:xfrm>
            <a:off x="11231850" y="6473952"/>
            <a:ext cx="4572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9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lvl1pPr>
          </a:lstStyle>
          <a:p>
            <a:r>
              <a:t>23</a:t>
            </a:r>
          </a:p>
        </p:txBody>
      </p:sp>
      <p:sp>
        <p:nvSpPr>
          <p:cNvPr id="730" name="Rounded Rectangle 6"/>
          <p:cNvSpPr/>
          <p:nvPr/>
        </p:nvSpPr>
        <p:spPr>
          <a:xfrm>
            <a:off x="566927" y="1298447"/>
            <a:ext cx="3564120" cy="1813414"/>
          </a:xfrm>
          <a:prstGeom prst="roundRect">
            <a:avLst>
              <a:gd name="adj" fmla="val 2773"/>
            </a:avLst>
          </a:prstGeom>
          <a:solidFill>
            <a:srgbClr val="F0F7F9"/>
          </a:solidFill>
          <a:ln>
            <a:solidFill>
              <a:srgbClr val="B8D5D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800"/>
          </a:p>
        </p:txBody>
      </p:sp>
      <p:sp>
        <p:nvSpPr>
          <p:cNvPr id="731" name="Rectangle 7"/>
          <p:cNvSpPr/>
          <p:nvPr/>
        </p:nvSpPr>
        <p:spPr>
          <a:xfrm>
            <a:off x="566927" y="1298447"/>
            <a:ext cx="45721" cy="1813414"/>
          </a:xfrm>
          <a:prstGeom prst="rect">
            <a:avLst/>
          </a:prstGeom>
          <a:solidFill>
            <a:srgbClr val="1F6F8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800"/>
          </a:p>
        </p:txBody>
      </p:sp>
      <p:sp>
        <p:nvSpPr>
          <p:cNvPr id="732" name="TextBox 8"/>
          <p:cNvSpPr txBox="1"/>
          <p:nvPr/>
        </p:nvSpPr>
        <p:spPr>
          <a:xfrm>
            <a:off x="749807" y="1491878"/>
            <a:ext cx="3234936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 b="1">
                <a:solidFill>
                  <a:srgbClr val="1F6F8B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b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800" b="1">
                <a:latin typeface="+mj-lt"/>
                <a:ea typeface="+mj-ea"/>
                <a:cs typeface="+mj-cs"/>
                <a:sym typeface="Helvetica"/>
              </a:rPr>
              <a:t>桌面壳与打包</a:t>
            </a:r>
          </a:p>
        </p:txBody>
      </p:sp>
      <p:sp>
        <p:nvSpPr>
          <p:cNvPr id="733" name="TextBox 9"/>
          <p:cNvSpPr txBox="1"/>
          <p:nvPr/>
        </p:nvSpPr>
        <p:spPr>
          <a:xfrm>
            <a:off x="749807" y="2074884"/>
            <a:ext cx="3198360" cy="719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4000"/>
              </a:lnSpc>
              <a:defRPr sz="10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200" dirty="0"/>
              <a:t>· </a:t>
            </a:r>
            <a:r>
              <a:rPr sz="1200" dirty="0">
                <a:solidFill>
                  <a:srgbClr val="4A5464"/>
                </a:solidFill>
              </a:rPr>
              <a:t>Tauri 2</a:t>
            </a:r>
            <a:r>
              <a:rPr sz="1200" dirty="0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：系统 </a:t>
            </a:r>
            <a:r>
              <a:rPr sz="1200" dirty="0" err="1">
                <a:solidFill>
                  <a:srgbClr val="4A5464"/>
                </a:solidFill>
              </a:rPr>
              <a:t>WebView</a:t>
            </a:r>
            <a:r>
              <a:rPr sz="1200" dirty="0" err="1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，包体远小于</a:t>
            </a:r>
            <a:r>
              <a:rPr sz="1200" dirty="0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sz="1200" dirty="0">
                <a:solidFill>
                  <a:srgbClr val="4A5464"/>
                </a:solidFill>
              </a:rPr>
              <a:t>Electron</a:t>
            </a:r>
          </a:p>
          <a:p>
            <a:pPr>
              <a:lnSpc>
                <a:spcPct val="134000"/>
              </a:lnSpc>
              <a:defRPr sz="10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200" dirty="0"/>
              <a:t>· </a:t>
            </a:r>
            <a:r>
              <a:rPr sz="1200" dirty="0" err="1">
                <a:solidFill>
                  <a:srgbClr val="4A5464"/>
                </a:solidFill>
              </a:rPr>
              <a:t>PyInstaller</a:t>
            </a:r>
            <a:r>
              <a:rPr sz="1200" dirty="0">
                <a:solidFill>
                  <a:srgbClr val="4A5464"/>
                </a:solidFill>
              </a:rPr>
              <a:t> </a:t>
            </a:r>
            <a:r>
              <a:rPr sz="1200" dirty="0" err="1">
                <a:solidFill>
                  <a:srgbClr val="4A5464"/>
                </a:solidFill>
              </a:rPr>
              <a:t>sidecar</a:t>
            </a:r>
            <a:r>
              <a:rPr sz="1200" dirty="0" err="1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：后端</a:t>
            </a:r>
            <a:r>
              <a:rPr sz="1200" dirty="0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sz="1200" dirty="0">
                <a:solidFill>
                  <a:srgbClr val="4A5464"/>
                </a:solidFill>
              </a:rPr>
              <a:t>+ </a:t>
            </a:r>
            <a:r>
              <a:rPr sz="1200" dirty="0" err="1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迁移</a:t>
            </a:r>
            <a:r>
              <a:rPr sz="1200" dirty="0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sz="1200" dirty="0">
                <a:solidFill>
                  <a:srgbClr val="4A5464"/>
                </a:solidFill>
              </a:rPr>
              <a:t>+ Skills </a:t>
            </a:r>
            <a:r>
              <a:rPr sz="1200" dirty="0" err="1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打进包</a:t>
            </a:r>
            <a:endParaRPr sz="1200" dirty="0">
              <a:solidFill>
                <a:srgbClr val="4A5464"/>
              </a:solidFill>
              <a:latin typeface="+mj-lt"/>
              <a:ea typeface="+mj-ea"/>
              <a:cs typeface="+mj-cs"/>
              <a:sym typeface="Helvetica"/>
            </a:endParaRPr>
          </a:p>
          <a:p>
            <a:pPr>
              <a:lnSpc>
                <a:spcPct val="134000"/>
              </a:lnSpc>
              <a:defRPr sz="10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200" dirty="0"/>
              <a:t>· </a:t>
            </a:r>
            <a:r>
              <a:rPr sz="1200" dirty="0">
                <a:solidFill>
                  <a:srgbClr val="4A5464"/>
                </a:solidFill>
              </a:rPr>
              <a:t>Rust </a:t>
            </a:r>
            <a:r>
              <a:rPr sz="1200" dirty="0" err="1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壳注入数据目录、端口、父进程</a:t>
            </a:r>
            <a:r>
              <a:rPr sz="1200" dirty="0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sz="1200" dirty="0">
                <a:solidFill>
                  <a:srgbClr val="4A5464"/>
                </a:solidFill>
              </a:rPr>
              <a:t>PID</a:t>
            </a:r>
          </a:p>
        </p:txBody>
      </p:sp>
      <p:sp>
        <p:nvSpPr>
          <p:cNvPr id="734" name="Rounded Rectangle 10"/>
          <p:cNvSpPr/>
          <p:nvPr/>
        </p:nvSpPr>
        <p:spPr>
          <a:xfrm>
            <a:off x="4313925" y="1298447"/>
            <a:ext cx="3564119" cy="1813414"/>
          </a:xfrm>
          <a:prstGeom prst="roundRect">
            <a:avLst>
              <a:gd name="adj" fmla="val 2773"/>
            </a:avLst>
          </a:prstGeom>
          <a:solidFill>
            <a:srgbClr val="F5F2FC"/>
          </a:solidFill>
          <a:ln>
            <a:solidFill>
              <a:srgbClr val="CCC0E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800"/>
          </a:p>
        </p:txBody>
      </p:sp>
      <p:sp>
        <p:nvSpPr>
          <p:cNvPr id="735" name="Rectangle 11"/>
          <p:cNvSpPr/>
          <p:nvPr/>
        </p:nvSpPr>
        <p:spPr>
          <a:xfrm>
            <a:off x="4313925" y="1298447"/>
            <a:ext cx="45721" cy="1813414"/>
          </a:xfrm>
          <a:prstGeom prst="rect">
            <a:avLst/>
          </a:prstGeom>
          <a:solidFill>
            <a:srgbClr val="7A5CC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800"/>
          </a:p>
        </p:txBody>
      </p:sp>
      <p:sp>
        <p:nvSpPr>
          <p:cNvPr id="736" name="TextBox 12"/>
          <p:cNvSpPr txBox="1"/>
          <p:nvPr/>
        </p:nvSpPr>
        <p:spPr>
          <a:xfrm>
            <a:off x="4496806" y="1491878"/>
            <a:ext cx="3234935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 b="1">
                <a:solidFill>
                  <a:srgbClr val="7A5CC4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b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800" b="1">
                <a:latin typeface="+mj-lt"/>
                <a:ea typeface="+mj-ea"/>
                <a:cs typeface="+mj-cs"/>
                <a:sym typeface="Helvetica"/>
              </a:rPr>
              <a:t>论文与代码理解</a:t>
            </a:r>
          </a:p>
        </p:txBody>
      </p:sp>
      <p:sp>
        <p:nvSpPr>
          <p:cNvPr id="737" name="TextBox 13"/>
          <p:cNvSpPr txBox="1"/>
          <p:nvPr/>
        </p:nvSpPr>
        <p:spPr>
          <a:xfrm>
            <a:off x="4496806" y="1951164"/>
            <a:ext cx="3198359" cy="967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4000"/>
              </a:lnSpc>
              <a:defRPr sz="10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200"/>
              <a:t>· </a:t>
            </a:r>
            <a:r>
              <a:rPr sz="1200">
                <a:solidFill>
                  <a:srgbClr val="4A5464"/>
                </a:solidFill>
              </a:rPr>
              <a:t>MinerU</a:t>
            </a:r>
            <a:r>
              <a:rPr sz="1200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：稳定</a:t>
            </a:r>
            <a:r>
              <a:rPr sz="1200">
                <a:solidFill>
                  <a:srgbClr val="4A5464"/>
                </a:solidFill>
              </a:rPr>
              <a:t>整理公式</a:t>
            </a:r>
            <a:endParaRPr sz="1200">
              <a:solidFill>
                <a:srgbClr val="4A5464"/>
              </a:solidFill>
              <a:latin typeface="+mj-lt"/>
              <a:ea typeface="+mj-ea"/>
              <a:cs typeface="+mj-cs"/>
              <a:sym typeface="Helvetica"/>
            </a:endParaRPr>
          </a:p>
          <a:p>
            <a:pPr>
              <a:lnSpc>
                <a:spcPct val="134000"/>
              </a:lnSpc>
              <a:defRPr sz="10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200"/>
              <a:t>· </a:t>
            </a:r>
            <a:r>
              <a:rPr sz="1200">
                <a:solidFill>
                  <a:srgbClr val="4A5464"/>
                </a:solidFill>
              </a:rPr>
              <a:t>Python AST</a:t>
            </a:r>
            <a:r>
              <a:rPr sz="1200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：符号、</a:t>
            </a:r>
            <a:r>
              <a:rPr sz="1200">
                <a:solidFill>
                  <a:srgbClr val="4A5464"/>
                </a:solidFill>
              </a:rPr>
              <a:t>import</a:t>
            </a:r>
            <a:r>
              <a:rPr sz="1200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、调用、</a:t>
            </a:r>
            <a:r>
              <a:rPr sz="1200">
                <a:solidFill>
                  <a:srgbClr val="4A5464"/>
                </a:solidFill>
              </a:rPr>
              <a:t>PyTorch </a:t>
            </a:r>
            <a:r>
              <a:rPr sz="1200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候选</a:t>
            </a:r>
          </a:p>
          <a:p>
            <a:pPr>
              <a:lnSpc>
                <a:spcPct val="134000"/>
              </a:lnSpc>
              <a:defRPr sz="10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200"/>
              <a:t>· </a:t>
            </a:r>
            <a:r>
              <a:rPr sz="1200">
                <a:solidFill>
                  <a:srgbClr val="4A5464"/>
                </a:solidFill>
              </a:rPr>
              <a:t>basedpyright LSP + </a:t>
            </a:r>
            <a:r>
              <a:rPr sz="1200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张量语义图与架构图</a:t>
            </a:r>
          </a:p>
        </p:txBody>
      </p:sp>
      <p:sp>
        <p:nvSpPr>
          <p:cNvPr id="738" name="Rounded Rectangle 14"/>
          <p:cNvSpPr/>
          <p:nvPr/>
        </p:nvSpPr>
        <p:spPr>
          <a:xfrm>
            <a:off x="8060924" y="1298447"/>
            <a:ext cx="3564119" cy="1813414"/>
          </a:xfrm>
          <a:prstGeom prst="roundRect">
            <a:avLst>
              <a:gd name="adj" fmla="val 2773"/>
            </a:avLst>
          </a:prstGeom>
          <a:solidFill>
            <a:srgbClr val="EFF9F6"/>
          </a:solidFill>
          <a:ln>
            <a:solidFill>
              <a:srgbClr val="B3DED4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800"/>
          </a:p>
        </p:txBody>
      </p:sp>
      <p:sp>
        <p:nvSpPr>
          <p:cNvPr id="739" name="Rectangle 15"/>
          <p:cNvSpPr/>
          <p:nvPr/>
        </p:nvSpPr>
        <p:spPr>
          <a:xfrm>
            <a:off x="8060924" y="1298447"/>
            <a:ext cx="45721" cy="1813414"/>
          </a:xfrm>
          <a:prstGeom prst="rect">
            <a:avLst/>
          </a:prstGeom>
          <a:solidFill>
            <a:srgbClr val="1F8F7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800"/>
          </a:p>
        </p:txBody>
      </p:sp>
      <p:sp>
        <p:nvSpPr>
          <p:cNvPr id="740" name="TextBox 16"/>
          <p:cNvSpPr txBox="1"/>
          <p:nvPr/>
        </p:nvSpPr>
        <p:spPr>
          <a:xfrm>
            <a:off x="8243803" y="1491878"/>
            <a:ext cx="3234935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 b="1">
                <a:solidFill>
                  <a:srgbClr val="1F8F78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b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800" b="1">
                <a:latin typeface="+mj-lt"/>
                <a:ea typeface="+mj-ea"/>
                <a:cs typeface="+mj-cs"/>
                <a:sym typeface="Helvetica"/>
              </a:rPr>
              <a:t>存储</a:t>
            </a:r>
          </a:p>
        </p:txBody>
      </p:sp>
      <p:sp>
        <p:nvSpPr>
          <p:cNvPr id="741" name="TextBox 17"/>
          <p:cNvSpPr txBox="1"/>
          <p:nvPr/>
        </p:nvSpPr>
        <p:spPr>
          <a:xfrm>
            <a:off x="8243803" y="2076455"/>
            <a:ext cx="3198359" cy="716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4000"/>
              </a:lnSpc>
              <a:defRPr sz="10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200"/>
              <a:t>· </a:t>
            </a:r>
            <a:r>
              <a:rPr sz="1200">
                <a:solidFill>
                  <a:srgbClr val="4A5464"/>
                </a:solidFill>
              </a:rPr>
              <a:t>SQLModel / SQLAlchemy</a:t>
            </a:r>
            <a:r>
              <a:rPr sz="1200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，本地仅 </a:t>
            </a:r>
            <a:r>
              <a:rPr sz="1200">
                <a:solidFill>
                  <a:srgbClr val="4A5464"/>
                </a:solidFill>
              </a:rPr>
              <a:t>SQLite</a:t>
            </a:r>
          </a:p>
          <a:p>
            <a:pPr>
              <a:lnSpc>
                <a:spcPct val="134000"/>
              </a:lnSpc>
              <a:defRPr sz="10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200"/>
              <a:t>· </a:t>
            </a:r>
            <a:r>
              <a:rPr sz="1200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启动时自动迁移：</a:t>
            </a:r>
            <a:r>
              <a:rPr sz="1200">
                <a:solidFill>
                  <a:srgbClr val="4A5464"/>
                </a:solidFill>
              </a:rPr>
              <a:t>Alembic </a:t>
            </a:r>
            <a:r>
              <a:rPr sz="1200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优先 </a:t>
            </a:r>
            <a:r>
              <a:rPr sz="1200">
                <a:solidFill>
                  <a:srgbClr val="4A5464"/>
                </a:solidFill>
              </a:rPr>
              <a:t>+ </a:t>
            </a:r>
            <a:r>
              <a:rPr sz="1200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兼容升级兜底</a:t>
            </a:r>
          </a:p>
        </p:txBody>
      </p:sp>
      <p:sp>
        <p:nvSpPr>
          <p:cNvPr id="751" name="Rounded Rectangle 27"/>
          <p:cNvSpPr/>
          <p:nvPr/>
        </p:nvSpPr>
        <p:spPr>
          <a:xfrm>
            <a:off x="1467656" y="3822629"/>
            <a:ext cx="4108675" cy="1692520"/>
          </a:xfrm>
          <a:prstGeom prst="roundRect">
            <a:avLst>
              <a:gd name="adj" fmla="val 2971"/>
            </a:avLst>
          </a:prstGeom>
          <a:solidFill>
            <a:srgbClr val="FDF8EC"/>
          </a:solidFill>
          <a:ln>
            <a:solidFill>
              <a:srgbClr val="E9D29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800"/>
          </a:p>
        </p:txBody>
      </p:sp>
      <p:sp>
        <p:nvSpPr>
          <p:cNvPr id="752" name="Rectangle 28"/>
          <p:cNvSpPr/>
          <p:nvPr/>
        </p:nvSpPr>
        <p:spPr>
          <a:xfrm>
            <a:off x="1467656" y="3822629"/>
            <a:ext cx="45721" cy="1692520"/>
          </a:xfrm>
          <a:prstGeom prst="rect">
            <a:avLst/>
          </a:prstGeom>
          <a:solidFill>
            <a:srgbClr val="D99B0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800"/>
          </a:p>
        </p:txBody>
      </p:sp>
      <p:sp>
        <p:nvSpPr>
          <p:cNvPr id="753" name="TextBox 29"/>
          <p:cNvSpPr txBox="1"/>
          <p:nvPr/>
        </p:nvSpPr>
        <p:spPr>
          <a:xfrm>
            <a:off x="1650535" y="4016061"/>
            <a:ext cx="3779490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 b="1">
                <a:solidFill>
                  <a:srgbClr val="D99B06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b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800" b="1">
                <a:latin typeface="+mj-lt"/>
                <a:ea typeface="+mj-ea"/>
                <a:cs typeface="+mj-cs"/>
                <a:sym typeface="Helvetica"/>
              </a:rPr>
              <a:t>安全相关技术措施</a:t>
            </a:r>
          </a:p>
        </p:txBody>
      </p:sp>
      <p:sp>
        <p:nvSpPr>
          <p:cNvPr id="754" name="TextBox 30"/>
          <p:cNvSpPr txBox="1"/>
          <p:nvPr/>
        </p:nvSpPr>
        <p:spPr>
          <a:xfrm>
            <a:off x="1650535" y="4538619"/>
            <a:ext cx="3742916" cy="719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4000"/>
              </a:lnSpc>
              <a:defRPr sz="10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200"/>
              <a:t>· </a:t>
            </a:r>
            <a:r>
              <a:rPr sz="1200">
                <a:solidFill>
                  <a:srgbClr val="4A5464"/>
                </a:solidFill>
              </a:rPr>
              <a:t>ZIP </a:t>
            </a:r>
            <a:r>
              <a:rPr sz="1200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拒绝绝对路径 </a:t>
            </a:r>
            <a:r>
              <a:rPr sz="1200">
                <a:solidFill>
                  <a:srgbClr val="4A5464"/>
                </a:solidFill>
              </a:rPr>
              <a:t>/ .. / symlink</a:t>
            </a:r>
            <a:r>
              <a:rPr sz="1200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，限文件数与展开大小</a:t>
            </a:r>
          </a:p>
          <a:p>
            <a:pPr>
              <a:lnSpc>
                <a:spcPct val="134000"/>
              </a:lnSpc>
              <a:defRPr sz="10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200"/>
              <a:t>· </a:t>
            </a:r>
            <a:r>
              <a:rPr sz="1200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编辑白名单：规范化路径 </a:t>
            </a:r>
            <a:r>
              <a:rPr sz="1200">
                <a:solidFill>
                  <a:srgbClr val="4A5464"/>
                </a:solidFill>
              </a:rPr>
              <a:t>+ </a:t>
            </a:r>
            <a:r>
              <a:rPr sz="1200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文本类型 </a:t>
            </a:r>
            <a:r>
              <a:rPr sz="1200">
                <a:solidFill>
                  <a:srgbClr val="4A5464"/>
                </a:solidFill>
              </a:rPr>
              <a:t>+ </a:t>
            </a:r>
            <a:r>
              <a:rPr sz="1200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大小限制</a:t>
            </a:r>
          </a:p>
          <a:p>
            <a:pPr>
              <a:lnSpc>
                <a:spcPct val="134000"/>
              </a:lnSpc>
              <a:defRPr sz="10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200"/>
              <a:t>· </a:t>
            </a:r>
            <a:r>
              <a:rPr sz="1200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密钥不回传，读接口只返回是否已配置</a:t>
            </a:r>
          </a:p>
        </p:txBody>
      </p:sp>
      <p:sp>
        <p:nvSpPr>
          <p:cNvPr id="755" name="Rounded Rectangle 31"/>
          <p:cNvSpPr/>
          <p:nvPr/>
        </p:nvSpPr>
        <p:spPr>
          <a:xfrm>
            <a:off x="6089650" y="3822629"/>
            <a:ext cx="4108675" cy="1692520"/>
          </a:xfrm>
          <a:prstGeom prst="roundRect">
            <a:avLst>
              <a:gd name="adj" fmla="val 4425"/>
            </a:avLst>
          </a:prstGeom>
          <a:solidFill>
            <a:srgbClr val="FDF1F0"/>
          </a:solidFill>
          <a:ln>
            <a:solidFill>
              <a:srgbClr val="EEBDB8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800"/>
          </a:p>
        </p:txBody>
      </p:sp>
      <p:sp>
        <p:nvSpPr>
          <p:cNvPr id="756" name="Rectangle 32"/>
          <p:cNvSpPr/>
          <p:nvPr/>
        </p:nvSpPr>
        <p:spPr>
          <a:xfrm>
            <a:off x="6089650" y="3822629"/>
            <a:ext cx="45721" cy="1692520"/>
          </a:xfrm>
          <a:prstGeom prst="rect">
            <a:avLst/>
          </a:prstGeom>
          <a:solidFill>
            <a:srgbClr val="D9564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800"/>
          </a:p>
        </p:txBody>
      </p:sp>
      <p:sp>
        <p:nvSpPr>
          <p:cNvPr id="757" name="TextBox 33"/>
          <p:cNvSpPr txBox="1"/>
          <p:nvPr/>
        </p:nvSpPr>
        <p:spPr>
          <a:xfrm>
            <a:off x="6272529" y="4016059"/>
            <a:ext cx="3779490" cy="2000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300">
                <a:solidFill>
                  <a:srgbClr val="D9564A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Agent </a:t>
            </a:r>
            <a:r>
              <a:rPr b="1">
                <a:latin typeface="+mj-lt"/>
                <a:ea typeface="+mj-ea"/>
                <a:cs typeface="+mj-cs"/>
                <a:sym typeface="Helvetica"/>
              </a:rPr>
              <a:t>与服务端约束</a:t>
            </a:r>
          </a:p>
        </p:txBody>
      </p:sp>
      <p:sp>
        <p:nvSpPr>
          <p:cNvPr id="758" name="TextBox 34"/>
          <p:cNvSpPr txBox="1"/>
          <p:nvPr/>
        </p:nvSpPr>
        <p:spPr>
          <a:xfrm>
            <a:off x="6272529" y="4384280"/>
            <a:ext cx="3742916" cy="4725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4000"/>
              </a:lnSpc>
              <a:defRPr sz="10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200"/>
              <a:t>· </a:t>
            </a:r>
            <a:r>
              <a:rPr sz="1200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分析任务无 </a:t>
            </a:r>
            <a:r>
              <a:rPr sz="1200">
                <a:solidFill>
                  <a:srgbClr val="4A5464"/>
                </a:solidFill>
              </a:rPr>
              <a:t>shell</a:t>
            </a:r>
            <a:r>
              <a:rPr sz="1200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、无任意文件访问、无代码执行</a:t>
            </a:r>
          </a:p>
          <a:p>
            <a:pPr>
              <a:lnSpc>
                <a:spcPct val="134000"/>
              </a:lnSpc>
              <a:defRPr sz="10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200"/>
              <a:t>· </a:t>
            </a:r>
            <a:r>
              <a:rPr sz="1200">
                <a:solidFill>
                  <a:srgbClr val="4A5464"/>
                </a:solidFill>
              </a:rPr>
              <a:t>Server </a:t>
            </a:r>
            <a:r>
              <a:rPr sz="1200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侧 </a:t>
            </a:r>
            <a:r>
              <a:rPr sz="1200">
                <a:solidFill>
                  <a:srgbClr val="4A5464"/>
                </a:solidFill>
              </a:rPr>
              <a:t>Argon2id + refresh token </a:t>
            </a:r>
            <a:r>
              <a:rPr sz="1200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旋转只存哈希</a:t>
            </a: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Rectangle 2"/>
          <p:cNvSpPr/>
          <p:nvPr/>
        </p:nvSpPr>
        <p:spPr>
          <a:xfrm>
            <a:off x="-1" y="0"/>
            <a:ext cx="56695" cy="6858000"/>
          </a:xfrm>
          <a:prstGeom prst="rect">
            <a:avLst/>
          </a:prstGeom>
          <a:solidFill>
            <a:srgbClr val="1F6F8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800"/>
          </a:p>
        </p:txBody>
      </p:sp>
      <p:sp>
        <p:nvSpPr>
          <p:cNvPr id="762" name="TextBox 3"/>
          <p:cNvSpPr txBox="1"/>
          <p:nvPr/>
        </p:nvSpPr>
        <p:spPr>
          <a:xfrm>
            <a:off x="566927" y="384047"/>
            <a:ext cx="1105811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1F6F8B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t>DATA MODEL</a:t>
            </a:r>
          </a:p>
        </p:txBody>
      </p:sp>
      <p:sp>
        <p:nvSpPr>
          <p:cNvPr id="763" name="TextBox 4"/>
          <p:cNvSpPr txBox="1"/>
          <p:nvPr/>
        </p:nvSpPr>
        <p:spPr>
          <a:xfrm>
            <a:off x="566927" y="603504"/>
            <a:ext cx="11058116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2500">
                <a:solidFill>
                  <a:srgbClr val="14181F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b="1" dirty="0" err="1">
                <a:latin typeface="+mj-lt"/>
                <a:ea typeface="+mj-ea"/>
                <a:cs typeface="+mj-cs"/>
                <a:sym typeface="Helvetica"/>
              </a:rPr>
              <a:t>以稳定</a:t>
            </a:r>
            <a:r>
              <a:rPr b="1" dirty="0"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dirty="0"/>
              <a:t>ID </a:t>
            </a:r>
            <a:r>
              <a:rPr b="1" dirty="0" err="1">
                <a:latin typeface="+mj-lt"/>
                <a:ea typeface="+mj-ea"/>
                <a:cs typeface="+mj-cs"/>
                <a:sym typeface="Helvetica"/>
              </a:rPr>
              <a:t>与版本化为核心的同步数据模型</a:t>
            </a:r>
            <a:endParaRPr b="1"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765" name="TextBox 6"/>
          <p:cNvSpPr txBox="1"/>
          <p:nvPr/>
        </p:nvSpPr>
        <p:spPr>
          <a:xfrm>
            <a:off x="11231850" y="6473952"/>
            <a:ext cx="457201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9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lvl1pPr>
          </a:lstStyle>
          <a:p>
            <a:r>
              <a:rPr dirty="0"/>
              <a:t>24</a:t>
            </a:r>
            <a:endParaRPr sz="1100" dirty="0"/>
          </a:p>
        </p:txBody>
      </p:sp>
      <p:sp>
        <p:nvSpPr>
          <p:cNvPr id="766" name="Rounded Rectangle 7"/>
          <p:cNvSpPr/>
          <p:nvPr/>
        </p:nvSpPr>
        <p:spPr>
          <a:xfrm>
            <a:off x="3542999" y="1298447"/>
            <a:ext cx="2926081" cy="685801"/>
          </a:xfrm>
          <a:prstGeom prst="roundRect">
            <a:avLst>
              <a:gd name="adj" fmla="val 7333"/>
            </a:avLst>
          </a:prstGeom>
          <a:solidFill>
            <a:srgbClr val="F0F7F9"/>
          </a:solidFill>
          <a:ln>
            <a:solidFill>
              <a:srgbClr val="B8D5D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800"/>
          </a:p>
        </p:txBody>
      </p:sp>
      <p:sp>
        <p:nvSpPr>
          <p:cNvPr id="767" name="TextBox 8"/>
          <p:cNvSpPr txBox="1"/>
          <p:nvPr/>
        </p:nvSpPr>
        <p:spPr>
          <a:xfrm>
            <a:off x="3542999" y="1542058"/>
            <a:ext cx="2926082" cy="198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14000"/>
              </a:lnSpc>
              <a:defRPr sz="1000">
                <a:solidFill>
                  <a:srgbClr val="1F6F8B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rPr sz="1200" dirty="0"/>
              <a:t>PROJECT · </a:t>
            </a:r>
            <a:r>
              <a:rPr sz="1200" dirty="0" err="1"/>
              <a:t>cloud_enabled</a:t>
            </a:r>
            <a:r>
              <a:rPr sz="1200" dirty="0"/>
              <a:t> · </a:t>
            </a:r>
            <a:r>
              <a:rPr sz="1200" dirty="0" err="1"/>
              <a:t>deep_thinking</a:t>
            </a:r>
            <a:endParaRPr sz="1200" dirty="0"/>
          </a:p>
        </p:txBody>
      </p:sp>
      <p:sp>
        <p:nvSpPr>
          <p:cNvPr id="768" name="Rounded Rectangle 9"/>
          <p:cNvSpPr/>
          <p:nvPr/>
        </p:nvSpPr>
        <p:spPr>
          <a:xfrm>
            <a:off x="251159" y="2231135"/>
            <a:ext cx="2926081" cy="905257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>
            <a:solidFill>
              <a:srgbClr val="DFE4EC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800"/>
          </a:p>
        </p:txBody>
      </p:sp>
      <p:sp>
        <p:nvSpPr>
          <p:cNvPr id="769" name="TextBox 10"/>
          <p:cNvSpPr txBox="1"/>
          <p:nvPr/>
        </p:nvSpPr>
        <p:spPr>
          <a:xfrm>
            <a:off x="342600" y="2452387"/>
            <a:ext cx="2743201" cy="4627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100">
                <a:solidFill>
                  <a:srgbClr val="14181F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600"/>
              <a:t>PAPER_DOCUMENT</a:t>
            </a:r>
          </a:p>
          <a:p>
            <a:pPr algn="ctr">
              <a:lnSpc>
                <a:spcPct val="114000"/>
              </a:lnSpc>
              <a:defRPr sz="9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100"/>
              <a:t>parser · content_hash · pages_json</a:t>
            </a:r>
          </a:p>
        </p:txBody>
      </p:sp>
      <p:sp>
        <p:nvSpPr>
          <p:cNvPr id="770" name="Rounded Rectangle 11"/>
          <p:cNvSpPr/>
          <p:nvPr/>
        </p:nvSpPr>
        <p:spPr>
          <a:xfrm>
            <a:off x="6834839" y="2231135"/>
            <a:ext cx="2926081" cy="905257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>
            <a:solidFill>
              <a:srgbClr val="DFE4EC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800"/>
          </a:p>
        </p:txBody>
      </p:sp>
      <p:sp>
        <p:nvSpPr>
          <p:cNvPr id="771" name="TextBox 12"/>
          <p:cNvSpPr txBox="1"/>
          <p:nvPr/>
        </p:nvSpPr>
        <p:spPr>
          <a:xfrm>
            <a:off x="6926279" y="2452387"/>
            <a:ext cx="2743201" cy="4627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100">
                <a:solidFill>
                  <a:srgbClr val="14181F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600"/>
              <a:t>CODE_REPOSITORY</a:t>
            </a:r>
          </a:p>
          <a:p>
            <a:pPr algn="ctr">
              <a:lnSpc>
                <a:spcPct val="114000"/>
              </a:lnSpc>
              <a:defRPr sz="9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100"/>
              <a:t>revision · analysis_json · tensor_graph</a:t>
            </a:r>
          </a:p>
        </p:txBody>
      </p:sp>
      <p:sp>
        <p:nvSpPr>
          <p:cNvPr id="772" name="Rounded Rectangle 13"/>
          <p:cNvSpPr/>
          <p:nvPr/>
        </p:nvSpPr>
        <p:spPr>
          <a:xfrm>
            <a:off x="251159" y="3383279"/>
            <a:ext cx="2926081" cy="960121"/>
          </a:xfrm>
          <a:prstGeom prst="roundRect">
            <a:avLst>
              <a:gd name="adj" fmla="val 5238"/>
            </a:avLst>
          </a:prstGeom>
          <a:solidFill>
            <a:srgbClr val="F0F7F9"/>
          </a:solidFill>
          <a:ln>
            <a:solidFill>
              <a:srgbClr val="B8D5D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800"/>
          </a:p>
        </p:txBody>
      </p:sp>
      <p:sp>
        <p:nvSpPr>
          <p:cNvPr id="773" name="TextBox 14"/>
          <p:cNvSpPr txBox="1"/>
          <p:nvPr/>
        </p:nvSpPr>
        <p:spPr>
          <a:xfrm>
            <a:off x="342600" y="3535463"/>
            <a:ext cx="2743201" cy="6557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100">
                <a:solidFill>
                  <a:srgbClr val="1F6F8B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600" dirty="0"/>
              <a:t>PAPER_TARGET</a:t>
            </a:r>
          </a:p>
          <a:p>
            <a:pPr algn="ctr">
              <a:lnSpc>
                <a:spcPct val="114000"/>
              </a:lnSpc>
              <a:defRPr sz="9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100" dirty="0"/>
              <a:t>quote · occurrence · </a:t>
            </a:r>
            <a:r>
              <a:rPr sz="1100" dirty="0" err="1"/>
              <a:t>quote_hash</a:t>
            </a:r>
            <a:endParaRPr sz="1100" dirty="0"/>
          </a:p>
          <a:p>
            <a:pPr algn="ctr">
              <a:lnSpc>
                <a:spcPct val="114000"/>
              </a:lnSpc>
              <a:defRPr sz="9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100" dirty="0" err="1"/>
              <a:t>target_type</a:t>
            </a:r>
            <a:r>
              <a:rPr sz="1100" dirty="0"/>
              <a:t> · salience · fingerprint</a:t>
            </a:r>
          </a:p>
        </p:txBody>
      </p:sp>
      <p:sp>
        <p:nvSpPr>
          <p:cNvPr id="774" name="Rounded Rectangle 15"/>
          <p:cNvSpPr/>
          <p:nvPr/>
        </p:nvSpPr>
        <p:spPr>
          <a:xfrm>
            <a:off x="6834839" y="3383279"/>
            <a:ext cx="2926081" cy="960121"/>
          </a:xfrm>
          <a:prstGeom prst="roundRect">
            <a:avLst>
              <a:gd name="adj" fmla="val 5238"/>
            </a:avLst>
          </a:prstGeom>
          <a:solidFill>
            <a:srgbClr val="F5F2FC"/>
          </a:solidFill>
          <a:ln>
            <a:solidFill>
              <a:srgbClr val="CCC0E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800"/>
          </a:p>
        </p:txBody>
      </p:sp>
      <p:sp>
        <p:nvSpPr>
          <p:cNvPr id="775" name="TextBox 16"/>
          <p:cNvSpPr txBox="1"/>
          <p:nvPr/>
        </p:nvSpPr>
        <p:spPr>
          <a:xfrm>
            <a:off x="6926279" y="3535463"/>
            <a:ext cx="2743201" cy="6557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100">
                <a:solidFill>
                  <a:srgbClr val="7A5CC4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600"/>
              <a:t>CODE_TARGET</a:t>
            </a:r>
          </a:p>
          <a:p>
            <a:pPr algn="ctr">
              <a:lnSpc>
                <a:spcPct val="114000"/>
              </a:lnSpc>
              <a:defRPr sz="9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100"/>
              <a:t>path · line/col · code_quote_hash</a:t>
            </a:r>
          </a:p>
          <a:p>
            <a:pPr algn="ctr">
              <a:lnSpc>
                <a:spcPct val="114000"/>
              </a:lnSpc>
              <a:defRPr sz="9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100"/>
              <a:t>occurrence · symbol_id · role</a:t>
            </a:r>
          </a:p>
        </p:txBody>
      </p:sp>
      <p:sp>
        <p:nvSpPr>
          <p:cNvPr id="776" name="Rounded Rectangle 17"/>
          <p:cNvSpPr/>
          <p:nvPr/>
        </p:nvSpPr>
        <p:spPr>
          <a:xfrm>
            <a:off x="3451560" y="3273552"/>
            <a:ext cx="3108961" cy="1179577"/>
          </a:xfrm>
          <a:prstGeom prst="roundRect">
            <a:avLst>
              <a:gd name="adj" fmla="val 4263"/>
            </a:avLst>
          </a:prstGeom>
          <a:solidFill>
            <a:srgbClr val="FFFFFF"/>
          </a:solidFill>
          <a:ln w="22860">
            <a:solidFill>
              <a:srgbClr val="1F8F78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800"/>
          </a:p>
        </p:txBody>
      </p:sp>
      <p:sp>
        <p:nvSpPr>
          <p:cNvPr id="777" name="TextBox 18"/>
          <p:cNvSpPr txBox="1"/>
          <p:nvPr/>
        </p:nvSpPr>
        <p:spPr>
          <a:xfrm>
            <a:off x="3542999" y="3535462"/>
            <a:ext cx="2926082" cy="6557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200">
                <a:solidFill>
                  <a:srgbClr val="1F8F78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600" dirty="0"/>
              <a:t>TRACE_LINK</a:t>
            </a:r>
          </a:p>
          <a:p>
            <a:pPr algn="ctr">
              <a:lnSpc>
                <a:spcPct val="114000"/>
              </a:lnSpc>
              <a:defRPr sz="9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100" dirty="0" err="1"/>
              <a:t>trace_id</a:t>
            </a:r>
            <a:r>
              <a:rPr sz="1100" dirty="0"/>
              <a:t> + </a:t>
            </a:r>
            <a:r>
              <a:rPr sz="1100" dirty="0" err="1"/>
              <a:t>fingerprint</a:t>
            </a:r>
            <a:r>
              <a:rPr sz="1100" dirty="0" err="1">
                <a:latin typeface="+mj-lt"/>
                <a:ea typeface="+mj-ea"/>
                <a:cs typeface="+mj-cs"/>
                <a:sym typeface="Helvetica"/>
              </a:rPr>
              <a:t>（唯一</a:t>
            </a:r>
            <a:r>
              <a:rPr sz="1100" dirty="0">
                <a:latin typeface="+mj-lt"/>
                <a:ea typeface="+mj-ea"/>
                <a:cs typeface="+mj-cs"/>
                <a:sym typeface="Helvetica"/>
              </a:rPr>
              <a:t>）</a:t>
            </a:r>
          </a:p>
          <a:p>
            <a:pPr algn="ctr">
              <a:lnSpc>
                <a:spcPct val="114000"/>
              </a:lnSpc>
              <a:defRPr sz="9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100" dirty="0"/>
              <a:t>relation · relevance · confidence · status</a:t>
            </a:r>
          </a:p>
        </p:txBody>
      </p:sp>
      <p:sp>
        <p:nvSpPr>
          <p:cNvPr id="778" name="Rounded Rectangle 19"/>
          <p:cNvSpPr/>
          <p:nvPr/>
        </p:nvSpPr>
        <p:spPr>
          <a:xfrm>
            <a:off x="3451560" y="4645152"/>
            <a:ext cx="3108961" cy="685801"/>
          </a:xfrm>
          <a:prstGeom prst="roundRect">
            <a:avLst>
              <a:gd name="adj" fmla="val 7333"/>
            </a:avLst>
          </a:prstGeom>
          <a:solidFill>
            <a:srgbClr val="FDF8EC"/>
          </a:solidFill>
          <a:ln>
            <a:solidFill>
              <a:srgbClr val="E9D29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800"/>
          </a:p>
        </p:txBody>
      </p:sp>
      <p:sp>
        <p:nvSpPr>
          <p:cNvPr id="779" name="TextBox 20"/>
          <p:cNvSpPr txBox="1"/>
          <p:nvPr/>
        </p:nvSpPr>
        <p:spPr>
          <a:xfrm>
            <a:off x="3451560" y="4889372"/>
            <a:ext cx="3108961" cy="197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000">
                <a:solidFill>
                  <a:srgbClr val="D99B06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200"/>
              <a:t>TRACE_REVIEW_EVENT</a:t>
            </a:r>
            <a:r>
              <a:rPr sz="1200" b="1">
                <a:latin typeface="+mj-lt"/>
                <a:ea typeface="+mj-ea"/>
                <a:cs typeface="+mj-cs"/>
                <a:sym typeface="Helvetica"/>
              </a:rPr>
              <a:t>（追加）</a:t>
            </a:r>
          </a:p>
        </p:txBody>
      </p:sp>
      <p:sp>
        <p:nvSpPr>
          <p:cNvPr id="780" name="Rounded Rectangle 21"/>
          <p:cNvSpPr/>
          <p:nvPr/>
        </p:nvSpPr>
        <p:spPr>
          <a:xfrm>
            <a:off x="251159" y="4645152"/>
            <a:ext cx="2926081" cy="685801"/>
          </a:xfrm>
          <a:prstGeom prst="roundRect">
            <a:avLst>
              <a:gd name="adj" fmla="val 7333"/>
            </a:avLst>
          </a:prstGeom>
          <a:solidFill>
            <a:srgbClr val="F5F7F9"/>
          </a:solidFill>
          <a:ln>
            <a:solidFill>
              <a:srgbClr val="DFE4EC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800"/>
          </a:p>
        </p:txBody>
      </p:sp>
      <p:sp>
        <p:nvSpPr>
          <p:cNvPr id="781" name="TextBox 22"/>
          <p:cNvSpPr txBox="1"/>
          <p:nvPr/>
        </p:nvSpPr>
        <p:spPr>
          <a:xfrm>
            <a:off x="251159" y="4889372"/>
            <a:ext cx="2926082" cy="197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000">
                <a:solidFill>
                  <a:srgbClr val="14181F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200"/>
              <a:t>AGENT_* </a:t>
            </a:r>
            <a:r>
              <a:rPr sz="1200" b="1">
                <a:latin typeface="+mj-lt"/>
                <a:ea typeface="+mj-ea"/>
                <a:cs typeface="+mj-cs"/>
                <a:sym typeface="Helvetica"/>
              </a:rPr>
              <a:t>家族（</a:t>
            </a:r>
            <a:r>
              <a:rPr sz="1200"/>
              <a:t>7 </a:t>
            </a:r>
            <a:r>
              <a:rPr sz="1200" b="1">
                <a:latin typeface="+mj-lt"/>
                <a:ea typeface="+mj-ea"/>
                <a:cs typeface="+mj-cs"/>
                <a:sym typeface="Helvetica"/>
              </a:rPr>
              <a:t>张表）</a:t>
            </a:r>
          </a:p>
        </p:txBody>
      </p:sp>
      <p:sp>
        <p:nvSpPr>
          <p:cNvPr id="782" name="Rounded Rectangle 23"/>
          <p:cNvSpPr/>
          <p:nvPr/>
        </p:nvSpPr>
        <p:spPr>
          <a:xfrm>
            <a:off x="6834839" y="4645152"/>
            <a:ext cx="2926081" cy="685801"/>
          </a:xfrm>
          <a:prstGeom prst="roundRect">
            <a:avLst>
              <a:gd name="adj" fmla="val 7333"/>
            </a:avLst>
          </a:prstGeom>
          <a:solidFill>
            <a:srgbClr val="F5F7F9"/>
          </a:solidFill>
          <a:ln>
            <a:solidFill>
              <a:srgbClr val="DFE4EC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800"/>
          </a:p>
        </p:txBody>
      </p:sp>
      <p:sp>
        <p:nvSpPr>
          <p:cNvPr id="783" name="TextBox 24"/>
          <p:cNvSpPr txBox="1"/>
          <p:nvPr/>
        </p:nvSpPr>
        <p:spPr>
          <a:xfrm>
            <a:off x="6743399" y="4902675"/>
            <a:ext cx="2926081" cy="197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000">
                <a:solidFill>
                  <a:srgbClr val="14181F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200" dirty="0"/>
              <a:t>RAG_CHUNK · </a:t>
            </a:r>
            <a:r>
              <a:rPr sz="1200" b="1" dirty="0" err="1">
                <a:latin typeface="+mj-lt"/>
                <a:ea typeface="+mj-ea"/>
                <a:cs typeface="+mj-cs"/>
                <a:sym typeface="Helvetica"/>
              </a:rPr>
              <a:t>配置</a:t>
            </a:r>
            <a:r>
              <a:rPr sz="1200" b="1" dirty="0"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sz="1200" dirty="0"/>
              <a:t>· </a:t>
            </a:r>
            <a:r>
              <a:rPr sz="1200" b="1" dirty="0" err="1">
                <a:latin typeface="+mj-lt"/>
                <a:ea typeface="+mj-ea"/>
                <a:cs typeface="+mj-cs"/>
                <a:sym typeface="Helvetica"/>
              </a:rPr>
              <a:t>分析任务</a:t>
            </a:r>
            <a:endParaRPr sz="1200" b="1"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784" name="Connector 25"/>
          <p:cNvSpPr/>
          <p:nvPr/>
        </p:nvSpPr>
        <p:spPr>
          <a:xfrm flipH="1">
            <a:off x="1714200" y="2011679"/>
            <a:ext cx="2560321" cy="192025"/>
          </a:xfrm>
          <a:prstGeom prst="line">
            <a:avLst/>
          </a:prstGeom>
          <a:ln w="12700">
            <a:solidFill>
              <a:srgbClr val="8B95A5"/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endParaRPr sz="2800"/>
          </a:p>
        </p:txBody>
      </p:sp>
      <p:sp>
        <p:nvSpPr>
          <p:cNvPr id="785" name="Connector 26"/>
          <p:cNvSpPr/>
          <p:nvPr/>
        </p:nvSpPr>
        <p:spPr>
          <a:xfrm>
            <a:off x="5737560" y="2011679"/>
            <a:ext cx="2560321" cy="192025"/>
          </a:xfrm>
          <a:prstGeom prst="line">
            <a:avLst/>
          </a:prstGeom>
          <a:ln w="12700">
            <a:solidFill>
              <a:srgbClr val="8B95A5"/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endParaRPr sz="2800"/>
          </a:p>
        </p:txBody>
      </p:sp>
      <p:sp>
        <p:nvSpPr>
          <p:cNvPr id="786" name="Connector 27"/>
          <p:cNvSpPr/>
          <p:nvPr/>
        </p:nvSpPr>
        <p:spPr>
          <a:xfrm>
            <a:off x="1714199" y="3163823"/>
            <a:ext cx="1" cy="192025"/>
          </a:xfrm>
          <a:prstGeom prst="line">
            <a:avLst/>
          </a:prstGeom>
          <a:ln w="12700">
            <a:solidFill>
              <a:srgbClr val="8B95A5"/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endParaRPr sz="2800"/>
          </a:p>
        </p:txBody>
      </p:sp>
      <p:sp>
        <p:nvSpPr>
          <p:cNvPr id="787" name="Connector 28"/>
          <p:cNvSpPr/>
          <p:nvPr/>
        </p:nvSpPr>
        <p:spPr>
          <a:xfrm>
            <a:off x="8297879" y="3163823"/>
            <a:ext cx="1" cy="192025"/>
          </a:xfrm>
          <a:prstGeom prst="line">
            <a:avLst/>
          </a:prstGeom>
          <a:ln w="12700">
            <a:solidFill>
              <a:srgbClr val="8B95A5"/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endParaRPr sz="2800"/>
          </a:p>
        </p:txBody>
      </p:sp>
      <p:sp>
        <p:nvSpPr>
          <p:cNvPr id="788" name="Connector 29"/>
          <p:cNvSpPr/>
          <p:nvPr/>
        </p:nvSpPr>
        <p:spPr>
          <a:xfrm>
            <a:off x="3195528" y="3863340"/>
            <a:ext cx="237744" cy="1"/>
          </a:xfrm>
          <a:prstGeom prst="line">
            <a:avLst/>
          </a:prstGeom>
          <a:ln w="12700">
            <a:solidFill>
              <a:srgbClr val="8B95A5"/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endParaRPr sz="2800"/>
          </a:p>
        </p:txBody>
      </p:sp>
      <p:sp>
        <p:nvSpPr>
          <p:cNvPr id="789" name="Connector 30"/>
          <p:cNvSpPr/>
          <p:nvPr/>
        </p:nvSpPr>
        <p:spPr>
          <a:xfrm flipH="1">
            <a:off x="6578808" y="3863340"/>
            <a:ext cx="237744" cy="1"/>
          </a:xfrm>
          <a:prstGeom prst="line">
            <a:avLst/>
          </a:prstGeom>
          <a:ln w="12700">
            <a:solidFill>
              <a:srgbClr val="8B95A5"/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endParaRPr sz="2800"/>
          </a:p>
        </p:txBody>
      </p:sp>
      <p:sp>
        <p:nvSpPr>
          <p:cNvPr id="790" name="Rounded Rectangle 31"/>
          <p:cNvSpPr/>
          <p:nvPr/>
        </p:nvSpPr>
        <p:spPr>
          <a:xfrm>
            <a:off x="251159" y="5495544"/>
            <a:ext cx="9509761" cy="603505"/>
          </a:xfrm>
          <a:prstGeom prst="roundRect">
            <a:avLst>
              <a:gd name="adj" fmla="val 8333"/>
            </a:avLst>
          </a:prstGeom>
          <a:solidFill>
            <a:srgbClr val="EFF9F6"/>
          </a:solidFill>
          <a:ln>
            <a:solidFill>
              <a:srgbClr val="B3DED4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800"/>
          </a:p>
        </p:txBody>
      </p:sp>
      <p:sp>
        <p:nvSpPr>
          <p:cNvPr id="791" name="TextBox 32"/>
          <p:cNvSpPr txBox="1"/>
          <p:nvPr/>
        </p:nvSpPr>
        <p:spPr>
          <a:xfrm>
            <a:off x="-207251" y="5646009"/>
            <a:ext cx="11058116" cy="2630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100">
                <a:solidFill>
                  <a:srgbClr val="1F8F78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600" b="1" dirty="0" err="1">
                <a:latin typeface="+mj-lt"/>
                <a:ea typeface="+mj-ea"/>
                <a:cs typeface="+mj-cs"/>
                <a:sym typeface="Helvetica"/>
              </a:rPr>
              <a:t>一条边只连一个论文目标和一个代码目标；一对多</a:t>
            </a:r>
            <a:r>
              <a:rPr sz="1600" b="1" dirty="0"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sz="1600" dirty="0"/>
              <a:t>/ </a:t>
            </a:r>
            <a:r>
              <a:rPr sz="1600" b="1" dirty="0" err="1">
                <a:latin typeface="+mj-lt"/>
                <a:ea typeface="+mj-ea"/>
                <a:cs typeface="+mj-cs"/>
                <a:sym typeface="Helvetica"/>
              </a:rPr>
              <a:t>多对一由多条边表达</a:t>
            </a:r>
            <a:endParaRPr sz="1600" b="1"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792" name="Rounded Rectangle 37"/>
          <p:cNvSpPr/>
          <p:nvPr/>
        </p:nvSpPr>
        <p:spPr>
          <a:xfrm>
            <a:off x="10016951" y="2558031"/>
            <a:ext cx="1927831" cy="2334838"/>
          </a:xfrm>
          <a:prstGeom prst="roundRect">
            <a:avLst>
              <a:gd name="adj" fmla="val 1841"/>
            </a:avLst>
          </a:prstGeom>
          <a:solidFill>
            <a:srgbClr val="EFF9F6"/>
          </a:solidFill>
          <a:ln>
            <a:solidFill>
              <a:srgbClr val="B3DED4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800"/>
          </a:p>
        </p:txBody>
      </p:sp>
      <p:sp>
        <p:nvSpPr>
          <p:cNvPr id="793" name="Rectangle 38"/>
          <p:cNvSpPr/>
          <p:nvPr/>
        </p:nvSpPr>
        <p:spPr>
          <a:xfrm>
            <a:off x="10024678" y="2553268"/>
            <a:ext cx="33232" cy="2344364"/>
          </a:xfrm>
          <a:prstGeom prst="rect">
            <a:avLst/>
          </a:prstGeom>
          <a:solidFill>
            <a:srgbClr val="1F8F7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800"/>
          </a:p>
        </p:txBody>
      </p:sp>
      <p:sp>
        <p:nvSpPr>
          <p:cNvPr id="794" name="TextBox 39"/>
          <p:cNvSpPr txBox="1"/>
          <p:nvPr/>
        </p:nvSpPr>
        <p:spPr>
          <a:xfrm>
            <a:off x="10185073" y="2908705"/>
            <a:ext cx="1036291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 b="1">
                <a:solidFill>
                  <a:srgbClr val="1F8F78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b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800" b="1">
                <a:latin typeface="+mj-lt"/>
                <a:ea typeface="+mj-ea"/>
                <a:cs typeface="+mj-cs"/>
                <a:sym typeface="Helvetica"/>
              </a:rPr>
              <a:t>同步模型</a:t>
            </a:r>
          </a:p>
        </p:txBody>
      </p:sp>
      <p:sp>
        <p:nvSpPr>
          <p:cNvPr id="795" name="TextBox 40"/>
          <p:cNvSpPr txBox="1"/>
          <p:nvPr/>
        </p:nvSpPr>
        <p:spPr>
          <a:xfrm>
            <a:off x="10074102" y="3487529"/>
            <a:ext cx="2024900" cy="967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34000"/>
              </a:lnSpc>
              <a:defRPr sz="10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200" dirty="0"/>
              <a:t>· </a:t>
            </a:r>
            <a:r>
              <a:rPr sz="1200" dirty="0" err="1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不传</a:t>
            </a:r>
            <a:r>
              <a:rPr sz="1200" dirty="0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sz="1200" dirty="0">
                <a:solidFill>
                  <a:srgbClr val="4A5464"/>
                </a:solidFill>
              </a:rPr>
              <a:t>SQLite </a:t>
            </a:r>
            <a:r>
              <a:rPr sz="1200" dirty="0" err="1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文件，走</a:t>
            </a:r>
            <a:r>
              <a:rPr sz="1200" dirty="0" err="1">
                <a:solidFill>
                  <a:srgbClr val="4A5464"/>
                </a:solidFill>
              </a:rPr>
              <a:t>sync_event</a:t>
            </a:r>
            <a:endParaRPr sz="1200" dirty="0">
              <a:solidFill>
                <a:srgbClr val="4A5464"/>
              </a:solidFill>
            </a:endParaRPr>
          </a:p>
          <a:p>
            <a:pPr>
              <a:lnSpc>
                <a:spcPct val="134000"/>
              </a:lnSpc>
              <a:defRPr sz="10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200" dirty="0"/>
              <a:t>· </a:t>
            </a:r>
            <a:r>
              <a:rPr sz="1200" dirty="0" err="1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项目</a:t>
            </a:r>
            <a:r>
              <a:rPr sz="1200" dirty="0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sz="1200" dirty="0" err="1">
                <a:solidFill>
                  <a:srgbClr val="4A5464"/>
                </a:solidFill>
              </a:rPr>
              <a:t>TraceLink</a:t>
            </a:r>
            <a:r>
              <a:rPr sz="1200" dirty="0">
                <a:solidFill>
                  <a:srgbClr val="4A5464"/>
                </a:solidFill>
              </a:rPr>
              <a:t> </a:t>
            </a:r>
            <a:r>
              <a:rPr lang="zh-CN" altLang="en-US" sz="1200" dirty="0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加锁</a:t>
            </a:r>
            <a:endParaRPr sz="1200" dirty="0">
              <a:solidFill>
                <a:srgbClr val="4A5464"/>
              </a:solidFill>
              <a:latin typeface="+mj-lt"/>
              <a:ea typeface="+mj-ea"/>
              <a:cs typeface="+mj-cs"/>
              <a:sym typeface="Helvetica"/>
            </a:endParaRPr>
          </a:p>
          <a:p>
            <a:pPr>
              <a:lnSpc>
                <a:spcPct val="134000"/>
              </a:lnSpc>
              <a:defRPr sz="10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200" dirty="0"/>
              <a:t>· </a:t>
            </a:r>
            <a:r>
              <a:rPr lang="zh-CN" altLang="en-US" sz="1200" dirty="0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实体枚举有防漂移测试把关</a:t>
            </a:r>
            <a:endParaRPr sz="1200" dirty="0">
              <a:solidFill>
                <a:srgbClr val="4A5464"/>
              </a:solidFill>
              <a:latin typeface="+mj-lt"/>
              <a:ea typeface="+mj-ea"/>
              <a:cs typeface="+mj-cs"/>
              <a:sym typeface="Helvetica"/>
            </a:endParaRPr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Rectangle 1"/>
          <p:cNvSpPr/>
          <p:nvPr/>
        </p:nvSpPr>
        <p:spPr>
          <a:xfrm>
            <a:off x="-6336" y="-1"/>
            <a:ext cx="12191972" cy="6858001"/>
          </a:xfrm>
          <a:prstGeom prst="rect">
            <a:avLst/>
          </a:prstGeom>
          <a:solidFill>
            <a:srgbClr val="14262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98" name="TextBox 2"/>
          <p:cNvSpPr txBox="1"/>
          <p:nvPr/>
        </p:nvSpPr>
        <p:spPr>
          <a:xfrm>
            <a:off x="566927" y="1783079"/>
            <a:ext cx="3657601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6200">
                <a:solidFill>
                  <a:srgbClr val="2C4450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t>05</a:t>
            </a:r>
          </a:p>
        </p:txBody>
      </p:sp>
      <p:sp>
        <p:nvSpPr>
          <p:cNvPr id="799" name="TextBox 3"/>
          <p:cNvSpPr txBox="1"/>
          <p:nvPr/>
        </p:nvSpPr>
        <p:spPr>
          <a:xfrm>
            <a:off x="566927" y="2743200"/>
            <a:ext cx="9144001" cy="635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36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b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测试与质量保证</a:t>
            </a:r>
          </a:p>
        </p:txBody>
      </p:sp>
      <p:sp>
        <p:nvSpPr>
          <p:cNvPr id="800" name="TextBox 14"/>
          <p:cNvSpPr txBox="1"/>
          <p:nvPr/>
        </p:nvSpPr>
        <p:spPr>
          <a:xfrm>
            <a:off x="11231850" y="6473952"/>
            <a:ext cx="4572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900">
                <a:solidFill>
                  <a:srgbClr val="4C748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lvl1pPr>
          </a:lstStyle>
          <a:p>
            <a:r>
              <a:t>25</a:t>
            </a:r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Rectangle 1"/>
          <p:cNvSpPr/>
          <p:nvPr/>
        </p:nvSpPr>
        <p:spPr>
          <a:xfrm>
            <a:off x="0" y="-13157"/>
            <a:ext cx="12191972" cy="6858000"/>
          </a:xfrm>
          <a:prstGeom prst="rect">
            <a:avLst/>
          </a:prstGeom>
          <a:solidFill>
            <a:srgbClr val="FBFCF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03" name="Rectangle 2"/>
          <p:cNvSpPr/>
          <p:nvPr/>
        </p:nvSpPr>
        <p:spPr>
          <a:xfrm>
            <a:off x="-1" y="0"/>
            <a:ext cx="56695" cy="6858000"/>
          </a:xfrm>
          <a:prstGeom prst="rect">
            <a:avLst/>
          </a:prstGeom>
          <a:solidFill>
            <a:srgbClr val="1F6F8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04" name="TextBox 3"/>
          <p:cNvSpPr txBox="1"/>
          <p:nvPr/>
        </p:nvSpPr>
        <p:spPr>
          <a:xfrm>
            <a:off x="566927" y="384047"/>
            <a:ext cx="1105811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1F6F8B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t>TEST STRATEGY</a:t>
            </a:r>
          </a:p>
        </p:txBody>
      </p:sp>
      <p:sp>
        <p:nvSpPr>
          <p:cNvPr id="805" name="TextBox 4"/>
          <p:cNvSpPr txBox="1"/>
          <p:nvPr/>
        </p:nvSpPr>
        <p:spPr>
          <a:xfrm>
            <a:off x="566927" y="603504"/>
            <a:ext cx="11058116" cy="384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2500">
                <a:solidFill>
                  <a:srgbClr val="14181F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b="1" dirty="0" err="1"/>
              <a:t>并行计算的</a:t>
            </a:r>
            <a:r>
              <a:rPr b="1" dirty="0" err="1">
                <a:latin typeface="+mj-lt"/>
                <a:ea typeface="+mj-ea"/>
                <a:cs typeface="+mj-cs"/>
                <a:sym typeface="Helvetica"/>
              </a:rPr>
              <a:t>测试体系</a:t>
            </a:r>
            <a:endParaRPr b="1"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806" name="TextBox 5"/>
          <p:cNvSpPr txBox="1"/>
          <p:nvPr/>
        </p:nvSpPr>
        <p:spPr>
          <a:xfrm>
            <a:off x="566927" y="1060703"/>
            <a:ext cx="10509476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5000"/>
              </a:lnSpc>
              <a:defRPr sz="11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测试不得访问网络、不得依赖本机密钥 </a:t>
            </a:r>
            <a:r>
              <a:t>—— backend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用内存 </a:t>
            </a:r>
            <a:r>
              <a:t>SQLite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覆盖依赖注入并强制关闭 </a:t>
            </a:r>
            <a:r>
              <a:t>LLM</a:t>
            </a:r>
          </a:p>
        </p:txBody>
      </p:sp>
      <p:sp>
        <p:nvSpPr>
          <p:cNvPr id="807" name="TextBox 6"/>
          <p:cNvSpPr txBox="1"/>
          <p:nvPr/>
        </p:nvSpPr>
        <p:spPr>
          <a:xfrm>
            <a:off x="11231850" y="6473952"/>
            <a:ext cx="4572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9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lvl1pPr>
          </a:lstStyle>
          <a:p>
            <a:r>
              <a:rPr dirty="0"/>
              <a:t>26</a:t>
            </a:r>
          </a:p>
        </p:txBody>
      </p:sp>
      <p:sp>
        <p:nvSpPr>
          <p:cNvPr id="808" name="Rounded Rectangle 7"/>
          <p:cNvSpPr/>
          <p:nvPr/>
        </p:nvSpPr>
        <p:spPr>
          <a:xfrm>
            <a:off x="566927" y="1298447"/>
            <a:ext cx="2094582" cy="1592960"/>
          </a:xfrm>
          <a:prstGeom prst="roundRect">
            <a:avLst>
              <a:gd name="adj" fmla="val 3157"/>
            </a:avLst>
          </a:prstGeom>
          <a:solidFill>
            <a:srgbClr val="F0F7F9"/>
          </a:solidFill>
          <a:ln>
            <a:solidFill>
              <a:srgbClr val="B8D5D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09" name="TextBox 8"/>
          <p:cNvSpPr txBox="1"/>
          <p:nvPr/>
        </p:nvSpPr>
        <p:spPr>
          <a:xfrm>
            <a:off x="640080" y="1450560"/>
            <a:ext cx="1948277" cy="2646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14000"/>
              </a:lnSpc>
              <a:defRPr sz="1100">
                <a:solidFill>
                  <a:srgbClr val="1F6F8B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rPr sz="1600" dirty="0"/>
              <a:t>local-backend</a:t>
            </a:r>
          </a:p>
        </p:txBody>
      </p:sp>
      <p:sp>
        <p:nvSpPr>
          <p:cNvPr id="810" name="TextBox 9"/>
          <p:cNvSpPr txBox="1"/>
          <p:nvPr/>
        </p:nvSpPr>
        <p:spPr>
          <a:xfrm>
            <a:off x="713231" y="1821847"/>
            <a:ext cx="1801973" cy="387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35000"/>
              </a:lnSpc>
              <a:defRPr sz="9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t>ruff + pytest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全量</a:t>
            </a:r>
          </a:p>
          <a:p>
            <a:pPr>
              <a:lnSpc>
                <a:spcPct val="135000"/>
              </a:lnSpc>
              <a:defRPr sz="9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三组覆盖率门禁</a:t>
            </a:r>
          </a:p>
        </p:txBody>
      </p:sp>
      <p:sp>
        <p:nvSpPr>
          <p:cNvPr id="811" name="Rounded Rectangle 10"/>
          <p:cNvSpPr/>
          <p:nvPr/>
        </p:nvSpPr>
        <p:spPr>
          <a:xfrm>
            <a:off x="694944" y="2436275"/>
            <a:ext cx="1838549" cy="341349"/>
          </a:xfrm>
          <a:prstGeom prst="roundRect">
            <a:avLst>
              <a:gd name="adj" fmla="val 14733"/>
            </a:avLst>
          </a:prstGeom>
          <a:solidFill>
            <a:srgbClr val="FFFFFF"/>
          </a:solidFill>
          <a:ln w="7620">
            <a:solidFill>
              <a:srgbClr val="B8D5D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12" name="TextBox 11"/>
          <p:cNvSpPr txBox="1"/>
          <p:nvPr/>
        </p:nvSpPr>
        <p:spPr>
          <a:xfrm>
            <a:off x="694944" y="2518049"/>
            <a:ext cx="183854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14000"/>
              </a:lnSpc>
              <a:defRPr sz="1000">
                <a:solidFill>
                  <a:srgbClr val="1F8F78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t>326 passed</a:t>
            </a:r>
          </a:p>
        </p:txBody>
      </p:sp>
      <p:sp>
        <p:nvSpPr>
          <p:cNvPr id="813" name="Rounded Rectangle 12"/>
          <p:cNvSpPr/>
          <p:nvPr/>
        </p:nvSpPr>
        <p:spPr>
          <a:xfrm>
            <a:off x="2807811" y="1298447"/>
            <a:ext cx="2094582" cy="1592960"/>
          </a:xfrm>
          <a:prstGeom prst="roundRect">
            <a:avLst>
              <a:gd name="adj" fmla="val 3157"/>
            </a:avLst>
          </a:prstGeom>
          <a:solidFill>
            <a:srgbClr val="F5F2FC"/>
          </a:solidFill>
          <a:ln>
            <a:solidFill>
              <a:srgbClr val="CCC0E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14" name="TextBox 13"/>
          <p:cNvSpPr txBox="1"/>
          <p:nvPr/>
        </p:nvSpPr>
        <p:spPr>
          <a:xfrm>
            <a:off x="2880964" y="1450560"/>
            <a:ext cx="1948277" cy="2646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14000"/>
              </a:lnSpc>
              <a:defRPr sz="1100">
                <a:solidFill>
                  <a:srgbClr val="7A5CC4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rPr sz="1600" dirty="0" err="1"/>
              <a:t>vscode</a:t>
            </a:r>
            <a:r>
              <a:rPr sz="1600" dirty="0"/>
              <a:t>-core</a:t>
            </a:r>
          </a:p>
        </p:txBody>
      </p:sp>
      <p:sp>
        <p:nvSpPr>
          <p:cNvPr id="815" name="TextBox 14"/>
          <p:cNvSpPr txBox="1"/>
          <p:nvPr/>
        </p:nvSpPr>
        <p:spPr>
          <a:xfrm>
            <a:off x="2954116" y="1821847"/>
            <a:ext cx="1801972" cy="387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35000"/>
              </a:lnSpc>
              <a:defRPr sz="9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t>workspace / review</a:t>
            </a:r>
          </a:p>
          <a:p>
            <a:pPr>
              <a:lnSpc>
                <a:spcPct val="135000"/>
              </a:lnSpc>
              <a:defRPr sz="9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t>probe +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覆盖率</a:t>
            </a:r>
          </a:p>
        </p:txBody>
      </p:sp>
      <p:sp>
        <p:nvSpPr>
          <p:cNvPr id="816" name="Rounded Rectangle 15"/>
          <p:cNvSpPr/>
          <p:nvPr/>
        </p:nvSpPr>
        <p:spPr>
          <a:xfrm>
            <a:off x="2935827" y="2436275"/>
            <a:ext cx="1838550" cy="341349"/>
          </a:xfrm>
          <a:prstGeom prst="roundRect">
            <a:avLst>
              <a:gd name="adj" fmla="val 14733"/>
            </a:avLst>
          </a:prstGeom>
          <a:solidFill>
            <a:srgbClr val="FFFFFF"/>
          </a:solidFill>
          <a:ln w="7620">
            <a:solidFill>
              <a:srgbClr val="CCC0E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17" name="TextBox 16"/>
          <p:cNvSpPr txBox="1"/>
          <p:nvPr/>
        </p:nvSpPr>
        <p:spPr>
          <a:xfrm>
            <a:off x="2935827" y="2518049"/>
            <a:ext cx="183855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14000"/>
              </a:lnSpc>
              <a:defRPr sz="1000">
                <a:solidFill>
                  <a:srgbClr val="1F8F78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t>46 passed</a:t>
            </a:r>
          </a:p>
        </p:txBody>
      </p:sp>
      <p:sp>
        <p:nvSpPr>
          <p:cNvPr id="818" name="Rounded Rectangle 17"/>
          <p:cNvSpPr/>
          <p:nvPr/>
        </p:nvSpPr>
        <p:spPr>
          <a:xfrm>
            <a:off x="5048694" y="1298447"/>
            <a:ext cx="2094582" cy="1592960"/>
          </a:xfrm>
          <a:prstGeom prst="roundRect">
            <a:avLst>
              <a:gd name="adj" fmla="val 3157"/>
            </a:avLst>
          </a:prstGeom>
          <a:solidFill>
            <a:srgbClr val="EFF9F6"/>
          </a:solidFill>
          <a:ln>
            <a:solidFill>
              <a:srgbClr val="B3DED4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19" name="TextBox 18"/>
          <p:cNvSpPr txBox="1"/>
          <p:nvPr/>
        </p:nvSpPr>
        <p:spPr>
          <a:xfrm>
            <a:off x="5121847" y="1450560"/>
            <a:ext cx="1948277" cy="2646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14000"/>
              </a:lnSpc>
              <a:defRPr sz="1100">
                <a:solidFill>
                  <a:srgbClr val="1F8F78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rPr sz="1600" dirty="0"/>
              <a:t>sync-server</a:t>
            </a:r>
          </a:p>
        </p:txBody>
      </p:sp>
      <p:sp>
        <p:nvSpPr>
          <p:cNvPr id="820" name="TextBox 19"/>
          <p:cNvSpPr txBox="1"/>
          <p:nvPr/>
        </p:nvSpPr>
        <p:spPr>
          <a:xfrm>
            <a:off x="5194999" y="1821847"/>
            <a:ext cx="1801973" cy="387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35000"/>
              </a:lnSpc>
              <a:defRPr sz="9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真实 </a:t>
            </a:r>
            <a:r>
              <a:t>PostgreSQL</a:t>
            </a:r>
          </a:p>
          <a:p>
            <a:pPr>
              <a:lnSpc>
                <a:spcPct val="135000"/>
              </a:lnSpc>
              <a:defRPr sz="9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契约 </a:t>
            </a:r>
            <a:r>
              <a:t>/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安全 </a:t>
            </a:r>
            <a:r>
              <a:t>/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集成</a:t>
            </a:r>
          </a:p>
        </p:txBody>
      </p:sp>
      <p:sp>
        <p:nvSpPr>
          <p:cNvPr id="821" name="Rounded Rectangle 20"/>
          <p:cNvSpPr/>
          <p:nvPr/>
        </p:nvSpPr>
        <p:spPr>
          <a:xfrm>
            <a:off x="5176711" y="2436275"/>
            <a:ext cx="1838549" cy="341349"/>
          </a:xfrm>
          <a:prstGeom prst="roundRect">
            <a:avLst>
              <a:gd name="adj" fmla="val 14733"/>
            </a:avLst>
          </a:prstGeom>
          <a:solidFill>
            <a:srgbClr val="FFFFFF"/>
          </a:solidFill>
          <a:ln w="7620">
            <a:solidFill>
              <a:srgbClr val="B3DED4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22" name="TextBox 21"/>
          <p:cNvSpPr txBox="1"/>
          <p:nvPr/>
        </p:nvSpPr>
        <p:spPr>
          <a:xfrm>
            <a:off x="5176711" y="2518049"/>
            <a:ext cx="183854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14000"/>
              </a:lnSpc>
              <a:defRPr sz="1000">
                <a:solidFill>
                  <a:srgbClr val="1F8F78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t>42 passed</a:t>
            </a:r>
          </a:p>
        </p:txBody>
      </p:sp>
      <p:sp>
        <p:nvSpPr>
          <p:cNvPr id="823" name="Rounded Rectangle 22"/>
          <p:cNvSpPr/>
          <p:nvPr/>
        </p:nvSpPr>
        <p:spPr>
          <a:xfrm>
            <a:off x="7289579" y="1298447"/>
            <a:ext cx="2094581" cy="1592960"/>
          </a:xfrm>
          <a:prstGeom prst="roundRect">
            <a:avLst>
              <a:gd name="adj" fmla="val 3157"/>
            </a:avLst>
          </a:prstGeom>
          <a:solidFill>
            <a:srgbClr val="FDF8EC"/>
          </a:solidFill>
          <a:ln>
            <a:solidFill>
              <a:srgbClr val="E9D29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24" name="TextBox 23"/>
          <p:cNvSpPr txBox="1"/>
          <p:nvPr/>
        </p:nvSpPr>
        <p:spPr>
          <a:xfrm>
            <a:off x="7362731" y="1417047"/>
            <a:ext cx="1948277" cy="2646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14000"/>
              </a:lnSpc>
              <a:defRPr sz="1100">
                <a:solidFill>
                  <a:srgbClr val="D99B06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rPr sz="1600" dirty="0"/>
              <a:t>frontend</a:t>
            </a:r>
          </a:p>
        </p:txBody>
      </p:sp>
      <p:sp>
        <p:nvSpPr>
          <p:cNvPr id="825" name="TextBox 24"/>
          <p:cNvSpPr txBox="1"/>
          <p:nvPr/>
        </p:nvSpPr>
        <p:spPr>
          <a:xfrm>
            <a:off x="7435883" y="1821847"/>
            <a:ext cx="1801973" cy="387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35000"/>
              </a:lnSpc>
              <a:defRPr sz="9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t>vitest + vue-tsc</a:t>
            </a:r>
          </a:p>
          <a:p>
            <a:pPr>
              <a:lnSpc>
                <a:spcPct val="135000"/>
              </a:lnSpc>
              <a:defRPr sz="9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生产 </a:t>
            </a:r>
            <a:r>
              <a:t>build</a:t>
            </a:r>
          </a:p>
        </p:txBody>
      </p:sp>
      <p:sp>
        <p:nvSpPr>
          <p:cNvPr id="826" name="Rounded Rectangle 25"/>
          <p:cNvSpPr/>
          <p:nvPr/>
        </p:nvSpPr>
        <p:spPr>
          <a:xfrm>
            <a:off x="7417595" y="2436275"/>
            <a:ext cx="1838549" cy="341349"/>
          </a:xfrm>
          <a:prstGeom prst="roundRect">
            <a:avLst>
              <a:gd name="adj" fmla="val 14733"/>
            </a:avLst>
          </a:prstGeom>
          <a:solidFill>
            <a:srgbClr val="FFFFFF"/>
          </a:solidFill>
          <a:ln w="7620">
            <a:solidFill>
              <a:srgbClr val="E9D29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27" name="TextBox 26"/>
          <p:cNvSpPr txBox="1"/>
          <p:nvPr/>
        </p:nvSpPr>
        <p:spPr>
          <a:xfrm>
            <a:off x="7417595" y="2484535"/>
            <a:ext cx="183854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14000"/>
              </a:lnSpc>
              <a:defRPr sz="1000">
                <a:solidFill>
                  <a:srgbClr val="1F8F78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t>10 passed</a:t>
            </a:r>
          </a:p>
        </p:txBody>
      </p:sp>
      <p:sp>
        <p:nvSpPr>
          <p:cNvPr id="828" name="Rounded Rectangle 27"/>
          <p:cNvSpPr/>
          <p:nvPr/>
        </p:nvSpPr>
        <p:spPr>
          <a:xfrm>
            <a:off x="9530461" y="1298447"/>
            <a:ext cx="2094581" cy="1592960"/>
          </a:xfrm>
          <a:prstGeom prst="roundRect">
            <a:avLst>
              <a:gd name="adj" fmla="val 3157"/>
            </a:avLst>
          </a:prstGeom>
          <a:solidFill>
            <a:srgbClr val="FFFFFF"/>
          </a:solidFill>
          <a:ln>
            <a:solidFill>
              <a:srgbClr val="DFE4EC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29" name="TextBox 28"/>
          <p:cNvSpPr txBox="1"/>
          <p:nvPr/>
        </p:nvSpPr>
        <p:spPr>
          <a:xfrm>
            <a:off x="9603613" y="1450560"/>
            <a:ext cx="1948277" cy="2646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14000"/>
              </a:lnSpc>
              <a:defRPr sz="1100">
                <a:solidFill>
                  <a:srgbClr val="14181F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rPr sz="1600" dirty="0" err="1"/>
              <a:t>vscode</a:t>
            </a:r>
            <a:r>
              <a:rPr sz="1600" dirty="0"/>
              <a:t>-extension</a:t>
            </a:r>
          </a:p>
        </p:txBody>
      </p:sp>
      <p:sp>
        <p:nvSpPr>
          <p:cNvPr id="830" name="TextBox 29"/>
          <p:cNvSpPr txBox="1"/>
          <p:nvPr/>
        </p:nvSpPr>
        <p:spPr>
          <a:xfrm>
            <a:off x="9676765" y="1821847"/>
            <a:ext cx="1801973" cy="387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35000"/>
              </a:lnSpc>
              <a:defRPr sz="9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t>npm ci + TS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编译</a:t>
            </a:r>
          </a:p>
          <a:p>
            <a:pPr>
              <a:lnSpc>
                <a:spcPct val="135000"/>
              </a:lnSpc>
              <a:defRPr sz="9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纯函数测试</a:t>
            </a:r>
          </a:p>
        </p:txBody>
      </p:sp>
      <p:sp>
        <p:nvSpPr>
          <p:cNvPr id="831" name="Rounded Rectangle 30"/>
          <p:cNvSpPr/>
          <p:nvPr/>
        </p:nvSpPr>
        <p:spPr>
          <a:xfrm>
            <a:off x="9658477" y="2436275"/>
            <a:ext cx="1838549" cy="341349"/>
          </a:xfrm>
          <a:prstGeom prst="roundRect">
            <a:avLst>
              <a:gd name="adj" fmla="val 14733"/>
            </a:avLst>
          </a:prstGeom>
          <a:solidFill>
            <a:srgbClr val="FFFFFF"/>
          </a:solidFill>
          <a:ln w="7620">
            <a:solidFill>
              <a:srgbClr val="DFE4EC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32" name="TextBox 31"/>
          <p:cNvSpPr txBox="1"/>
          <p:nvPr/>
        </p:nvSpPr>
        <p:spPr>
          <a:xfrm>
            <a:off x="9658477" y="2518049"/>
            <a:ext cx="183854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14000"/>
              </a:lnSpc>
              <a:defRPr sz="1000">
                <a:solidFill>
                  <a:srgbClr val="1F8F78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t>3 passed</a:t>
            </a:r>
          </a:p>
        </p:txBody>
      </p:sp>
      <p:sp>
        <p:nvSpPr>
          <p:cNvPr id="833" name="TextBox 32"/>
          <p:cNvSpPr txBox="1"/>
          <p:nvPr/>
        </p:nvSpPr>
        <p:spPr>
          <a:xfrm>
            <a:off x="566927" y="3187242"/>
            <a:ext cx="6035042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 b="1">
                <a:solidFill>
                  <a:srgbClr val="14181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b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测试金字塔与分层职责</a:t>
            </a:r>
          </a:p>
        </p:txBody>
      </p:sp>
      <p:sp>
        <p:nvSpPr>
          <p:cNvPr id="834" name="Rounded Rectangle 33"/>
          <p:cNvSpPr/>
          <p:nvPr/>
        </p:nvSpPr>
        <p:spPr>
          <a:xfrm>
            <a:off x="2487167" y="3574103"/>
            <a:ext cx="2743201" cy="500645"/>
          </a:xfrm>
          <a:prstGeom prst="roundRect">
            <a:avLst>
              <a:gd name="adj" fmla="val 10045"/>
            </a:avLst>
          </a:prstGeom>
          <a:solidFill>
            <a:srgbClr val="FDF1F0"/>
          </a:solidFill>
          <a:ln>
            <a:solidFill>
              <a:srgbClr val="EEBDB8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35" name="TextBox 34"/>
          <p:cNvSpPr txBox="1"/>
          <p:nvPr/>
        </p:nvSpPr>
        <p:spPr>
          <a:xfrm>
            <a:off x="2487167" y="3725745"/>
            <a:ext cx="2743201" cy="197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000">
                <a:solidFill>
                  <a:srgbClr val="D9564A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200" dirty="0"/>
              <a:t>E2E · </a:t>
            </a:r>
            <a:r>
              <a:rPr sz="1200" b="1" dirty="0" err="1">
                <a:latin typeface="+mj-lt"/>
                <a:ea typeface="+mj-ea"/>
                <a:cs typeface="+mj-cs"/>
                <a:sym typeface="Helvetica"/>
              </a:rPr>
              <a:t>真实</a:t>
            </a:r>
            <a:r>
              <a:rPr sz="1200" b="1" dirty="0"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sz="1200" dirty="0" err="1"/>
              <a:t>MinerU</a:t>
            </a:r>
            <a:r>
              <a:rPr sz="1200" dirty="0"/>
              <a:t> + LLM</a:t>
            </a:r>
          </a:p>
        </p:txBody>
      </p:sp>
      <p:sp>
        <p:nvSpPr>
          <p:cNvPr id="836" name="Rounded Rectangle 35"/>
          <p:cNvSpPr/>
          <p:nvPr/>
        </p:nvSpPr>
        <p:spPr>
          <a:xfrm>
            <a:off x="1847088" y="4165774"/>
            <a:ext cx="4023360" cy="500645"/>
          </a:xfrm>
          <a:prstGeom prst="roundRect">
            <a:avLst>
              <a:gd name="adj" fmla="val 10045"/>
            </a:avLst>
          </a:prstGeom>
          <a:solidFill>
            <a:srgbClr val="FDF8EC"/>
          </a:solidFill>
          <a:ln>
            <a:solidFill>
              <a:srgbClr val="E9D29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37" name="TextBox 36"/>
          <p:cNvSpPr txBox="1"/>
          <p:nvPr/>
        </p:nvSpPr>
        <p:spPr>
          <a:xfrm>
            <a:off x="1847088" y="4317415"/>
            <a:ext cx="4023360" cy="197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000">
                <a:solidFill>
                  <a:srgbClr val="D99B06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200" b="1" dirty="0" err="1">
                <a:latin typeface="+mj-lt"/>
                <a:ea typeface="+mj-ea"/>
                <a:cs typeface="+mj-cs"/>
                <a:sym typeface="Helvetica"/>
              </a:rPr>
              <a:t>系统测试</a:t>
            </a:r>
            <a:r>
              <a:rPr sz="1200" b="1" dirty="0"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sz="1200" dirty="0"/>
              <a:t>· Playwright </a:t>
            </a:r>
            <a:r>
              <a:rPr sz="1200" b="1" dirty="0" err="1">
                <a:latin typeface="+mj-lt"/>
                <a:ea typeface="+mj-ea"/>
                <a:cs typeface="+mj-cs"/>
                <a:sym typeface="Helvetica"/>
              </a:rPr>
              <a:t>浏览器</a:t>
            </a:r>
            <a:r>
              <a:rPr lang="zh-CN" altLang="en-US" sz="1200" b="1" dirty="0">
                <a:latin typeface="+mj-lt"/>
                <a:ea typeface="+mj-ea"/>
                <a:cs typeface="+mj-cs"/>
                <a:sym typeface="Helvetica"/>
              </a:rPr>
              <a:t>测试</a:t>
            </a:r>
            <a:endParaRPr sz="1200" b="1"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838" name="Rounded Rectangle 37"/>
          <p:cNvSpPr/>
          <p:nvPr/>
        </p:nvSpPr>
        <p:spPr>
          <a:xfrm>
            <a:off x="1207008" y="4757444"/>
            <a:ext cx="5303521" cy="500645"/>
          </a:xfrm>
          <a:prstGeom prst="roundRect">
            <a:avLst>
              <a:gd name="adj" fmla="val 10045"/>
            </a:avLst>
          </a:prstGeom>
          <a:solidFill>
            <a:srgbClr val="F0F7F9"/>
          </a:solidFill>
          <a:ln>
            <a:solidFill>
              <a:srgbClr val="B8D5D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39" name="TextBox 38"/>
          <p:cNvSpPr txBox="1"/>
          <p:nvPr/>
        </p:nvSpPr>
        <p:spPr>
          <a:xfrm>
            <a:off x="1207008" y="4909086"/>
            <a:ext cx="5303521" cy="197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000">
                <a:solidFill>
                  <a:srgbClr val="1F6F8B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200" b="1" dirty="0" err="1">
                <a:latin typeface="+mj-lt"/>
                <a:ea typeface="+mj-ea"/>
                <a:cs typeface="+mj-cs"/>
                <a:sym typeface="Helvetica"/>
              </a:rPr>
              <a:t>集成测试</a:t>
            </a:r>
            <a:r>
              <a:rPr sz="1200" b="1" dirty="0"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sz="1200" dirty="0"/>
              <a:t>· API / </a:t>
            </a:r>
            <a:r>
              <a:rPr sz="1200" b="1" dirty="0" err="1">
                <a:latin typeface="+mj-lt"/>
                <a:ea typeface="+mj-ea"/>
                <a:cs typeface="+mj-cs"/>
                <a:sym typeface="Helvetica"/>
              </a:rPr>
              <a:t>迁移</a:t>
            </a:r>
            <a:r>
              <a:rPr sz="1200" b="1" dirty="0"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sz="1200" dirty="0"/>
              <a:t>/ </a:t>
            </a:r>
            <a:r>
              <a:rPr sz="1200" b="1" dirty="0" err="1">
                <a:latin typeface="+mj-lt"/>
                <a:ea typeface="+mj-ea"/>
                <a:cs typeface="+mj-cs"/>
                <a:sym typeface="Helvetica"/>
              </a:rPr>
              <a:t>同步</a:t>
            </a:r>
            <a:r>
              <a:rPr sz="1200" b="1" dirty="0"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sz="1200" dirty="0"/>
              <a:t>/ </a:t>
            </a:r>
            <a:r>
              <a:rPr sz="1200" b="1" dirty="0" err="1">
                <a:latin typeface="+mj-lt"/>
                <a:ea typeface="+mj-ea"/>
                <a:cs typeface="+mj-cs"/>
                <a:sym typeface="Helvetica"/>
              </a:rPr>
              <a:t>恢复</a:t>
            </a:r>
            <a:endParaRPr sz="1200" b="1"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840" name="Rounded Rectangle 39"/>
          <p:cNvSpPr/>
          <p:nvPr/>
        </p:nvSpPr>
        <p:spPr>
          <a:xfrm>
            <a:off x="566927" y="5349114"/>
            <a:ext cx="6583682" cy="500645"/>
          </a:xfrm>
          <a:prstGeom prst="roundRect">
            <a:avLst>
              <a:gd name="adj" fmla="val 10045"/>
            </a:avLst>
          </a:prstGeom>
          <a:solidFill>
            <a:srgbClr val="EFF9F6"/>
          </a:solidFill>
          <a:ln>
            <a:solidFill>
              <a:srgbClr val="B3DED4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41" name="TextBox 40"/>
          <p:cNvSpPr txBox="1"/>
          <p:nvPr/>
        </p:nvSpPr>
        <p:spPr>
          <a:xfrm>
            <a:off x="566927" y="5451602"/>
            <a:ext cx="6583682" cy="197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000">
                <a:solidFill>
                  <a:srgbClr val="1F8F78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200" b="1" dirty="0" err="1">
                <a:latin typeface="+mj-lt"/>
                <a:ea typeface="+mj-ea"/>
                <a:cs typeface="+mj-cs"/>
                <a:sym typeface="Helvetica"/>
              </a:rPr>
              <a:t>单元测试</a:t>
            </a:r>
            <a:r>
              <a:rPr sz="1200" b="1" dirty="0"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sz="1200" dirty="0"/>
              <a:t>· </a:t>
            </a:r>
            <a:r>
              <a:rPr sz="1200" b="1" dirty="0" err="1">
                <a:latin typeface="+mj-lt"/>
                <a:ea typeface="+mj-ea"/>
                <a:cs typeface="+mj-cs"/>
                <a:sym typeface="Helvetica"/>
              </a:rPr>
              <a:t>分块</a:t>
            </a:r>
            <a:r>
              <a:rPr sz="1200" b="1" dirty="0"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sz="1200" dirty="0"/>
              <a:t>/ </a:t>
            </a:r>
            <a:r>
              <a:rPr sz="1200" b="1" dirty="0" err="1">
                <a:latin typeface="+mj-lt"/>
                <a:ea typeface="+mj-ea"/>
                <a:cs typeface="+mj-cs"/>
                <a:sym typeface="Helvetica"/>
              </a:rPr>
              <a:t>嵌入</a:t>
            </a:r>
            <a:r>
              <a:rPr sz="1200" b="1" dirty="0"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sz="1200" dirty="0"/>
              <a:t>/ </a:t>
            </a:r>
            <a:r>
              <a:rPr sz="1200" b="1" dirty="0" err="1">
                <a:latin typeface="+mj-lt"/>
                <a:ea typeface="+mj-ea"/>
                <a:cs typeface="+mj-cs"/>
                <a:sym typeface="Helvetica"/>
              </a:rPr>
              <a:t>锚点</a:t>
            </a:r>
            <a:r>
              <a:rPr sz="1200" b="1" dirty="0"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sz="1200" dirty="0"/>
              <a:t>/ </a:t>
            </a:r>
            <a:r>
              <a:rPr sz="1200" b="1" dirty="0" err="1">
                <a:latin typeface="+mj-lt"/>
                <a:ea typeface="+mj-ea"/>
                <a:cs typeface="+mj-cs"/>
                <a:sym typeface="Helvetica"/>
              </a:rPr>
              <a:t>置信度</a:t>
            </a:r>
            <a:r>
              <a:rPr sz="1200" b="1" dirty="0"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sz="1200" dirty="0"/>
              <a:t>/ AST</a:t>
            </a:r>
          </a:p>
        </p:txBody>
      </p:sp>
      <p:sp>
        <p:nvSpPr>
          <p:cNvPr id="842" name="Rounded Rectangle 41"/>
          <p:cNvSpPr/>
          <p:nvPr/>
        </p:nvSpPr>
        <p:spPr>
          <a:xfrm>
            <a:off x="7516368" y="3187242"/>
            <a:ext cx="4108675" cy="1706743"/>
          </a:xfrm>
          <a:prstGeom prst="roundRect">
            <a:avLst>
              <a:gd name="adj" fmla="val 2946"/>
            </a:avLst>
          </a:prstGeom>
          <a:solidFill>
            <a:srgbClr val="F0F7F9"/>
          </a:solidFill>
          <a:ln>
            <a:solidFill>
              <a:srgbClr val="B8D5D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43" name="Rectangle 42"/>
          <p:cNvSpPr/>
          <p:nvPr/>
        </p:nvSpPr>
        <p:spPr>
          <a:xfrm>
            <a:off x="7516368" y="3187242"/>
            <a:ext cx="45721" cy="1706743"/>
          </a:xfrm>
          <a:prstGeom prst="rect">
            <a:avLst/>
          </a:prstGeom>
          <a:solidFill>
            <a:srgbClr val="1F6F8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44" name="TextBox 43"/>
          <p:cNvSpPr txBox="1"/>
          <p:nvPr/>
        </p:nvSpPr>
        <p:spPr>
          <a:xfrm>
            <a:off x="7699247" y="3369295"/>
            <a:ext cx="3779490" cy="2000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 b="1">
                <a:solidFill>
                  <a:srgbClr val="1F6F8B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b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lang="zh-CN" altLang="en-US" b="1" dirty="0">
                <a:latin typeface="+mj-lt"/>
                <a:ea typeface="+mj-ea"/>
                <a:cs typeface="+mj-cs"/>
                <a:sym typeface="Helvetica"/>
              </a:rPr>
              <a:t>质量把关</a:t>
            </a:r>
            <a:endParaRPr b="1"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845" name="TextBox 44"/>
          <p:cNvSpPr txBox="1"/>
          <p:nvPr/>
        </p:nvSpPr>
        <p:spPr>
          <a:xfrm>
            <a:off x="7699247" y="3850785"/>
            <a:ext cx="3742916" cy="719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4000"/>
              </a:lnSpc>
              <a:defRPr sz="10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200" dirty="0"/>
              <a:t>· </a:t>
            </a:r>
            <a:r>
              <a:rPr lang="zh-CN" altLang="en-US" sz="1200" dirty="0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覆盖率</a:t>
            </a:r>
            <a:r>
              <a:rPr lang="en-US" altLang="zh-CN" sz="1200" dirty="0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90%</a:t>
            </a:r>
            <a:r>
              <a:rPr lang="zh-CN" altLang="en-US" sz="1200" dirty="0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以上</a:t>
            </a:r>
            <a:endParaRPr sz="1200" dirty="0">
              <a:solidFill>
                <a:srgbClr val="4A5464"/>
              </a:solidFill>
            </a:endParaRPr>
          </a:p>
          <a:p>
            <a:pPr>
              <a:lnSpc>
                <a:spcPct val="134000"/>
              </a:lnSpc>
              <a:defRPr sz="10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200" dirty="0"/>
              <a:t>· </a:t>
            </a:r>
            <a:r>
              <a:rPr sz="1200" dirty="0" err="1">
                <a:solidFill>
                  <a:srgbClr val="4A5464"/>
                </a:solidFill>
              </a:rPr>
              <a:t>uv</a:t>
            </a:r>
            <a:r>
              <a:rPr sz="1200" dirty="0">
                <a:solidFill>
                  <a:srgbClr val="4A5464"/>
                </a:solidFill>
              </a:rPr>
              <a:t> sync --frozen / </a:t>
            </a:r>
            <a:r>
              <a:rPr sz="1200" dirty="0" err="1">
                <a:solidFill>
                  <a:srgbClr val="4A5464"/>
                </a:solidFill>
              </a:rPr>
              <a:t>pnpm</a:t>
            </a:r>
            <a:r>
              <a:rPr sz="1200" dirty="0">
                <a:solidFill>
                  <a:srgbClr val="4A5464"/>
                </a:solidFill>
              </a:rPr>
              <a:t> --frozen-</a:t>
            </a:r>
            <a:r>
              <a:rPr sz="1200" dirty="0" err="1">
                <a:solidFill>
                  <a:srgbClr val="4A5464"/>
                </a:solidFill>
              </a:rPr>
              <a:t>lockfile</a:t>
            </a:r>
            <a:endParaRPr sz="1200" dirty="0">
              <a:solidFill>
                <a:srgbClr val="4A5464"/>
              </a:solidFill>
            </a:endParaRPr>
          </a:p>
          <a:p>
            <a:pPr>
              <a:lnSpc>
                <a:spcPct val="134000"/>
              </a:lnSpc>
              <a:defRPr sz="10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200" dirty="0"/>
              <a:t>· </a:t>
            </a:r>
            <a:r>
              <a:rPr sz="1200" dirty="0">
                <a:solidFill>
                  <a:srgbClr val="4A5464"/>
                </a:solidFill>
              </a:rPr>
              <a:t>lint </a:t>
            </a:r>
            <a:r>
              <a:rPr sz="1200" dirty="0" err="1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与测试同为硬门禁；报告作为</a:t>
            </a:r>
            <a:r>
              <a:rPr sz="1200" dirty="0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sz="1200" dirty="0">
                <a:solidFill>
                  <a:srgbClr val="4A5464"/>
                </a:solidFill>
              </a:rPr>
              <a:t>artifact </a:t>
            </a:r>
            <a:r>
              <a:rPr sz="1200" dirty="0" err="1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归档</a:t>
            </a:r>
            <a:endParaRPr sz="1200" dirty="0">
              <a:solidFill>
                <a:srgbClr val="4A5464"/>
              </a:solidFill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846" name="Rounded Rectangle 45"/>
          <p:cNvSpPr/>
          <p:nvPr/>
        </p:nvSpPr>
        <p:spPr>
          <a:xfrm>
            <a:off x="7516368" y="5030523"/>
            <a:ext cx="4108675" cy="1297124"/>
          </a:xfrm>
          <a:prstGeom prst="roundRect">
            <a:avLst>
              <a:gd name="adj" fmla="val 3877"/>
            </a:avLst>
          </a:prstGeom>
          <a:solidFill>
            <a:srgbClr val="FDF8EC"/>
          </a:solidFill>
          <a:ln>
            <a:solidFill>
              <a:srgbClr val="E9D29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47" name="Rectangle 46"/>
          <p:cNvSpPr/>
          <p:nvPr/>
        </p:nvSpPr>
        <p:spPr>
          <a:xfrm>
            <a:off x="7516368" y="5030523"/>
            <a:ext cx="45721" cy="1297124"/>
          </a:xfrm>
          <a:prstGeom prst="rect">
            <a:avLst/>
          </a:prstGeom>
          <a:solidFill>
            <a:srgbClr val="D99B0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48" name="TextBox 47"/>
          <p:cNvSpPr txBox="1"/>
          <p:nvPr/>
        </p:nvSpPr>
        <p:spPr>
          <a:xfrm>
            <a:off x="7699247" y="5212576"/>
            <a:ext cx="377949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 b="1">
                <a:solidFill>
                  <a:srgbClr val="D99B06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b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b="1" dirty="0" err="1">
                <a:latin typeface="+mj-lt"/>
                <a:ea typeface="+mj-ea"/>
                <a:cs typeface="+mj-cs"/>
                <a:sym typeface="Helvetica"/>
              </a:rPr>
              <a:t>测试设施问题（已处理</a:t>
            </a:r>
            <a:r>
              <a:rPr b="1" dirty="0">
                <a:latin typeface="+mj-lt"/>
                <a:ea typeface="+mj-ea"/>
                <a:cs typeface="+mj-cs"/>
                <a:sym typeface="Helvetica"/>
              </a:rPr>
              <a:t>）</a:t>
            </a:r>
          </a:p>
        </p:txBody>
      </p:sp>
      <p:sp>
        <p:nvSpPr>
          <p:cNvPr id="849" name="TextBox 48"/>
          <p:cNvSpPr txBox="1"/>
          <p:nvPr/>
        </p:nvSpPr>
        <p:spPr>
          <a:xfrm>
            <a:off x="7699247" y="5659022"/>
            <a:ext cx="3742916" cy="4725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4000"/>
              </a:lnSpc>
              <a:defRPr sz="10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200" dirty="0"/>
              <a:t>· </a:t>
            </a:r>
            <a:r>
              <a:rPr sz="1200" dirty="0">
                <a:solidFill>
                  <a:srgbClr val="4A5464"/>
                </a:solidFill>
              </a:rPr>
              <a:t>Python 3.14 </a:t>
            </a:r>
            <a:r>
              <a:rPr sz="1200" dirty="0" err="1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下全量插桩会放大后台任务时序</a:t>
            </a:r>
            <a:endParaRPr sz="1200" dirty="0">
              <a:solidFill>
                <a:srgbClr val="4A5464"/>
              </a:solidFill>
              <a:latin typeface="+mj-lt"/>
              <a:ea typeface="+mj-ea"/>
              <a:cs typeface="+mj-cs"/>
              <a:sym typeface="Helvetica"/>
            </a:endParaRPr>
          </a:p>
          <a:p>
            <a:pPr>
              <a:lnSpc>
                <a:spcPct val="134000"/>
              </a:lnSpc>
              <a:defRPr sz="10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200" dirty="0"/>
              <a:t>· </a:t>
            </a:r>
            <a:r>
              <a:rPr sz="1200" dirty="0" err="1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按验收口径只对边界明确的子系统插桩</a:t>
            </a:r>
            <a:endParaRPr sz="1200" dirty="0">
              <a:solidFill>
                <a:srgbClr val="4A5464"/>
              </a:solidFill>
              <a:latin typeface="+mj-lt"/>
              <a:ea typeface="+mj-ea"/>
              <a:cs typeface="+mj-cs"/>
              <a:sym typeface="Helvetica"/>
            </a:endParaRPr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Rectangle 1"/>
          <p:cNvSpPr/>
          <p:nvPr/>
        </p:nvSpPr>
        <p:spPr>
          <a:xfrm>
            <a:off x="-1" y="0"/>
            <a:ext cx="12191972" cy="6858000"/>
          </a:xfrm>
          <a:prstGeom prst="rect">
            <a:avLst/>
          </a:prstGeom>
          <a:solidFill>
            <a:srgbClr val="FBFCF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52" name="Rectangle 2"/>
          <p:cNvSpPr/>
          <p:nvPr/>
        </p:nvSpPr>
        <p:spPr>
          <a:xfrm>
            <a:off x="-1" y="0"/>
            <a:ext cx="56695" cy="6858000"/>
          </a:xfrm>
          <a:prstGeom prst="rect">
            <a:avLst/>
          </a:prstGeom>
          <a:solidFill>
            <a:srgbClr val="1F6F8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53" name="TextBox 3"/>
          <p:cNvSpPr txBox="1"/>
          <p:nvPr/>
        </p:nvSpPr>
        <p:spPr>
          <a:xfrm>
            <a:off x="566927" y="384047"/>
            <a:ext cx="1105811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1F6F8B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t>COVERAGE</a:t>
            </a:r>
          </a:p>
        </p:txBody>
      </p:sp>
      <p:sp>
        <p:nvSpPr>
          <p:cNvPr id="854" name="TextBox 4"/>
          <p:cNvSpPr txBox="1"/>
          <p:nvPr/>
        </p:nvSpPr>
        <p:spPr>
          <a:xfrm>
            <a:off x="566927" y="603504"/>
            <a:ext cx="11058116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500" b="1">
                <a:solidFill>
                  <a:srgbClr val="14181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b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单元测试总结汇报</a:t>
            </a:r>
          </a:p>
        </p:txBody>
      </p:sp>
      <p:sp>
        <p:nvSpPr>
          <p:cNvPr id="856" name="TextBox 6"/>
          <p:cNvSpPr txBox="1"/>
          <p:nvPr/>
        </p:nvSpPr>
        <p:spPr>
          <a:xfrm>
            <a:off x="11231850" y="6473952"/>
            <a:ext cx="4572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9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lvl1pPr>
          </a:lstStyle>
          <a:p>
            <a:r>
              <a:t>27</a:t>
            </a:r>
          </a:p>
        </p:txBody>
      </p:sp>
      <p:sp>
        <p:nvSpPr>
          <p:cNvPr id="857" name="Rounded Rectangle 7"/>
          <p:cNvSpPr/>
          <p:nvPr/>
        </p:nvSpPr>
        <p:spPr>
          <a:xfrm>
            <a:off x="566927" y="1298447"/>
            <a:ext cx="2641085" cy="993914"/>
          </a:xfrm>
          <a:prstGeom prst="roundRect">
            <a:avLst>
              <a:gd name="adj" fmla="val 5060"/>
            </a:avLst>
          </a:prstGeom>
          <a:solidFill>
            <a:srgbClr val="FFFFFF"/>
          </a:solidFill>
          <a:ln>
            <a:solidFill>
              <a:srgbClr val="DFE4EC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58" name="Rectangle 8"/>
          <p:cNvSpPr/>
          <p:nvPr/>
        </p:nvSpPr>
        <p:spPr>
          <a:xfrm>
            <a:off x="566927" y="1298447"/>
            <a:ext cx="45721" cy="993914"/>
          </a:xfrm>
          <a:prstGeom prst="rect">
            <a:avLst/>
          </a:prstGeom>
          <a:solidFill>
            <a:srgbClr val="1F8F7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59" name="TextBox 9"/>
          <p:cNvSpPr txBox="1"/>
          <p:nvPr/>
        </p:nvSpPr>
        <p:spPr>
          <a:xfrm>
            <a:off x="566928" y="1375199"/>
            <a:ext cx="2641084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14000"/>
              </a:lnSpc>
              <a:defRPr sz="2700">
                <a:solidFill>
                  <a:srgbClr val="1F8F78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t>100%</a:t>
            </a:r>
          </a:p>
        </p:txBody>
      </p:sp>
      <p:sp>
        <p:nvSpPr>
          <p:cNvPr id="860" name="TextBox 10"/>
          <p:cNvSpPr txBox="1"/>
          <p:nvPr/>
        </p:nvSpPr>
        <p:spPr>
          <a:xfrm>
            <a:off x="566928" y="1865399"/>
            <a:ext cx="2641084" cy="1780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14000"/>
              </a:lnSpc>
              <a:defRPr sz="1000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100" dirty="0" err="1">
                <a:latin typeface="+mj-lt"/>
                <a:ea typeface="+mj-ea"/>
                <a:cs typeface="+mj-cs"/>
                <a:sym typeface="Helvetica"/>
              </a:rPr>
              <a:t>四个正式范围合计</a:t>
            </a:r>
            <a:endParaRPr sz="1100"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861" name="TextBox 11"/>
          <p:cNvSpPr txBox="1"/>
          <p:nvPr/>
        </p:nvSpPr>
        <p:spPr>
          <a:xfrm>
            <a:off x="566928" y="2080602"/>
            <a:ext cx="2641084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9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t>1290 / 1290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语句</a:t>
            </a:r>
          </a:p>
        </p:txBody>
      </p:sp>
      <p:sp>
        <p:nvSpPr>
          <p:cNvPr id="862" name="Rounded Rectangle 12"/>
          <p:cNvSpPr/>
          <p:nvPr/>
        </p:nvSpPr>
        <p:spPr>
          <a:xfrm>
            <a:off x="3372603" y="1298447"/>
            <a:ext cx="2641085" cy="993914"/>
          </a:xfrm>
          <a:prstGeom prst="roundRect">
            <a:avLst>
              <a:gd name="adj" fmla="val 5060"/>
            </a:avLst>
          </a:prstGeom>
          <a:solidFill>
            <a:srgbClr val="FFFFFF"/>
          </a:solidFill>
          <a:ln>
            <a:solidFill>
              <a:srgbClr val="DFE4EC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63" name="Rectangle 13"/>
          <p:cNvSpPr/>
          <p:nvPr/>
        </p:nvSpPr>
        <p:spPr>
          <a:xfrm>
            <a:off x="3372603" y="1298447"/>
            <a:ext cx="45721" cy="993914"/>
          </a:xfrm>
          <a:prstGeom prst="rect">
            <a:avLst/>
          </a:prstGeom>
          <a:solidFill>
            <a:srgbClr val="1F6F8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64" name="TextBox 14"/>
          <p:cNvSpPr txBox="1"/>
          <p:nvPr/>
        </p:nvSpPr>
        <p:spPr>
          <a:xfrm>
            <a:off x="3372603" y="1375199"/>
            <a:ext cx="2641085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14000"/>
              </a:lnSpc>
              <a:defRPr sz="2700">
                <a:solidFill>
                  <a:srgbClr val="1F6F8B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t>326</a:t>
            </a:r>
          </a:p>
        </p:txBody>
      </p:sp>
      <p:sp>
        <p:nvSpPr>
          <p:cNvPr id="865" name="TextBox 15"/>
          <p:cNvSpPr txBox="1"/>
          <p:nvPr/>
        </p:nvSpPr>
        <p:spPr>
          <a:xfrm>
            <a:off x="3372603" y="1863956"/>
            <a:ext cx="2641085" cy="1809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0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100" dirty="0"/>
              <a:t>backend </a:t>
            </a:r>
            <a:r>
              <a:rPr sz="1100" dirty="0" err="1">
                <a:latin typeface="+mj-lt"/>
                <a:ea typeface="+mj-ea"/>
                <a:cs typeface="+mj-cs"/>
                <a:sym typeface="Helvetica"/>
              </a:rPr>
              <a:t>正式源回归</a:t>
            </a:r>
            <a:endParaRPr sz="1100"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866" name="TextBox 16"/>
          <p:cNvSpPr txBox="1"/>
          <p:nvPr/>
        </p:nvSpPr>
        <p:spPr>
          <a:xfrm>
            <a:off x="3372603" y="2080602"/>
            <a:ext cx="2641085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9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全部 </a:t>
            </a:r>
            <a:r>
              <a:t>passed</a:t>
            </a:r>
          </a:p>
        </p:txBody>
      </p:sp>
      <p:sp>
        <p:nvSpPr>
          <p:cNvPr id="867" name="Rounded Rectangle 17"/>
          <p:cNvSpPr/>
          <p:nvPr/>
        </p:nvSpPr>
        <p:spPr>
          <a:xfrm>
            <a:off x="6178281" y="1298447"/>
            <a:ext cx="2641084" cy="993914"/>
          </a:xfrm>
          <a:prstGeom prst="roundRect">
            <a:avLst>
              <a:gd name="adj" fmla="val 5060"/>
            </a:avLst>
          </a:prstGeom>
          <a:solidFill>
            <a:srgbClr val="FFFFFF"/>
          </a:solidFill>
          <a:ln>
            <a:solidFill>
              <a:srgbClr val="DFE4EC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68" name="Rectangle 18"/>
          <p:cNvSpPr/>
          <p:nvPr/>
        </p:nvSpPr>
        <p:spPr>
          <a:xfrm>
            <a:off x="6178281" y="1298447"/>
            <a:ext cx="45721" cy="993914"/>
          </a:xfrm>
          <a:prstGeom prst="rect">
            <a:avLst/>
          </a:prstGeom>
          <a:solidFill>
            <a:srgbClr val="7A5CC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69" name="TextBox 19"/>
          <p:cNvSpPr txBox="1"/>
          <p:nvPr/>
        </p:nvSpPr>
        <p:spPr>
          <a:xfrm>
            <a:off x="6178281" y="1375199"/>
            <a:ext cx="2641084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14000"/>
              </a:lnSpc>
              <a:defRPr sz="2700">
                <a:solidFill>
                  <a:srgbClr val="7A5CC4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t>192</a:t>
            </a:r>
          </a:p>
        </p:txBody>
      </p:sp>
      <p:sp>
        <p:nvSpPr>
          <p:cNvPr id="870" name="TextBox 20"/>
          <p:cNvSpPr txBox="1"/>
          <p:nvPr/>
        </p:nvSpPr>
        <p:spPr>
          <a:xfrm>
            <a:off x="6178281" y="1865399"/>
            <a:ext cx="2641084" cy="1780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14000"/>
              </a:lnSpc>
              <a:defRPr sz="1000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100" dirty="0" err="1">
                <a:latin typeface="+mj-lt"/>
                <a:ea typeface="+mj-ea"/>
                <a:cs typeface="+mj-cs"/>
                <a:sym typeface="Helvetica"/>
              </a:rPr>
              <a:t>四个定向子系统测试</a:t>
            </a:r>
            <a:endParaRPr sz="1100"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871" name="TextBox 21"/>
          <p:cNvSpPr txBox="1"/>
          <p:nvPr/>
        </p:nvSpPr>
        <p:spPr>
          <a:xfrm>
            <a:off x="6178281" y="2080602"/>
            <a:ext cx="2641084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14000"/>
              </a:lnSpc>
              <a:defRPr sz="9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lvl1pPr>
          </a:lstStyle>
          <a:p>
            <a:r>
              <a:t>52 + 74 + 46 + 20</a:t>
            </a:r>
          </a:p>
        </p:txBody>
      </p:sp>
      <p:sp>
        <p:nvSpPr>
          <p:cNvPr id="872" name="Rounded Rectangle 22"/>
          <p:cNvSpPr/>
          <p:nvPr/>
        </p:nvSpPr>
        <p:spPr>
          <a:xfrm>
            <a:off x="8983957" y="1298447"/>
            <a:ext cx="2641085" cy="993914"/>
          </a:xfrm>
          <a:prstGeom prst="roundRect">
            <a:avLst>
              <a:gd name="adj" fmla="val 5060"/>
            </a:avLst>
          </a:prstGeom>
          <a:solidFill>
            <a:srgbClr val="FFFFFF"/>
          </a:solidFill>
          <a:ln>
            <a:solidFill>
              <a:srgbClr val="DFE4EC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73" name="Rectangle 23"/>
          <p:cNvSpPr/>
          <p:nvPr/>
        </p:nvSpPr>
        <p:spPr>
          <a:xfrm>
            <a:off x="8983957" y="1298447"/>
            <a:ext cx="45721" cy="993914"/>
          </a:xfrm>
          <a:prstGeom prst="rect">
            <a:avLst/>
          </a:prstGeom>
          <a:solidFill>
            <a:srgbClr val="D99B0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74" name="TextBox 24"/>
          <p:cNvSpPr txBox="1"/>
          <p:nvPr/>
        </p:nvSpPr>
        <p:spPr>
          <a:xfrm>
            <a:off x="8983957" y="1375199"/>
            <a:ext cx="2641085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14000"/>
              </a:lnSpc>
              <a:defRPr sz="2700">
                <a:solidFill>
                  <a:srgbClr val="D99B06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t>19</a:t>
            </a:r>
          </a:p>
        </p:txBody>
      </p:sp>
      <p:sp>
        <p:nvSpPr>
          <p:cNvPr id="875" name="TextBox 25"/>
          <p:cNvSpPr txBox="1"/>
          <p:nvPr/>
        </p:nvSpPr>
        <p:spPr>
          <a:xfrm>
            <a:off x="8983957" y="1865399"/>
            <a:ext cx="2641085" cy="1780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14000"/>
              </a:lnSpc>
              <a:defRPr sz="1000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100" dirty="0" err="1">
                <a:latin typeface="+mj-lt"/>
                <a:ea typeface="+mj-ea"/>
                <a:cs typeface="+mj-cs"/>
                <a:sym typeface="Helvetica"/>
              </a:rPr>
              <a:t>缺陷全部关闭</a:t>
            </a:r>
            <a:endParaRPr sz="1100"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876" name="TextBox 26"/>
          <p:cNvSpPr txBox="1"/>
          <p:nvPr/>
        </p:nvSpPr>
        <p:spPr>
          <a:xfrm>
            <a:off x="8983957" y="2080602"/>
            <a:ext cx="2641085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9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t>P0 0 ·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未关闭 </a:t>
            </a:r>
            <a:r>
              <a:t>0</a:t>
            </a:r>
          </a:p>
        </p:txBody>
      </p:sp>
      <p:graphicFrame>
        <p:nvGraphicFramePr>
          <p:cNvPr id="877" name="Table 27"/>
          <p:cNvGraphicFramePr/>
          <p:nvPr>
            <p:extLst>
              <p:ext uri="{D42A27DB-BD31-4B8C-83A1-F6EECF244321}">
                <p14:modId xmlns:p14="http://schemas.microsoft.com/office/powerpoint/2010/main" val="3261903010"/>
              </p:ext>
            </p:extLst>
          </p:nvPr>
        </p:nvGraphicFramePr>
        <p:xfrm>
          <a:off x="566927" y="2491142"/>
          <a:ext cx="5943599" cy="2246238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26613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83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67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71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7808"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000">
                          <a:solidFill>
                            <a:srgbClr val="14181F"/>
                          </a:solidFill>
                          <a:latin typeface="PingFang SC Semibold"/>
                          <a:ea typeface="PingFang SC Semibold"/>
                          <a:cs typeface="PingFang SC Semibold"/>
                          <a:sym typeface="PingFang SC Semibold"/>
                        </a:defRPr>
                      </a:pPr>
                      <a:r>
                        <a:rPr sz="1200" b="1" dirty="0" err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被测子系统</a:t>
                      </a:r>
                      <a:endParaRPr sz="1200" b="1" dirty="0">
                        <a:latin typeface="+mj-lt"/>
                        <a:ea typeface="+mj-ea"/>
                        <a:cs typeface="+mj-cs"/>
                        <a:sym typeface="Helvetica"/>
                      </a:endParaRP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000">
                          <a:solidFill>
                            <a:srgbClr val="14181F"/>
                          </a:solidFill>
                          <a:latin typeface="PingFang SC Semibold"/>
                          <a:ea typeface="PingFang SC Semibold"/>
                          <a:cs typeface="PingFang SC Semibold"/>
                          <a:sym typeface="PingFang SC Semibold"/>
                        </a:defRPr>
                      </a:pPr>
                      <a:r>
                        <a:rPr sz="1200" b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测试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000">
                          <a:solidFill>
                            <a:srgbClr val="14181F"/>
                          </a:solidFill>
                          <a:latin typeface="PingFang SC Semibold"/>
                          <a:ea typeface="PingFang SC Semibold"/>
                          <a:cs typeface="PingFang SC Semibold"/>
                          <a:sym typeface="PingFang SC Semibold"/>
                        </a:defRPr>
                      </a:pPr>
                      <a:r>
                        <a:rPr sz="1200" b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语句覆盖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000">
                          <a:solidFill>
                            <a:srgbClr val="14181F"/>
                          </a:solidFill>
                          <a:latin typeface="PingFang SC Semibold"/>
                          <a:ea typeface="PingFang SC Semibold"/>
                          <a:cs typeface="PingFang SC Semibold"/>
                          <a:sym typeface="PingFang SC Semibold"/>
                        </a:defRPr>
                      </a:pPr>
                      <a:r>
                        <a:rPr sz="1200" b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结论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EE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686"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000">
                          <a:solidFill>
                            <a:srgbClr val="14181F"/>
                          </a:solidFill>
                          <a:latin typeface="PingFang SC Semibold"/>
                          <a:ea typeface="PingFang SC Semibold"/>
                          <a:cs typeface="PingFang SC Semibold"/>
                          <a:sym typeface="PingFang SC Semibold"/>
                        </a:defRPr>
                      </a:pPr>
                      <a:r>
                        <a:rPr sz="1200" dirty="0" err="1"/>
                        <a:t>code_analysis</a:t>
                      </a:r>
                      <a:r>
                        <a:rPr sz="1200" dirty="0"/>
                        <a:t> </a:t>
                      </a:r>
                      <a:r>
                        <a:rPr sz="1200" b="1" dirty="0" err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静态分析</a:t>
                      </a:r>
                      <a:endParaRPr sz="1200" b="1" dirty="0">
                        <a:latin typeface="+mj-lt"/>
                        <a:ea typeface="+mj-ea"/>
                        <a:cs typeface="+mj-cs"/>
                        <a:sym typeface="Helvetica"/>
                      </a:endParaRP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800"/>
                      </a:pPr>
                      <a:r>
                        <a:rPr sz="1200">
                          <a:solidFill>
                            <a:srgbClr val="4A5464"/>
                          </a:solidFill>
                          <a:latin typeface="PingFang SC Regular"/>
                          <a:ea typeface="PingFang SC Regular"/>
                          <a:cs typeface="PingFang SC Regular"/>
                          <a:sym typeface="PingFang SC Regular"/>
                        </a:rPr>
                        <a:t>52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800"/>
                      </a:pPr>
                      <a:r>
                        <a:rPr sz="1200">
                          <a:solidFill>
                            <a:srgbClr val="4A5464"/>
                          </a:solidFill>
                          <a:latin typeface="PingFang SC Regular"/>
                          <a:ea typeface="PingFang SC Regular"/>
                          <a:cs typeface="PingFang SC Regular"/>
                          <a:sym typeface="PingFang SC Regular"/>
                        </a:rPr>
                        <a:t>389/389 = 100%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000">
                          <a:solidFill>
                            <a:srgbClr val="1F8F78"/>
                          </a:solidFill>
                          <a:latin typeface="PingFang SC Semibold"/>
                          <a:ea typeface="PingFang SC Semibold"/>
                          <a:cs typeface="PingFang SC Semibold"/>
                          <a:sym typeface="PingFang SC Semibold"/>
                        </a:defRPr>
                      </a:pPr>
                      <a:r>
                        <a:rPr sz="1200" b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通过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686"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000">
                          <a:solidFill>
                            <a:srgbClr val="14181F"/>
                          </a:solidFill>
                          <a:latin typeface="PingFang SC Semibold"/>
                          <a:ea typeface="PingFang SC Semibold"/>
                          <a:cs typeface="PingFang SC Semibold"/>
                          <a:sym typeface="PingFang SC Semibold"/>
                        </a:defRPr>
                      </a:pPr>
                      <a:r>
                        <a:rPr sz="1200" dirty="0"/>
                        <a:t>rag </a:t>
                      </a:r>
                      <a:r>
                        <a:rPr sz="1200" b="1" dirty="0" err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语义检索</a:t>
                      </a:r>
                      <a:endParaRPr sz="1200" b="1" dirty="0">
                        <a:latin typeface="+mj-lt"/>
                        <a:ea typeface="+mj-ea"/>
                        <a:cs typeface="+mj-cs"/>
                        <a:sym typeface="Helvetica"/>
                      </a:endParaRP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800"/>
                      </a:pPr>
                      <a:r>
                        <a:rPr sz="1200" dirty="0">
                          <a:solidFill>
                            <a:srgbClr val="4A5464"/>
                          </a:solidFill>
                          <a:latin typeface="PingFang SC Regular"/>
                          <a:ea typeface="PingFang SC Regular"/>
                          <a:cs typeface="PingFang SC Regular"/>
                          <a:sym typeface="PingFang SC Regular"/>
                        </a:rPr>
                        <a:t>74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800"/>
                      </a:pPr>
                      <a:r>
                        <a:rPr sz="1200" dirty="0">
                          <a:solidFill>
                            <a:srgbClr val="4A5464"/>
                          </a:solidFill>
                          <a:latin typeface="PingFang SC Regular"/>
                          <a:ea typeface="PingFang SC Regular"/>
                          <a:cs typeface="PingFang SC Regular"/>
                          <a:sym typeface="PingFang SC Regular"/>
                        </a:rPr>
                        <a:t>438/438 = 100%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000">
                          <a:solidFill>
                            <a:srgbClr val="1F8F78"/>
                          </a:solidFill>
                          <a:latin typeface="PingFang SC Semibold"/>
                          <a:ea typeface="PingFang SC Semibold"/>
                          <a:cs typeface="PingFang SC Semibold"/>
                          <a:sym typeface="PingFang SC Semibold"/>
                        </a:defRPr>
                      </a:pPr>
                      <a:r>
                        <a:rPr sz="1200" b="1" dirty="0" err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通过</a:t>
                      </a:r>
                      <a:endParaRPr sz="1200" b="1" dirty="0">
                        <a:latin typeface="+mj-lt"/>
                        <a:ea typeface="+mj-ea"/>
                        <a:cs typeface="+mj-cs"/>
                        <a:sym typeface="Helvetica"/>
                      </a:endParaRP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686"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000">
                          <a:solidFill>
                            <a:srgbClr val="14181F"/>
                          </a:solidFill>
                          <a:latin typeface="PingFang SC Semibold"/>
                          <a:ea typeface="PingFang SC Semibold"/>
                          <a:cs typeface="PingFang SC Semibold"/>
                          <a:sym typeface="PingFang SC Semibold"/>
                        </a:defRPr>
                      </a:pPr>
                      <a:r>
                        <a:rPr sz="1200"/>
                        <a:t>VS Code </a:t>
                      </a:r>
                      <a:r>
                        <a:rPr sz="1200" b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无头核心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800"/>
                      </a:pPr>
                      <a:r>
                        <a:rPr sz="1200">
                          <a:solidFill>
                            <a:srgbClr val="4A5464"/>
                          </a:solidFill>
                          <a:latin typeface="PingFang SC Regular"/>
                          <a:ea typeface="PingFang SC Regular"/>
                          <a:cs typeface="PingFang SC Regular"/>
                          <a:sym typeface="PingFang SC Regular"/>
                        </a:rPr>
                        <a:t>46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800"/>
                      </a:pPr>
                      <a:r>
                        <a:rPr sz="1200" dirty="0">
                          <a:solidFill>
                            <a:srgbClr val="4A5464"/>
                          </a:solidFill>
                          <a:latin typeface="PingFang SC Regular"/>
                          <a:ea typeface="PingFang SC Regular"/>
                          <a:cs typeface="PingFang SC Regular"/>
                          <a:sym typeface="PingFang SC Regular"/>
                        </a:rPr>
                        <a:t>275/275 = 100%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000">
                          <a:solidFill>
                            <a:srgbClr val="1F8F78"/>
                          </a:solidFill>
                          <a:latin typeface="PingFang SC Semibold"/>
                          <a:ea typeface="PingFang SC Semibold"/>
                          <a:cs typeface="PingFang SC Semibold"/>
                          <a:sym typeface="PingFang SC Semibold"/>
                        </a:defRPr>
                      </a:pPr>
                      <a:r>
                        <a:rPr sz="1200" b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通过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686"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000">
                          <a:solidFill>
                            <a:srgbClr val="14181F"/>
                          </a:solidFill>
                          <a:latin typeface="PingFang SC Semibold"/>
                          <a:ea typeface="PingFang SC Semibold"/>
                          <a:cs typeface="PingFang SC Semibold"/>
                          <a:sym typeface="PingFang SC Semibold"/>
                        </a:defRPr>
                      </a:pPr>
                      <a:r>
                        <a:rPr sz="1200" b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追溯创作与置信度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800"/>
                      </a:pPr>
                      <a:r>
                        <a:rPr sz="1200">
                          <a:solidFill>
                            <a:srgbClr val="4A5464"/>
                          </a:solidFill>
                          <a:latin typeface="PingFang SC Regular"/>
                          <a:ea typeface="PingFang SC Regular"/>
                          <a:cs typeface="PingFang SC Regular"/>
                          <a:sym typeface="PingFang SC Regular"/>
                        </a:rPr>
                        <a:t>20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800"/>
                      </a:pPr>
                      <a:r>
                        <a:rPr sz="1200" dirty="0">
                          <a:solidFill>
                            <a:srgbClr val="4A5464"/>
                          </a:solidFill>
                          <a:latin typeface="PingFang SC Regular"/>
                          <a:ea typeface="PingFang SC Regular"/>
                          <a:cs typeface="PingFang SC Regular"/>
                          <a:sym typeface="PingFang SC Regular"/>
                        </a:rPr>
                        <a:t>188/188 = 100%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000">
                          <a:solidFill>
                            <a:srgbClr val="1F8F78"/>
                          </a:solidFill>
                          <a:latin typeface="PingFang SC Semibold"/>
                          <a:ea typeface="PingFang SC Semibold"/>
                          <a:cs typeface="PingFang SC Semibold"/>
                          <a:sym typeface="PingFang SC Semibold"/>
                        </a:defRPr>
                      </a:pPr>
                      <a:r>
                        <a:rPr sz="1200" b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通过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686"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000">
                          <a:solidFill>
                            <a:srgbClr val="14181F"/>
                          </a:solidFill>
                          <a:latin typeface="PingFang SC Semibold"/>
                          <a:ea typeface="PingFang SC Semibold"/>
                          <a:cs typeface="PingFang SC Semibold"/>
                          <a:sym typeface="PingFang SC Semibold"/>
                        </a:defRPr>
                      </a:pPr>
                      <a:r>
                        <a:rPr sz="1200" b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合计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800"/>
                      </a:pPr>
                      <a:r>
                        <a:rPr sz="1200">
                          <a:solidFill>
                            <a:srgbClr val="14181F"/>
                          </a:solidFill>
                          <a:latin typeface="PingFang SC Semibold"/>
                          <a:ea typeface="PingFang SC Semibold"/>
                          <a:cs typeface="PingFang SC Semibold"/>
                          <a:sym typeface="PingFang SC Semibold"/>
                        </a:rPr>
                        <a:t>192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800"/>
                      </a:pPr>
                      <a:r>
                        <a:rPr sz="1200" dirty="0">
                          <a:solidFill>
                            <a:srgbClr val="1F6F8B"/>
                          </a:solidFill>
                          <a:latin typeface="PingFang SC Semibold"/>
                          <a:ea typeface="PingFang SC Semibold"/>
                          <a:cs typeface="PingFang SC Semibold"/>
                          <a:sym typeface="PingFang SC Semibold"/>
                        </a:rPr>
                        <a:t>1290/1290 = 100%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000">
                          <a:solidFill>
                            <a:srgbClr val="1F8F78"/>
                          </a:solidFill>
                          <a:latin typeface="PingFang SC Semibold"/>
                          <a:ea typeface="PingFang SC Semibold"/>
                          <a:cs typeface="PingFang SC Semibold"/>
                          <a:sym typeface="PingFang SC Semibold"/>
                        </a:defRPr>
                      </a:pPr>
                      <a:r>
                        <a:rPr sz="1200" b="1" dirty="0" err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通过</a:t>
                      </a:r>
                      <a:endParaRPr sz="1200" b="1" dirty="0">
                        <a:latin typeface="+mj-lt"/>
                        <a:ea typeface="+mj-ea"/>
                        <a:cs typeface="+mj-cs"/>
                        <a:sym typeface="Helvetica"/>
                      </a:endParaRP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78" name="Rounded Rectangle 28"/>
          <p:cNvSpPr/>
          <p:nvPr/>
        </p:nvSpPr>
        <p:spPr>
          <a:xfrm>
            <a:off x="566927" y="4816900"/>
            <a:ext cx="5943601" cy="993914"/>
          </a:xfrm>
          <a:prstGeom prst="roundRect">
            <a:avLst>
              <a:gd name="adj" fmla="val 5060"/>
            </a:avLst>
          </a:prstGeom>
          <a:solidFill>
            <a:srgbClr val="F0F7F9"/>
          </a:solidFill>
          <a:ln>
            <a:solidFill>
              <a:srgbClr val="B8D5D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79" name="Rectangle 29"/>
          <p:cNvSpPr/>
          <p:nvPr/>
        </p:nvSpPr>
        <p:spPr>
          <a:xfrm>
            <a:off x="566927" y="4816900"/>
            <a:ext cx="45721" cy="993914"/>
          </a:xfrm>
          <a:prstGeom prst="rect">
            <a:avLst/>
          </a:prstGeom>
          <a:solidFill>
            <a:srgbClr val="1F6F8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80" name="TextBox 30"/>
          <p:cNvSpPr txBox="1"/>
          <p:nvPr/>
        </p:nvSpPr>
        <p:spPr>
          <a:xfrm>
            <a:off x="749807" y="4975926"/>
            <a:ext cx="5614418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 b="1">
                <a:solidFill>
                  <a:srgbClr val="1F6F8B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b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追溯创作与置信度子系统覆盖内容</a:t>
            </a:r>
          </a:p>
        </p:txBody>
      </p:sp>
      <p:sp>
        <p:nvSpPr>
          <p:cNvPr id="881" name="TextBox 31"/>
          <p:cNvSpPr txBox="1"/>
          <p:nvPr/>
        </p:nvSpPr>
        <p:spPr>
          <a:xfrm>
            <a:off x="749807" y="5294673"/>
            <a:ext cx="5577842" cy="4160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4000"/>
              </a:lnSpc>
              <a:defRPr sz="10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t>· </a:t>
            </a:r>
            <a:r>
              <a:rPr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手工引用 </a:t>
            </a:r>
            <a:r>
              <a:rPr>
                <a:solidFill>
                  <a:srgbClr val="4A5464"/>
                </a:solidFill>
              </a:rPr>
              <a:t>→ </a:t>
            </a:r>
            <a:r>
              <a:rPr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真实证据锚点；项目开关 </a:t>
            </a:r>
            <a:r>
              <a:rPr>
                <a:solidFill>
                  <a:srgbClr val="4A5464"/>
                </a:solidFill>
              </a:rPr>
              <a:t>API / schema / </a:t>
            </a:r>
            <a:r>
              <a:rPr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迁移</a:t>
            </a:r>
          </a:p>
          <a:p>
            <a:pPr>
              <a:lnSpc>
                <a:spcPct val="134000"/>
              </a:lnSpc>
              <a:defRPr sz="10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t>· </a:t>
            </a:r>
            <a:r>
              <a:rPr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直接评分与六维公式；</a:t>
            </a:r>
            <a:r>
              <a:rPr>
                <a:solidFill>
                  <a:srgbClr val="4A5464"/>
                </a:solidFill>
              </a:rPr>
              <a:t>penalty </a:t>
            </a:r>
            <a:r>
              <a:rPr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去重；旧 </a:t>
            </a:r>
            <a:r>
              <a:rPr>
                <a:solidFill>
                  <a:srgbClr val="4A5464"/>
                </a:solidFill>
              </a:rPr>
              <a:t>schema </a:t>
            </a:r>
            <a:r>
              <a:rPr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降级与上下界</a:t>
            </a:r>
          </a:p>
        </p:txBody>
      </p:sp>
      <p:sp>
        <p:nvSpPr>
          <p:cNvPr id="882" name="TextBox 32"/>
          <p:cNvSpPr txBox="1"/>
          <p:nvPr/>
        </p:nvSpPr>
        <p:spPr>
          <a:xfrm>
            <a:off x="6784847" y="2451386"/>
            <a:ext cx="4840195" cy="2000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300">
                <a:solidFill>
                  <a:srgbClr val="14181F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lang="zh-CN" altLang="en-US" b="1" dirty="0">
                <a:latin typeface="+mj-lt"/>
                <a:ea typeface="+mj-ea"/>
                <a:cs typeface="+mj-cs"/>
                <a:sym typeface="Helvetica"/>
              </a:rPr>
              <a:t>语义检索</a:t>
            </a:r>
            <a:r>
              <a:rPr b="1" dirty="0" err="1">
                <a:latin typeface="+mj-lt"/>
                <a:ea typeface="+mj-ea"/>
                <a:cs typeface="+mj-cs"/>
                <a:sym typeface="Helvetica"/>
              </a:rPr>
              <a:t>子系统补测过程（有代表性</a:t>
            </a:r>
            <a:r>
              <a:rPr b="1" dirty="0">
                <a:latin typeface="+mj-lt"/>
                <a:ea typeface="+mj-ea"/>
                <a:cs typeface="+mj-cs"/>
                <a:sym typeface="Helvetica"/>
              </a:rPr>
              <a:t>）</a:t>
            </a:r>
          </a:p>
        </p:txBody>
      </p:sp>
      <p:sp>
        <p:nvSpPr>
          <p:cNvPr id="883" name="Rounded Rectangle 33"/>
          <p:cNvSpPr/>
          <p:nvPr/>
        </p:nvSpPr>
        <p:spPr>
          <a:xfrm>
            <a:off x="6784847" y="2749561"/>
            <a:ext cx="1467095" cy="556592"/>
          </a:xfrm>
          <a:prstGeom prst="roundRect">
            <a:avLst>
              <a:gd name="adj" fmla="val 9035"/>
            </a:avLst>
          </a:prstGeom>
          <a:solidFill>
            <a:srgbClr val="FDF8EC"/>
          </a:solidFill>
          <a:ln w="12700">
            <a:solidFill>
              <a:srgbClr val="E9D29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84" name="TextBox 34"/>
          <p:cNvSpPr txBox="1"/>
          <p:nvPr/>
        </p:nvSpPr>
        <p:spPr>
          <a:xfrm>
            <a:off x="6858000" y="2829482"/>
            <a:ext cx="1320791" cy="3967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100">
                <a:solidFill>
                  <a:srgbClr val="D99B06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起步 </a:t>
            </a:r>
            <a:r>
              <a:t>27 </a:t>
            </a:r>
            <a:r>
              <a:rPr b="1">
                <a:latin typeface="+mj-lt"/>
                <a:ea typeface="+mj-ea"/>
                <a:cs typeface="+mj-cs"/>
                <a:sym typeface="Helvetica"/>
              </a:rPr>
              <a:t>条</a:t>
            </a:r>
          </a:p>
          <a:p>
            <a:pPr algn="ctr">
              <a:lnSpc>
                <a:spcPct val="114000"/>
              </a:lnSpc>
              <a:defRPr sz="9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t>72.94%</a:t>
            </a:r>
          </a:p>
        </p:txBody>
      </p:sp>
      <p:sp>
        <p:nvSpPr>
          <p:cNvPr id="885" name="Rounded Rectangle 35"/>
          <p:cNvSpPr/>
          <p:nvPr/>
        </p:nvSpPr>
        <p:spPr>
          <a:xfrm>
            <a:off x="8471397" y="2749561"/>
            <a:ext cx="1467095" cy="556592"/>
          </a:xfrm>
          <a:prstGeom prst="roundRect">
            <a:avLst>
              <a:gd name="adj" fmla="val 9035"/>
            </a:avLst>
          </a:prstGeom>
          <a:solidFill>
            <a:srgbClr val="F0F7F9"/>
          </a:solidFill>
          <a:ln w="12700">
            <a:solidFill>
              <a:srgbClr val="B8D5D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86" name="TextBox 36"/>
          <p:cNvSpPr txBox="1"/>
          <p:nvPr/>
        </p:nvSpPr>
        <p:spPr>
          <a:xfrm>
            <a:off x="8544549" y="2829482"/>
            <a:ext cx="1320791" cy="3967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100">
                <a:solidFill>
                  <a:srgbClr val="1F6F8B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补 </a:t>
            </a:r>
            <a:r>
              <a:t>47 </a:t>
            </a:r>
            <a:r>
              <a:rPr b="1">
                <a:latin typeface="+mj-lt"/>
                <a:ea typeface="+mj-ea"/>
                <a:cs typeface="+mj-cs"/>
                <a:sym typeface="Helvetica"/>
              </a:rPr>
              <a:t>条边界</a:t>
            </a:r>
          </a:p>
          <a:p>
            <a:pPr algn="ctr">
              <a:lnSpc>
                <a:spcPct val="114000"/>
              </a:lnSpc>
              <a:defRPr sz="9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异常 </a:t>
            </a:r>
            <a:r>
              <a:t>/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降级</a:t>
            </a:r>
          </a:p>
        </p:txBody>
      </p:sp>
      <p:sp>
        <p:nvSpPr>
          <p:cNvPr id="887" name="Connector 37"/>
          <p:cNvSpPr/>
          <p:nvPr/>
        </p:nvSpPr>
        <p:spPr>
          <a:xfrm>
            <a:off x="8288518" y="3027856"/>
            <a:ext cx="146305" cy="1"/>
          </a:xfrm>
          <a:prstGeom prst="line">
            <a:avLst/>
          </a:prstGeom>
          <a:ln w="12700">
            <a:solidFill>
              <a:srgbClr val="8B95A5"/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888" name="Rounded Rectangle 38"/>
          <p:cNvSpPr/>
          <p:nvPr/>
        </p:nvSpPr>
        <p:spPr>
          <a:xfrm>
            <a:off x="10157948" y="2749561"/>
            <a:ext cx="1467095" cy="556592"/>
          </a:xfrm>
          <a:prstGeom prst="roundRect">
            <a:avLst>
              <a:gd name="adj" fmla="val 9035"/>
            </a:avLst>
          </a:prstGeom>
          <a:solidFill>
            <a:srgbClr val="EFF9F6"/>
          </a:solidFill>
          <a:ln w="12700">
            <a:solidFill>
              <a:srgbClr val="B3DED4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89" name="TextBox 39"/>
          <p:cNvSpPr txBox="1"/>
          <p:nvPr/>
        </p:nvSpPr>
        <p:spPr>
          <a:xfrm>
            <a:off x="10231100" y="2829482"/>
            <a:ext cx="1320791" cy="3967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100">
                <a:solidFill>
                  <a:srgbClr val="1F8F78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74 </a:t>
            </a:r>
            <a:r>
              <a:rPr b="1">
                <a:latin typeface="+mj-lt"/>
                <a:ea typeface="+mj-ea"/>
                <a:cs typeface="+mj-cs"/>
                <a:sym typeface="Helvetica"/>
              </a:rPr>
              <a:t>条</a:t>
            </a:r>
          </a:p>
          <a:p>
            <a:pPr algn="ctr">
              <a:lnSpc>
                <a:spcPct val="114000"/>
              </a:lnSpc>
              <a:defRPr sz="9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t>100.00%</a:t>
            </a:r>
          </a:p>
        </p:txBody>
      </p:sp>
      <p:sp>
        <p:nvSpPr>
          <p:cNvPr id="890" name="Connector 40"/>
          <p:cNvSpPr/>
          <p:nvPr/>
        </p:nvSpPr>
        <p:spPr>
          <a:xfrm>
            <a:off x="9975067" y="3027856"/>
            <a:ext cx="146305" cy="1"/>
          </a:xfrm>
          <a:prstGeom prst="line">
            <a:avLst/>
          </a:prstGeom>
          <a:ln w="12700">
            <a:solidFill>
              <a:srgbClr val="8B95A5"/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891" name="TextBox 41"/>
          <p:cNvSpPr txBox="1"/>
          <p:nvPr/>
        </p:nvSpPr>
        <p:spPr>
          <a:xfrm>
            <a:off x="6784847" y="3405542"/>
            <a:ext cx="4840195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40000"/>
              </a:lnSpc>
              <a:defRPr sz="9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新增覆盖：长文本窗口 </a:t>
            </a:r>
            <a:r>
              <a:t>·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无效块 </a:t>
            </a:r>
            <a:r>
              <a:t>/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符号 </a:t>
            </a:r>
            <a:r>
              <a:t>· CJK / CamelCase ·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本地零向量 </a:t>
            </a:r>
            <a:r>
              <a:t>·</a:t>
            </a:r>
          </a:p>
          <a:p>
            <a:pPr>
              <a:lnSpc>
                <a:spcPct val="140000"/>
              </a:lnSpc>
              <a:defRPr sz="9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远程批处理与排序 </a:t>
            </a:r>
            <a:r>
              <a:t>· 401/429/5xx/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超时</a:t>
            </a:r>
            <a:r>
              <a:t>/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断网 </a:t>
            </a:r>
            <a:r>
              <a:t>·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强制重建 </a:t>
            </a:r>
            <a:r>
              <a:t>·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失败恢复</a:t>
            </a:r>
          </a:p>
        </p:txBody>
      </p:sp>
      <p:sp>
        <p:nvSpPr>
          <p:cNvPr id="892" name="TextBox 42"/>
          <p:cNvSpPr txBox="1"/>
          <p:nvPr/>
        </p:nvSpPr>
        <p:spPr>
          <a:xfrm>
            <a:off x="6784847" y="4081403"/>
            <a:ext cx="4840195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 b="1">
                <a:solidFill>
                  <a:srgbClr val="14181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b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其他检查项</a:t>
            </a:r>
          </a:p>
        </p:txBody>
      </p:sp>
      <p:graphicFrame>
        <p:nvGraphicFramePr>
          <p:cNvPr id="893" name="Table 43"/>
          <p:cNvGraphicFramePr/>
          <p:nvPr>
            <p:extLst>
              <p:ext uri="{D42A27DB-BD31-4B8C-83A1-F6EECF244321}">
                <p14:modId xmlns:p14="http://schemas.microsoft.com/office/powerpoint/2010/main" val="3934137971"/>
              </p:ext>
            </p:extLst>
          </p:nvPr>
        </p:nvGraphicFramePr>
        <p:xfrm>
          <a:off x="6784847" y="4379578"/>
          <a:ext cx="4840193" cy="1948068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31461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40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7808"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000">
                          <a:solidFill>
                            <a:srgbClr val="14181F"/>
                          </a:solidFill>
                          <a:latin typeface="PingFang SC Semibold"/>
                          <a:ea typeface="PingFang SC Semibold"/>
                          <a:cs typeface="PingFang SC Semibold"/>
                          <a:sym typeface="PingFang SC Semibold"/>
                        </a:defRPr>
                      </a:pPr>
                      <a:r>
                        <a:rPr sz="1200" b="1" dirty="0" err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检查</a:t>
                      </a:r>
                      <a:endParaRPr sz="1200" b="1" dirty="0">
                        <a:latin typeface="+mj-lt"/>
                        <a:ea typeface="+mj-ea"/>
                        <a:cs typeface="+mj-cs"/>
                        <a:sym typeface="Helvetica"/>
                      </a:endParaRP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000">
                          <a:solidFill>
                            <a:srgbClr val="14181F"/>
                          </a:solidFill>
                          <a:latin typeface="PingFang SC Semibold"/>
                          <a:ea typeface="PingFang SC Semibold"/>
                          <a:cs typeface="PingFang SC Semibold"/>
                          <a:sym typeface="PingFang SC Semibold"/>
                        </a:defRPr>
                      </a:pPr>
                      <a:r>
                        <a:rPr sz="1200" b="1" dirty="0" err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结果</a:t>
                      </a:r>
                      <a:endParaRPr sz="1200" b="1" dirty="0">
                        <a:latin typeface="+mj-lt"/>
                        <a:ea typeface="+mj-ea"/>
                        <a:cs typeface="+mj-cs"/>
                        <a:sym typeface="Helvetica"/>
                      </a:endParaRP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EE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052"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000">
                          <a:solidFill>
                            <a:srgbClr val="14181F"/>
                          </a:solidFill>
                          <a:latin typeface="PingFang SC Semibold"/>
                          <a:ea typeface="PingFang SC Semibold"/>
                          <a:cs typeface="PingFang SC Semibold"/>
                          <a:sym typeface="PingFang SC Semibold"/>
                        </a:defRPr>
                      </a:pPr>
                      <a:r>
                        <a:rPr sz="1200" b="1" dirty="0" err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前端引导式标注单元测试</a:t>
                      </a:r>
                      <a:endParaRPr sz="1200" b="1" dirty="0">
                        <a:latin typeface="+mj-lt"/>
                        <a:ea typeface="+mj-ea"/>
                        <a:cs typeface="+mj-cs"/>
                        <a:sym typeface="Helvetica"/>
                      </a:endParaRP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800"/>
                      </a:pPr>
                      <a:r>
                        <a:rPr sz="1200" dirty="0">
                          <a:solidFill>
                            <a:srgbClr val="1F8F78"/>
                          </a:solidFill>
                          <a:latin typeface="PingFang SC Semibold"/>
                          <a:ea typeface="PingFang SC Semibold"/>
                          <a:cs typeface="PingFang SC Semibold"/>
                          <a:sym typeface="PingFang SC Semibold"/>
                        </a:rPr>
                        <a:t>10 passed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8052"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000">
                          <a:solidFill>
                            <a:srgbClr val="14181F"/>
                          </a:solidFill>
                          <a:latin typeface="PingFang SC Semibold"/>
                          <a:ea typeface="PingFang SC Semibold"/>
                          <a:cs typeface="PingFang SC Semibold"/>
                          <a:sym typeface="PingFang SC Semibold"/>
                        </a:defRPr>
                      </a:pPr>
                      <a:r>
                        <a:rPr sz="1200" dirty="0"/>
                        <a:t>VS Code </a:t>
                      </a:r>
                      <a:r>
                        <a:rPr sz="1200" b="1" dirty="0" err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扩展编译</a:t>
                      </a:r>
                      <a:r>
                        <a:rPr sz="1200" b="1" dirty="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 </a:t>
                      </a:r>
                      <a:r>
                        <a:rPr sz="1200" dirty="0"/>
                        <a:t>+ </a:t>
                      </a:r>
                      <a:r>
                        <a:rPr sz="1200" b="1" dirty="0" err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纯函数</a:t>
                      </a:r>
                      <a:endParaRPr sz="1200" b="1" dirty="0">
                        <a:latin typeface="+mj-lt"/>
                        <a:ea typeface="+mj-ea"/>
                        <a:cs typeface="+mj-cs"/>
                        <a:sym typeface="Helvetica"/>
                      </a:endParaRP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000">
                          <a:solidFill>
                            <a:srgbClr val="1F8F78"/>
                          </a:solidFill>
                          <a:latin typeface="PingFang SC Semibold"/>
                          <a:ea typeface="PingFang SC Semibold"/>
                          <a:cs typeface="PingFang SC Semibold"/>
                          <a:sym typeface="PingFang SC Semibold"/>
                        </a:defRPr>
                      </a:pPr>
                      <a:r>
                        <a:rPr sz="1200" b="1" dirty="0" err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通过</a:t>
                      </a:r>
                      <a:r>
                        <a:rPr sz="1200" b="1" dirty="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 </a:t>
                      </a:r>
                      <a:r>
                        <a:rPr sz="1200" dirty="0"/>
                        <a:t>· 3 passed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8052"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800"/>
                      </a:pPr>
                      <a:r>
                        <a:rPr sz="1200" dirty="0">
                          <a:solidFill>
                            <a:srgbClr val="14181F"/>
                          </a:solidFill>
                          <a:latin typeface="PingFang SC Semibold"/>
                          <a:ea typeface="PingFang SC Semibold"/>
                          <a:cs typeface="PingFang SC Semibold"/>
                          <a:sym typeface="PingFang SC Semibold"/>
                        </a:rPr>
                        <a:t>backend / core Ruff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000">
                          <a:solidFill>
                            <a:srgbClr val="1F8F78"/>
                          </a:solidFill>
                          <a:latin typeface="PingFang SC Semibold"/>
                          <a:ea typeface="PingFang SC Semibold"/>
                          <a:cs typeface="PingFang SC Semibold"/>
                          <a:sym typeface="PingFang SC Semibold"/>
                        </a:defRPr>
                      </a:pPr>
                      <a:r>
                        <a:rPr sz="1200" dirty="0"/>
                        <a:t>0 </a:t>
                      </a:r>
                      <a:r>
                        <a:rPr sz="1200" b="1" dirty="0" err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项问题</a:t>
                      </a:r>
                      <a:endParaRPr sz="1200" b="1" dirty="0">
                        <a:latin typeface="+mj-lt"/>
                        <a:ea typeface="+mj-ea"/>
                        <a:cs typeface="+mj-cs"/>
                        <a:sym typeface="Helvetica"/>
                      </a:endParaRP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8052"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000">
                          <a:solidFill>
                            <a:srgbClr val="14181F"/>
                          </a:solidFill>
                          <a:latin typeface="PingFang SC Semibold"/>
                          <a:ea typeface="PingFang SC Semibold"/>
                          <a:cs typeface="PingFang SC Semibold"/>
                          <a:sym typeface="PingFang SC Semibold"/>
                        </a:defRPr>
                      </a:pPr>
                      <a:r>
                        <a:rPr sz="1200" b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前端 </a:t>
                      </a:r>
                      <a:r>
                        <a:rPr sz="1200"/>
                        <a:t>typecheck / build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800"/>
                      </a:pPr>
                      <a:r>
                        <a:rPr sz="1200" dirty="0">
                          <a:solidFill>
                            <a:srgbClr val="1F8F78"/>
                          </a:solidFill>
                          <a:latin typeface="PingFang SC Semibold"/>
                          <a:ea typeface="PingFang SC Semibold"/>
                          <a:cs typeface="PingFang SC Semibold"/>
                          <a:sym typeface="PingFang SC Semibold"/>
                        </a:rPr>
                        <a:t>1893 modules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8052"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000">
                          <a:solidFill>
                            <a:srgbClr val="14181F"/>
                          </a:solidFill>
                          <a:latin typeface="PingFang SC Semibold"/>
                          <a:ea typeface="PingFang SC Semibold"/>
                          <a:cs typeface="PingFang SC Semibold"/>
                          <a:sym typeface="PingFang SC Semibold"/>
                        </a:defRPr>
                      </a:pPr>
                      <a:r>
                        <a:rPr sz="1200" dirty="0"/>
                        <a:t>Playwright </a:t>
                      </a:r>
                      <a:r>
                        <a:rPr sz="1200" b="1" dirty="0" err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浏览器矩阵</a:t>
                      </a:r>
                      <a:endParaRPr sz="1200" b="1" dirty="0">
                        <a:latin typeface="+mj-lt"/>
                        <a:ea typeface="+mj-ea"/>
                        <a:cs typeface="+mj-cs"/>
                        <a:sym typeface="Helvetica"/>
                      </a:endParaRP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800"/>
                      </a:pPr>
                      <a:r>
                        <a:rPr sz="1200" dirty="0">
                          <a:solidFill>
                            <a:srgbClr val="1F8F78"/>
                          </a:solidFill>
                          <a:latin typeface="PingFang SC Semibold"/>
                          <a:ea typeface="PingFang SC Semibold"/>
                          <a:cs typeface="PingFang SC Semibold"/>
                          <a:sym typeface="PingFang SC Semibold"/>
                        </a:rPr>
                        <a:t>6 passed / 50.6s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Rectangle 1"/>
          <p:cNvSpPr/>
          <p:nvPr/>
        </p:nvSpPr>
        <p:spPr>
          <a:xfrm>
            <a:off x="-1" y="0"/>
            <a:ext cx="12191972" cy="6858000"/>
          </a:xfrm>
          <a:prstGeom prst="rect">
            <a:avLst/>
          </a:prstGeom>
          <a:solidFill>
            <a:srgbClr val="FBFCF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96" name="Rectangle 2"/>
          <p:cNvSpPr/>
          <p:nvPr/>
        </p:nvSpPr>
        <p:spPr>
          <a:xfrm>
            <a:off x="-1" y="0"/>
            <a:ext cx="56695" cy="6858000"/>
          </a:xfrm>
          <a:prstGeom prst="rect">
            <a:avLst/>
          </a:prstGeom>
          <a:solidFill>
            <a:srgbClr val="1F6F8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97" name="TextBox 3"/>
          <p:cNvSpPr txBox="1"/>
          <p:nvPr/>
        </p:nvSpPr>
        <p:spPr>
          <a:xfrm>
            <a:off x="566927" y="384047"/>
            <a:ext cx="1105811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1F6F8B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t>DEFECTS &amp; BOUNDARIES</a:t>
            </a:r>
          </a:p>
        </p:txBody>
      </p:sp>
      <p:sp>
        <p:nvSpPr>
          <p:cNvPr id="898" name="TextBox 4"/>
          <p:cNvSpPr txBox="1"/>
          <p:nvPr/>
        </p:nvSpPr>
        <p:spPr>
          <a:xfrm>
            <a:off x="566927" y="603504"/>
            <a:ext cx="11058116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500" b="1">
                <a:solidFill>
                  <a:srgbClr val="14181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问题修复</a:t>
            </a:r>
          </a:p>
        </p:txBody>
      </p:sp>
      <p:sp>
        <p:nvSpPr>
          <p:cNvPr id="899" name="TextBox 5"/>
          <p:cNvSpPr txBox="1"/>
          <p:nvPr/>
        </p:nvSpPr>
        <p:spPr>
          <a:xfrm>
            <a:off x="566927" y="1060703"/>
            <a:ext cx="10509476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11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lvl1pPr>
          </a:lstStyle>
          <a:p>
            <a:r>
              <a:t>基于测试后的缺陷修复</a:t>
            </a:r>
          </a:p>
        </p:txBody>
      </p:sp>
      <p:sp>
        <p:nvSpPr>
          <p:cNvPr id="900" name="TextBox 6"/>
          <p:cNvSpPr txBox="1"/>
          <p:nvPr/>
        </p:nvSpPr>
        <p:spPr>
          <a:xfrm>
            <a:off x="11231850" y="6473952"/>
            <a:ext cx="4572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9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lvl1pPr>
          </a:lstStyle>
          <a:p>
            <a:r>
              <a:t>28</a:t>
            </a:r>
          </a:p>
        </p:txBody>
      </p:sp>
      <p:sp>
        <p:nvSpPr>
          <p:cNvPr id="901" name="TextBox 7"/>
          <p:cNvSpPr txBox="1"/>
          <p:nvPr/>
        </p:nvSpPr>
        <p:spPr>
          <a:xfrm>
            <a:off x="566927" y="1298447"/>
            <a:ext cx="4937762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 b="1">
                <a:solidFill>
                  <a:srgbClr val="14181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b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缺陷分布</a:t>
            </a:r>
          </a:p>
        </p:txBody>
      </p:sp>
      <p:sp>
        <p:nvSpPr>
          <p:cNvPr id="902" name="TextBox 8"/>
          <p:cNvSpPr txBox="1"/>
          <p:nvPr/>
        </p:nvSpPr>
        <p:spPr>
          <a:xfrm>
            <a:off x="566927" y="1656256"/>
            <a:ext cx="91440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14181F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t>P0</a:t>
            </a:r>
          </a:p>
        </p:txBody>
      </p:sp>
      <p:sp>
        <p:nvSpPr>
          <p:cNvPr id="903" name="TextBox 9"/>
          <p:cNvSpPr txBox="1"/>
          <p:nvPr/>
        </p:nvSpPr>
        <p:spPr>
          <a:xfrm>
            <a:off x="1481327" y="1656256"/>
            <a:ext cx="45720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1F8F78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t>0</a:t>
            </a:r>
          </a:p>
        </p:txBody>
      </p:sp>
      <p:sp>
        <p:nvSpPr>
          <p:cNvPr id="904" name="Rounded Rectangle 10"/>
          <p:cNvSpPr/>
          <p:nvPr/>
        </p:nvSpPr>
        <p:spPr>
          <a:xfrm>
            <a:off x="2029967" y="1686074"/>
            <a:ext cx="2926081" cy="159027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05" name="TextBox 11"/>
          <p:cNvSpPr txBox="1"/>
          <p:nvPr/>
        </p:nvSpPr>
        <p:spPr>
          <a:xfrm>
            <a:off x="566927" y="2033942"/>
            <a:ext cx="91440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14181F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t>P1</a:t>
            </a:r>
          </a:p>
        </p:txBody>
      </p:sp>
      <p:sp>
        <p:nvSpPr>
          <p:cNvPr id="906" name="TextBox 12"/>
          <p:cNvSpPr txBox="1"/>
          <p:nvPr/>
        </p:nvSpPr>
        <p:spPr>
          <a:xfrm>
            <a:off x="1481327" y="2033942"/>
            <a:ext cx="45720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D9564A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t>9</a:t>
            </a:r>
          </a:p>
        </p:txBody>
      </p:sp>
      <p:sp>
        <p:nvSpPr>
          <p:cNvPr id="907" name="Rounded Rectangle 13"/>
          <p:cNvSpPr/>
          <p:nvPr/>
        </p:nvSpPr>
        <p:spPr>
          <a:xfrm>
            <a:off x="2029967" y="2063761"/>
            <a:ext cx="2926081" cy="159027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08" name="Rounded Rectangle 14"/>
          <p:cNvSpPr/>
          <p:nvPr/>
        </p:nvSpPr>
        <p:spPr>
          <a:xfrm>
            <a:off x="2029967" y="2063761"/>
            <a:ext cx="2926081" cy="159027"/>
          </a:xfrm>
          <a:prstGeom prst="roundRect">
            <a:avLst>
              <a:gd name="adj" fmla="val 50000"/>
            </a:avLst>
          </a:prstGeom>
          <a:solidFill>
            <a:srgbClr val="D9564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09" name="TextBox 15"/>
          <p:cNvSpPr txBox="1"/>
          <p:nvPr/>
        </p:nvSpPr>
        <p:spPr>
          <a:xfrm>
            <a:off x="566927" y="2411629"/>
            <a:ext cx="91440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14181F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t>P2</a:t>
            </a:r>
          </a:p>
        </p:txBody>
      </p:sp>
      <p:sp>
        <p:nvSpPr>
          <p:cNvPr id="910" name="TextBox 16"/>
          <p:cNvSpPr txBox="1"/>
          <p:nvPr/>
        </p:nvSpPr>
        <p:spPr>
          <a:xfrm>
            <a:off x="1481327" y="2411629"/>
            <a:ext cx="45720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D99B06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t>6</a:t>
            </a:r>
          </a:p>
        </p:txBody>
      </p:sp>
      <p:sp>
        <p:nvSpPr>
          <p:cNvPr id="911" name="Rounded Rectangle 17"/>
          <p:cNvSpPr/>
          <p:nvPr/>
        </p:nvSpPr>
        <p:spPr>
          <a:xfrm>
            <a:off x="2029967" y="2441448"/>
            <a:ext cx="2926081" cy="146305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12" name="Rounded Rectangle 18"/>
          <p:cNvSpPr/>
          <p:nvPr/>
        </p:nvSpPr>
        <p:spPr>
          <a:xfrm>
            <a:off x="2029967" y="2441448"/>
            <a:ext cx="1960475" cy="146305"/>
          </a:xfrm>
          <a:prstGeom prst="roundRect">
            <a:avLst>
              <a:gd name="adj" fmla="val 50000"/>
            </a:avLst>
          </a:prstGeom>
          <a:solidFill>
            <a:srgbClr val="D99B0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13" name="TextBox 19"/>
          <p:cNvSpPr txBox="1"/>
          <p:nvPr/>
        </p:nvSpPr>
        <p:spPr>
          <a:xfrm>
            <a:off x="566927" y="2789316"/>
            <a:ext cx="91440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14181F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t>P3</a:t>
            </a:r>
          </a:p>
        </p:txBody>
      </p:sp>
      <p:sp>
        <p:nvSpPr>
          <p:cNvPr id="914" name="TextBox 20"/>
          <p:cNvSpPr txBox="1"/>
          <p:nvPr/>
        </p:nvSpPr>
        <p:spPr>
          <a:xfrm>
            <a:off x="1481327" y="2789316"/>
            <a:ext cx="45720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4A5464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t>1</a:t>
            </a:r>
          </a:p>
        </p:txBody>
      </p:sp>
      <p:sp>
        <p:nvSpPr>
          <p:cNvPr id="915" name="Rounded Rectangle 21"/>
          <p:cNvSpPr/>
          <p:nvPr/>
        </p:nvSpPr>
        <p:spPr>
          <a:xfrm>
            <a:off x="2029967" y="2819133"/>
            <a:ext cx="2926081" cy="159027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16" name="Rounded Rectangle 22"/>
          <p:cNvSpPr/>
          <p:nvPr/>
        </p:nvSpPr>
        <p:spPr>
          <a:xfrm>
            <a:off x="2029967" y="2819133"/>
            <a:ext cx="321870" cy="159027"/>
          </a:xfrm>
          <a:prstGeom prst="roundRect">
            <a:avLst>
              <a:gd name="adj" fmla="val 50000"/>
            </a:avLst>
          </a:prstGeom>
          <a:solidFill>
            <a:srgbClr val="4A546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17" name="TextBox 23"/>
          <p:cNvSpPr txBox="1"/>
          <p:nvPr/>
        </p:nvSpPr>
        <p:spPr>
          <a:xfrm>
            <a:off x="566927" y="3167003"/>
            <a:ext cx="91440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 b="1">
                <a:solidFill>
                  <a:srgbClr val="14181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b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测试设施</a:t>
            </a:r>
          </a:p>
        </p:txBody>
      </p:sp>
      <p:sp>
        <p:nvSpPr>
          <p:cNvPr id="918" name="TextBox 24"/>
          <p:cNvSpPr txBox="1"/>
          <p:nvPr/>
        </p:nvSpPr>
        <p:spPr>
          <a:xfrm>
            <a:off x="1481327" y="3167003"/>
            <a:ext cx="45720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4A5464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t>3</a:t>
            </a:r>
          </a:p>
        </p:txBody>
      </p:sp>
      <p:sp>
        <p:nvSpPr>
          <p:cNvPr id="919" name="Rounded Rectangle 25"/>
          <p:cNvSpPr/>
          <p:nvPr/>
        </p:nvSpPr>
        <p:spPr>
          <a:xfrm>
            <a:off x="2029967" y="3196820"/>
            <a:ext cx="2926081" cy="159027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20" name="Rounded Rectangle 26"/>
          <p:cNvSpPr/>
          <p:nvPr/>
        </p:nvSpPr>
        <p:spPr>
          <a:xfrm>
            <a:off x="2029967" y="3196820"/>
            <a:ext cx="965607" cy="159027"/>
          </a:xfrm>
          <a:prstGeom prst="roundRect">
            <a:avLst>
              <a:gd name="adj" fmla="val 50000"/>
            </a:avLst>
          </a:prstGeom>
          <a:solidFill>
            <a:srgbClr val="4A546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21" name="Rounded Rectangle 27"/>
          <p:cNvSpPr/>
          <p:nvPr/>
        </p:nvSpPr>
        <p:spPr>
          <a:xfrm>
            <a:off x="566927" y="3624203"/>
            <a:ext cx="4937761" cy="417444"/>
          </a:xfrm>
          <a:prstGeom prst="roundRect">
            <a:avLst>
              <a:gd name="adj" fmla="val 12047"/>
            </a:avLst>
          </a:prstGeom>
          <a:solidFill>
            <a:srgbClr val="EFF9F6"/>
          </a:solidFill>
          <a:ln>
            <a:solidFill>
              <a:srgbClr val="B3DED4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22" name="TextBox 28"/>
          <p:cNvSpPr txBox="1"/>
          <p:nvPr/>
        </p:nvSpPr>
        <p:spPr>
          <a:xfrm>
            <a:off x="566927" y="3731324"/>
            <a:ext cx="4937762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100">
                <a:solidFill>
                  <a:srgbClr val="1F8F78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未处理：</a:t>
            </a:r>
            <a:r>
              <a:t>0</a:t>
            </a:r>
          </a:p>
        </p:txBody>
      </p:sp>
      <p:sp>
        <p:nvSpPr>
          <p:cNvPr id="923" name="Rounded Rectangle 29"/>
          <p:cNvSpPr/>
          <p:nvPr/>
        </p:nvSpPr>
        <p:spPr>
          <a:xfrm>
            <a:off x="5779008" y="1298447"/>
            <a:ext cx="5846034" cy="2743201"/>
          </a:xfrm>
          <a:prstGeom prst="roundRect">
            <a:avLst>
              <a:gd name="adj" fmla="val 2000"/>
            </a:avLst>
          </a:prstGeom>
          <a:solidFill>
            <a:srgbClr val="EFF9F6"/>
          </a:solidFill>
          <a:ln>
            <a:solidFill>
              <a:srgbClr val="B3DED4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24" name="Rectangle 30"/>
          <p:cNvSpPr/>
          <p:nvPr/>
        </p:nvSpPr>
        <p:spPr>
          <a:xfrm>
            <a:off x="5779008" y="1298447"/>
            <a:ext cx="45721" cy="2743201"/>
          </a:xfrm>
          <a:prstGeom prst="rect">
            <a:avLst/>
          </a:prstGeom>
          <a:solidFill>
            <a:srgbClr val="1F8F7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25" name="TextBox 31"/>
          <p:cNvSpPr txBox="1"/>
          <p:nvPr/>
        </p:nvSpPr>
        <p:spPr>
          <a:xfrm>
            <a:off x="5961888" y="1457474"/>
            <a:ext cx="5516851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 b="1">
                <a:solidFill>
                  <a:srgbClr val="1F8F78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b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b="1" dirty="0" err="1">
                <a:latin typeface="+mj-lt"/>
                <a:ea typeface="+mj-ea"/>
                <a:cs typeface="+mj-cs"/>
                <a:sym typeface="Helvetica"/>
              </a:rPr>
              <a:t>代表性修复</a:t>
            </a:r>
            <a:endParaRPr b="1"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926" name="TextBox 32"/>
          <p:cNvSpPr txBox="1"/>
          <p:nvPr/>
        </p:nvSpPr>
        <p:spPr>
          <a:xfrm>
            <a:off x="5961888" y="2005966"/>
            <a:ext cx="5480275" cy="17058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4000"/>
              </a:lnSpc>
              <a:defRPr sz="10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400" dirty="0"/>
              <a:t>·</a:t>
            </a:r>
            <a:r>
              <a:rPr lang="en-US" sz="1400" dirty="0"/>
              <a:t> </a:t>
            </a:r>
            <a:r>
              <a:rPr lang="zh-CN" altLang="en-US" sz="1400" dirty="0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追溯关系更新后，检索结果没有同步刷新</a:t>
            </a:r>
            <a:r>
              <a:rPr sz="1400" dirty="0">
                <a:solidFill>
                  <a:srgbClr val="4A5464"/>
                </a:solidFill>
              </a:rPr>
              <a:t>→ </a:t>
            </a:r>
            <a:r>
              <a:rPr sz="1400" dirty="0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让 </a:t>
            </a:r>
            <a:r>
              <a:rPr sz="1400" dirty="0">
                <a:solidFill>
                  <a:srgbClr val="4A5464"/>
                </a:solidFill>
              </a:rPr>
              <a:t>create / update / delete / status </a:t>
            </a:r>
            <a:r>
              <a:rPr sz="1400" dirty="0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与 </a:t>
            </a:r>
            <a:r>
              <a:rPr sz="1400" dirty="0">
                <a:solidFill>
                  <a:srgbClr val="4A5464"/>
                </a:solidFill>
              </a:rPr>
              <a:t>REST </a:t>
            </a:r>
            <a:r>
              <a:rPr sz="1400" dirty="0" err="1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路由共用同一副作用</a:t>
            </a:r>
            <a:endParaRPr sz="1400" dirty="0">
              <a:solidFill>
                <a:srgbClr val="4A5464"/>
              </a:solidFill>
              <a:latin typeface="+mj-lt"/>
              <a:ea typeface="+mj-ea"/>
              <a:cs typeface="+mj-cs"/>
              <a:sym typeface="Helvetica"/>
            </a:endParaRPr>
          </a:p>
          <a:p>
            <a:pPr>
              <a:lnSpc>
                <a:spcPct val="134000"/>
              </a:lnSpc>
              <a:defRPr sz="10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400" dirty="0"/>
              <a:t>· </a:t>
            </a:r>
            <a:r>
              <a:rPr sz="1400" dirty="0" err="1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项目六维设置未跨设备同步</a:t>
            </a:r>
            <a:r>
              <a:rPr sz="1400" dirty="0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sz="1400" dirty="0">
                <a:solidFill>
                  <a:srgbClr val="4A5464"/>
                </a:solidFill>
              </a:rPr>
              <a:t>→ </a:t>
            </a:r>
            <a:r>
              <a:rPr sz="1400" dirty="0" err="1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补齐</a:t>
            </a:r>
            <a:r>
              <a:rPr sz="1400" dirty="0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sz="1400" dirty="0">
                <a:solidFill>
                  <a:srgbClr val="4A5464"/>
                </a:solidFill>
              </a:rPr>
              <a:t>Desktop / Server </a:t>
            </a:r>
            <a:r>
              <a:rPr sz="1400" dirty="0" err="1">
                <a:solidFill>
                  <a:srgbClr val="4A5464"/>
                </a:solidFill>
              </a:rPr>
              <a:t>payload</a:t>
            </a:r>
            <a:r>
              <a:rPr sz="1400" dirty="0" err="1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、</a:t>
            </a:r>
            <a:r>
              <a:rPr sz="1400" dirty="0" err="1">
                <a:solidFill>
                  <a:srgbClr val="4A5464"/>
                </a:solidFill>
              </a:rPr>
              <a:t>bootstrap</a:t>
            </a:r>
            <a:r>
              <a:rPr sz="1400" dirty="0" err="1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、冲突应用与</a:t>
            </a:r>
            <a:r>
              <a:rPr sz="1400" dirty="0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sz="1400" dirty="0">
                <a:solidFill>
                  <a:srgbClr val="4A5464"/>
                </a:solidFill>
              </a:rPr>
              <a:t>Server </a:t>
            </a:r>
            <a:r>
              <a:rPr sz="1400" dirty="0" err="1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迁移</a:t>
            </a:r>
            <a:endParaRPr sz="1400" dirty="0">
              <a:solidFill>
                <a:srgbClr val="4A5464"/>
              </a:solidFill>
              <a:latin typeface="+mj-lt"/>
              <a:ea typeface="+mj-ea"/>
              <a:cs typeface="+mj-cs"/>
              <a:sym typeface="Helvetica"/>
            </a:endParaRPr>
          </a:p>
          <a:p>
            <a:pPr>
              <a:lnSpc>
                <a:spcPct val="134000"/>
              </a:lnSpc>
              <a:defRPr sz="10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400" dirty="0"/>
              <a:t>· </a:t>
            </a:r>
            <a:r>
              <a:rPr sz="1400" dirty="0" err="1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来源信息写入不符合读取</a:t>
            </a:r>
            <a:r>
              <a:rPr sz="1400" dirty="0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sz="1400" dirty="0">
                <a:solidFill>
                  <a:srgbClr val="4A5464"/>
                </a:solidFill>
              </a:rPr>
              <a:t>schema </a:t>
            </a:r>
            <a:r>
              <a:rPr sz="1400" dirty="0" err="1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的字段导致矩阵</a:t>
            </a:r>
            <a:r>
              <a:rPr lang="zh-CN" altLang="en-US" sz="1400" dirty="0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报错</a:t>
            </a:r>
            <a:r>
              <a:rPr sz="1400" dirty="0">
                <a:solidFill>
                  <a:srgbClr val="4A5464"/>
                </a:solidFill>
              </a:rPr>
              <a:t> → </a:t>
            </a:r>
            <a:r>
              <a:rPr sz="1400" dirty="0" err="1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模型元数据与</a:t>
            </a:r>
            <a:r>
              <a:rPr lang="zh-CN" altLang="en-US" sz="1400" dirty="0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来源信息</a:t>
            </a:r>
            <a:r>
              <a:rPr sz="1400" dirty="0" err="1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分离存储，并兼容既有错误数据</a:t>
            </a:r>
            <a:endParaRPr sz="1400" dirty="0">
              <a:solidFill>
                <a:srgbClr val="4A5464"/>
              </a:solidFill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927" name="Rounded Rectangle 33"/>
          <p:cNvSpPr/>
          <p:nvPr/>
        </p:nvSpPr>
        <p:spPr>
          <a:xfrm>
            <a:off x="566927" y="4240429"/>
            <a:ext cx="11058116" cy="437322"/>
          </a:xfrm>
          <a:prstGeom prst="roundRect">
            <a:avLst>
              <a:gd name="adj" fmla="val 11500"/>
            </a:avLst>
          </a:prstGeom>
          <a:solidFill>
            <a:srgbClr val="FDF1F0"/>
          </a:solidFill>
          <a:ln>
            <a:solidFill>
              <a:srgbClr val="EEBDB8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28" name="TextBox 34"/>
          <p:cNvSpPr txBox="1"/>
          <p:nvPr/>
        </p:nvSpPr>
        <p:spPr>
          <a:xfrm>
            <a:off x="566927" y="4351139"/>
            <a:ext cx="11058116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14000"/>
              </a:lnSpc>
              <a:defRPr sz="1200" b="1">
                <a:solidFill>
                  <a:srgbClr val="D9564A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项目的后续提升方向</a:t>
            </a:r>
          </a:p>
        </p:txBody>
      </p:sp>
      <p:graphicFrame>
        <p:nvGraphicFramePr>
          <p:cNvPr id="929" name="Table 35"/>
          <p:cNvGraphicFramePr/>
          <p:nvPr>
            <p:extLst>
              <p:ext uri="{D42A27DB-BD31-4B8C-83A1-F6EECF244321}">
                <p14:modId xmlns:p14="http://schemas.microsoft.com/office/powerpoint/2010/main" val="2688552530"/>
              </p:ext>
            </p:extLst>
          </p:nvPr>
        </p:nvGraphicFramePr>
        <p:xfrm>
          <a:off x="566927" y="5033700"/>
          <a:ext cx="3108960" cy="954154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21374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7808"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000">
                          <a:solidFill>
                            <a:srgbClr val="14181F"/>
                          </a:solidFill>
                          <a:latin typeface="PingFang SC Semibold"/>
                          <a:ea typeface="PingFang SC Semibold"/>
                          <a:cs typeface="PingFang SC Semibold"/>
                          <a:sym typeface="PingFang SC Semibold"/>
                        </a:defRPr>
                      </a:pPr>
                      <a:r>
                        <a:rPr b="1" dirty="0" err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系统测试</a:t>
                      </a:r>
                      <a:r>
                        <a:rPr b="1" dirty="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 </a:t>
                      </a:r>
                      <a:r>
                        <a:rPr dirty="0"/>
                        <a:t>74 </a:t>
                      </a:r>
                      <a:r>
                        <a:rPr b="1" dirty="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条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000">
                          <a:solidFill>
                            <a:srgbClr val="14181F"/>
                          </a:solidFill>
                          <a:latin typeface="PingFang SC Semibold"/>
                          <a:ea typeface="PingFang SC Semibold"/>
                          <a:cs typeface="PingFang SC Semibold"/>
                          <a:sym typeface="PingFang SC Semibold"/>
                        </a:defRPr>
                      </a:pPr>
                      <a:r>
                        <a:rPr b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数量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173"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000">
                          <a:solidFill>
                            <a:srgbClr val="14181F"/>
                          </a:solidFill>
                          <a:latin typeface="PingFang SC Semibold"/>
                          <a:ea typeface="PingFang SC Semibold"/>
                          <a:cs typeface="PingFang SC Semibold"/>
                          <a:sym typeface="PingFang SC Semibold"/>
                        </a:defRPr>
                      </a:pPr>
                      <a:r>
                        <a:rPr b="1" dirty="0" err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通过</a:t>
                      </a:r>
                      <a:endParaRPr b="1" dirty="0">
                        <a:latin typeface="+mj-lt"/>
                        <a:ea typeface="+mj-ea"/>
                        <a:cs typeface="+mj-cs"/>
                        <a:sym typeface="Helvetica"/>
                      </a:endParaRP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800"/>
                      </a:pPr>
                      <a:r>
                        <a:rPr lang="en-US" sz="1000" dirty="0">
                          <a:solidFill>
                            <a:srgbClr val="1F8F78"/>
                          </a:solidFill>
                          <a:latin typeface="PingFang SC Semibold"/>
                          <a:ea typeface="PingFang SC Semibold"/>
                          <a:cs typeface="PingFang SC Semibold"/>
                          <a:sym typeface="PingFang SC Semibold"/>
                        </a:rPr>
                        <a:t>74</a:t>
                      </a:r>
                      <a:endParaRPr sz="1000" dirty="0">
                        <a:solidFill>
                          <a:srgbClr val="1F8F78"/>
                        </a:solidFill>
                        <a:latin typeface="PingFang SC Semibold"/>
                        <a:ea typeface="PingFang SC Semibold"/>
                        <a:cs typeface="PingFang SC Semibold"/>
                        <a:sym typeface="PingFang SC Semibold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DFE4EC"/>
                      </a:solidFill>
                    </a:lnR>
                    <a:lnT w="635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173"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000">
                          <a:solidFill>
                            <a:srgbClr val="14181F"/>
                          </a:solidFill>
                          <a:latin typeface="PingFang SC Semibold"/>
                          <a:ea typeface="PingFang SC Semibold"/>
                          <a:cs typeface="PingFang SC Semibold"/>
                          <a:sym typeface="PingFang SC Semibold"/>
                        </a:defRPr>
                      </a:pPr>
                      <a:r>
                        <a:rPr b="1" dirty="0" err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失败</a:t>
                      </a:r>
                      <a:endParaRPr b="1" dirty="0">
                        <a:latin typeface="+mj-lt"/>
                        <a:ea typeface="+mj-ea"/>
                        <a:cs typeface="+mj-cs"/>
                        <a:sym typeface="Helvetica"/>
                      </a:endParaRP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800"/>
                      </a:pPr>
                      <a:r>
                        <a:rPr sz="1000" dirty="0">
                          <a:solidFill>
                            <a:srgbClr val="4A5464"/>
                          </a:solidFill>
                          <a:latin typeface="PingFang SC Regular"/>
                          <a:ea typeface="PingFang SC Regular"/>
                          <a:cs typeface="PingFang SC Regular"/>
                          <a:sym typeface="PingFang SC Regular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DFE4EC"/>
                      </a:solidFill>
                    </a:lnR>
                    <a:lnT w="635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30" name="Rounded Rectangle 36"/>
          <p:cNvSpPr/>
          <p:nvPr/>
        </p:nvSpPr>
        <p:spPr>
          <a:xfrm>
            <a:off x="3858767" y="4777142"/>
            <a:ext cx="3105786" cy="1490870"/>
          </a:xfrm>
          <a:prstGeom prst="roundRect">
            <a:avLst>
              <a:gd name="adj" fmla="val 3373"/>
            </a:avLst>
          </a:prstGeom>
          <a:solidFill>
            <a:srgbClr val="FDF8EC"/>
          </a:solidFill>
          <a:ln>
            <a:solidFill>
              <a:srgbClr val="E9D29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31" name="Rectangle 37"/>
          <p:cNvSpPr/>
          <p:nvPr/>
        </p:nvSpPr>
        <p:spPr>
          <a:xfrm>
            <a:off x="3858767" y="4777142"/>
            <a:ext cx="45721" cy="1490870"/>
          </a:xfrm>
          <a:prstGeom prst="rect">
            <a:avLst/>
          </a:prstGeom>
          <a:solidFill>
            <a:srgbClr val="D99B0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32" name="TextBox 38"/>
          <p:cNvSpPr txBox="1"/>
          <p:nvPr/>
        </p:nvSpPr>
        <p:spPr>
          <a:xfrm>
            <a:off x="4041647" y="4936168"/>
            <a:ext cx="2779777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 b="1">
                <a:solidFill>
                  <a:srgbClr val="D99B06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未健全验证的问题</a:t>
            </a:r>
          </a:p>
        </p:txBody>
      </p:sp>
      <p:sp>
        <p:nvSpPr>
          <p:cNvPr id="933" name="TextBox 39"/>
          <p:cNvSpPr txBox="1"/>
          <p:nvPr/>
        </p:nvSpPr>
        <p:spPr>
          <a:xfrm>
            <a:off x="4041647" y="5351451"/>
            <a:ext cx="2743201" cy="719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4000"/>
              </a:lnSpc>
              <a:defRPr sz="10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200" dirty="0"/>
              <a:t>· </a:t>
            </a:r>
            <a:r>
              <a:rPr lang="zh-CN" altLang="en-US" sz="1200" dirty="0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大规模</a:t>
            </a:r>
            <a:r>
              <a:rPr sz="1200" dirty="0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sz="1200" dirty="0">
                <a:solidFill>
                  <a:srgbClr val="4A5464"/>
                </a:solidFill>
              </a:rPr>
              <a:t>PDF / </a:t>
            </a:r>
            <a:r>
              <a:rPr sz="1200" dirty="0" err="1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代码</a:t>
            </a:r>
            <a:r>
              <a:rPr sz="1200" dirty="0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sz="1200" dirty="0">
                <a:solidFill>
                  <a:srgbClr val="4A5464"/>
                </a:solidFill>
              </a:rPr>
              <a:t>/ Agent </a:t>
            </a:r>
            <a:r>
              <a:rPr sz="1200" dirty="0" err="1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复合流程</a:t>
            </a:r>
            <a:endParaRPr sz="1200" dirty="0">
              <a:solidFill>
                <a:srgbClr val="4A5464"/>
              </a:solidFill>
              <a:latin typeface="+mj-lt"/>
              <a:ea typeface="+mj-ea"/>
              <a:cs typeface="+mj-cs"/>
              <a:sym typeface="Helvetica"/>
            </a:endParaRPr>
          </a:p>
          <a:p>
            <a:pPr>
              <a:lnSpc>
                <a:spcPct val="134000"/>
              </a:lnSpc>
              <a:defRPr sz="10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200" dirty="0"/>
              <a:t>· </a:t>
            </a:r>
            <a:r>
              <a:rPr lang="en-US" altLang="zh-CN" sz="1200" dirty="0" err="1">
                <a:solidFill>
                  <a:srgbClr val="4A5464"/>
                </a:solidFill>
              </a:rPr>
              <a:t>linux</a:t>
            </a:r>
            <a:r>
              <a:rPr sz="1200" dirty="0">
                <a:solidFill>
                  <a:srgbClr val="4A5464"/>
                </a:solidFill>
              </a:rPr>
              <a:t> </a:t>
            </a:r>
            <a:r>
              <a:rPr sz="1200" dirty="0" err="1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兼容性</a:t>
            </a:r>
            <a:endParaRPr sz="1200" dirty="0">
              <a:solidFill>
                <a:srgbClr val="4A5464"/>
              </a:solidFill>
              <a:latin typeface="+mj-lt"/>
              <a:ea typeface="+mj-ea"/>
              <a:cs typeface="+mj-cs"/>
              <a:sym typeface="Helvetica"/>
            </a:endParaRPr>
          </a:p>
          <a:p>
            <a:pPr>
              <a:lnSpc>
                <a:spcPct val="134000"/>
              </a:lnSpc>
              <a:defRPr sz="10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200" dirty="0"/>
              <a:t>· </a:t>
            </a:r>
            <a:r>
              <a:rPr sz="1200" dirty="0" err="1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三名独立用户的易用性用例</a:t>
            </a:r>
            <a:endParaRPr sz="1200" dirty="0">
              <a:solidFill>
                <a:srgbClr val="4A5464"/>
              </a:solidFill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934" name="Rounded Rectangle 40"/>
          <p:cNvSpPr/>
          <p:nvPr/>
        </p:nvSpPr>
        <p:spPr>
          <a:xfrm>
            <a:off x="7150607" y="4777142"/>
            <a:ext cx="4474435" cy="1490870"/>
          </a:xfrm>
          <a:prstGeom prst="roundRect">
            <a:avLst>
              <a:gd name="adj" fmla="val 3373"/>
            </a:avLst>
          </a:prstGeom>
          <a:solidFill>
            <a:srgbClr val="F5F7F9"/>
          </a:solidFill>
          <a:ln>
            <a:solidFill>
              <a:srgbClr val="DFE4EC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35" name="Rectangle 41"/>
          <p:cNvSpPr/>
          <p:nvPr/>
        </p:nvSpPr>
        <p:spPr>
          <a:xfrm>
            <a:off x="7150607" y="4777142"/>
            <a:ext cx="45721" cy="1490870"/>
          </a:xfrm>
          <a:prstGeom prst="rect">
            <a:avLst/>
          </a:prstGeom>
          <a:solidFill>
            <a:srgbClr val="4A546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36" name="TextBox 42"/>
          <p:cNvSpPr txBox="1"/>
          <p:nvPr/>
        </p:nvSpPr>
        <p:spPr>
          <a:xfrm>
            <a:off x="7382382" y="4853888"/>
            <a:ext cx="414525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 b="1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b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400" b="1" dirty="0" err="1">
                <a:latin typeface="+mj-lt"/>
                <a:ea typeface="+mj-ea"/>
                <a:cs typeface="+mj-cs"/>
                <a:sym typeface="Helvetica"/>
              </a:rPr>
              <a:t>可以拓展的功能提升</a:t>
            </a:r>
            <a:endParaRPr sz="1400" b="1"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937" name="TextBox 43"/>
          <p:cNvSpPr txBox="1"/>
          <p:nvPr/>
        </p:nvSpPr>
        <p:spPr>
          <a:xfrm>
            <a:off x="7333488" y="5179897"/>
            <a:ext cx="4108675" cy="1063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4000"/>
              </a:lnSpc>
              <a:defRPr sz="10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zh-CN" altLang="zh-CN" sz="1050" dirty="0">
                <a:solidFill>
                  <a:schemeClr val="tx1"/>
                </a:solidFill>
                <a:sym typeface="PingFang SC Regular"/>
              </a:rPr>
              <a:t>· 提高重定位稳定性</a:t>
            </a:r>
            <a:br>
              <a:rPr lang="zh-CN" altLang="zh-CN" sz="1050" dirty="0">
                <a:solidFill>
                  <a:schemeClr val="tx1"/>
                </a:solidFill>
                <a:sym typeface="PingFang SC Regular"/>
              </a:rPr>
            </a:br>
            <a:r>
              <a:rPr lang="zh-CN" altLang="zh-CN" sz="1050" dirty="0">
                <a:solidFill>
                  <a:schemeClr val="tx1"/>
                </a:solidFill>
                <a:sym typeface="PingFang SC Regular"/>
              </a:rPr>
              <a:t>· 增加标准样例和质量评估</a:t>
            </a:r>
            <a:br>
              <a:rPr lang="zh-CN" altLang="zh-CN" sz="1050" dirty="0">
                <a:solidFill>
                  <a:schemeClr val="tx1"/>
                </a:solidFill>
                <a:sym typeface="PingFang SC Regular"/>
              </a:rPr>
            </a:br>
            <a:r>
              <a:rPr lang="zh-CN" altLang="zh-CN" sz="1050" dirty="0">
                <a:solidFill>
                  <a:schemeClr val="tx1"/>
                </a:solidFill>
                <a:sym typeface="PingFang SC Regular"/>
              </a:rPr>
              <a:t>· 细化图、公式、算法步骤定位</a:t>
            </a:r>
            <a:br>
              <a:rPr lang="zh-CN" altLang="zh-CN" sz="1050" dirty="0">
                <a:solidFill>
                  <a:schemeClr val="tx1"/>
                </a:solidFill>
                <a:sym typeface="PingFang SC Regular"/>
              </a:rPr>
            </a:br>
            <a:r>
              <a:rPr lang="zh-CN" altLang="zh-CN" sz="1050" dirty="0">
                <a:solidFill>
                  <a:schemeClr val="tx1"/>
                </a:solidFill>
                <a:sym typeface="PingFang SC Regular"/>
              </a:rPr>
              <a:t>· 优化 Agent 任务拆分和成本控制</a:t>
            </a:r>
            <a:br>
              <a:rPr lang="zh-CN" altLang="zh-CN" sz="1050" dirty="0">
                <a:solidFill>
                  <a:schemeClr val="tx1"/>
                </a:solidFill>
                <a:sym typeface="PingFang SC Regular"/>
              </a:rPr>
            </a:br>
            <a:r>
              <a:rPr lang="zh-CN" altLang="zh-CN" sz="1050" dirty="0">
                <a:solidFill>
                  <a:schemeClr val="tx1"/>
                </a:solidFill>
                <a:sym typeface="PingFang SC Regular"/>
              </a:rPr>
              <a:t>· 完善改动影响分析与报告导出</a:t>
            </a:r>
            <a:endParaRPr sz="1200" dirty="0">
              <a:solidFill>
                <a:schemeClr val="tx1"/>
              </a:solidFill>
              <a:latin typeface="+mj-lt"/>
              <a:ea typeface="+mj-ea"/>
              <a:cs typeface="+mj-cs"/>
              <a:sym typeface="Helvetica"/>
            </a:endParaRPr>
          </a:p>
        </p:txBody>
      </p: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Rectangle 1"/>
          <p:cNvSpPr/>
          <p:nvPr/>
        </p:nvSpPr>
        <p:spPr>
          <a:xfrm>
            <a:off x="-1" y="0"/>
            <a:ext cx="12191972" cy="6858000"/>
          </a:xfrm>
          <a:prstGeom prst="rect">
            <a:avLst/>
          </a:prstGeom>
          <a:solidFill>
            <a:srgbClr val="FBFCF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40" name="Rectangle 2"/>
          <p:cNvSpPr/>
          <p:nvPr/>
        </p:nvSpPr>
        <p:spPr>
          <a:xfrm>
            <a:off x="-1" y="0"/>
            <a:ext cx="56695" cy="6858000"/>
          </a:xfrm>
          <a:prstGeom prst="rect">
            <a:avLst/>
          </a:prstGeom>
          <a:solidFill>
            <a:srgbClr val="1F6F8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41" name="TextBox 3"/>
          <p:cNvSpPr txBox="1"/>
          <p:nvPr/>
        </p:nvSpPr>
        <p:spPr>
          <a:xfrm>
            <a:off x="566927" y="384047"/>
            <a:ext cx="1105811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1F6F8B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t>SUMMARY</a:t>
            </a:r>
          </a:p>
        </p:txBody>
      </p:sp>
      <p:sp>
        <p:nvSpPr>
          <p:cNvPr id="942" name="TextBox 4"/>
          <p:cNvSpPr txBox="1"/>
          <p:nvPr/>
        </p:nvSpPr>
        <p:spPr>
          <a:xfrm>
            <a:off x="566927" y="603504"/>
            <a:ext cx="11058116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500" b="1">
                <a:solidFill>
                  <a:srgbClr val="14181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b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工程规模与交付清单</a:t>
            </a:r>
          </a:p>
        </p:txBody>
      </p:sp>
      <p:sp>
        <p:nvSpPr>
          <p:cNvPr id="943" name="TextBox 5"/>
          <p:cNvSpPr txBox="1"/>
          <p:nvPr/>
        </p:nvSpPr>
        <p:spPr>
          <a:xfrm>
            <a:off x="11231850" y="6473952"/>
            <a:ext cx="4572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9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lvl1pPr>
          </a:lstStyle>
          <a:p>
            <a:r>
              <a:t>29</a:t>
            </a:r>
          </a:p>
        </p:txBody>
      </p:sp>
      <p:sp>
        <p:nvSpPr>
          <p:cNvPr id="944" name="Rounded Rectangle 6"/>
          <p:cNvSpPr/>
          <p:nvPr/>
        </p:nvSpPr>
        <p:spPr>
          <a:xfrm>
            <a:off x="566927" y="1298447"/>
            <a:ext cx="2641085" cy="1102895"/>
          </a:xfrm>
          <a:prstGeom prst="roundRect">
            <a:avLst>
              <a:gd name="adj" fmla="val 4560"/>
            </a:avLst>
          </a:prstGeom>
          <a:solidFill>
            <a:srgbClr val="FFFFFF"/>
          </a:solidFill>
          <a:ln>
            <a:solidFill>
              <a:srgbClr val="DFE4EC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45" name="Rectangle 7"/>
          <p:cNvSpPr/>
          <p:nvPr/>
        </p:nvSpPr>
        <p:spPr>
          <a:xfrm>
            <a:off x="566927" y="1298447"/>
            <a:ext cx="45721" cy="1102895"/>
          </a:xfrm>
          <a:prstGeom prst="rect">
            <a:avLst/>
          </a:prstGeom>
          <a:solidFill>
            <a:srgbClr val="1F6F8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46" name="TextBox 8"/>
          <p:cNvSpPr txBox="1"/>
          <p:nvPr/>
        </p:nvSpPr>
        <p:spPr>
          <a:xfrm>
            <a:off x="566928" y="1410073"/>
            <a:ext cx="2641084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14000"/>
              </a:lnSpc>
              <a:defRPr sz="2700">
                <a:solidFill>
                  <a:srgbClr val="1F6F8B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t>72k+</a:t>
            </a:r>
          </a:p>
        </p:txBody>
      </p:sp>
      <p:sp>
        <p:nvSpPr>
          <p:cNvPr id="947" name="TextBox 9"/>
          <p:cNvSpPr txBox="1"/>
          <p:nvPr/>
        </p:nvSpPr>
        <p:spPr>
          <a:xfrm>
            <a:off x="566928" y="1937457"/>
            <a:ext cx="2641084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14000"/>
              </a:lnSpc>
              <a:defRPr sz="1000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源码行数</a:t>
            </a:r>
          </a:p>
        </p:txBody>
      </p:sp>
      <p:sp>
        <p:nvSpPr>
          <p:cNvPr id="948" name="TextBox 10"/>
          <p:cNvSpPr txBox="1"/>
          <p:nvPr/>
        </p:nvSpPr>
        <p:spPr>
          <a:xfrm>
            <a:off x="566928" y="2175415"/>
            <a:ext cx="2641084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14000"/>
              </a:lnSpc>
              <a:defRPr sz="900">
                <a:solidFill>
                  <a:srgbClr val="8B95A5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不含测试与构建产物</a:t>
            </a:r>
          </a:p>
        </p:txBody>
      </p:sp>
      <p:sp>
        <p:nvSpPr>
          <p:cNvPr id="949" name="Rounded Rectangle 11"/>
          <p:cNvSpPr/>
          <p:nvPr/>
        </p:nvSpPr>
        <p:spPr>
          <a:xfrm>
            <a:off x="3372603" y="1298447"/>
            <a:ext cx="2641085" cy="1102895"/>
          </a:xfrm>
          <a:prstGeom prst="roundRect">
            <a:avLst>
              <a:gd name="adj" fmla="val 4560"/>
            </a:avLst>
          </a:prstGeom>
          <a:solidFill>
            <a:srgbClr val="FFFFFF"/>
          </a:solidFill>
          <a:ln>
            <a:solidFill>
              <a:srgbClr val="DFE4EC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50" name="Rectangle 12"/>
          <p:cNvSpPr/>
          <p:nvPr/>
        </p:nvSpPr>
        <p:spPr>
          <a:xfrm>
            <a:off x="3372603" y="1298447"/>
            <a:ext cx="45721" cy="1102895"/>
          </a:xfrm>
          <a:prstGeom prst="rect">
            <a:avLst/>
          </a:prstGeom>
          <a:solidFill>
            <a:srgbClr val="1F8F7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51" name="TextBox 13"/>
          <p:cNvSpPr txBox="1"/>
          <p:nvPr/>
        </p:nvSpPr>
        <p:spPr>
          <a:xfrm>
            <a:off x="3372603" y="1410073"/>
            <a:ext cx="2641085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14000"/>
              </a:lnSpc>
              <a:defRPr sz="2700">
                <a:solidFill>
                  <a:srgbClr val="1F8F78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t>11.4k</a:t>
            </a:r>
          </a:p>
        </p:txBody>
      </p:sp>
      <p:sp>
        <p:nvSpPr>
          <p:cNvPr id="952" name="TextBox 14"/>
          <p:cNvSpPr txBox="1"/>
          <p:nvPr/>
        </p:nvSpPr>
        <p:spPr>
          <a:xfrm>
            <a:off x="3372603" y="1937457"/>
            <a:ext cx="2641085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14000"/>
              </a:lnSpc>
              <a:defRPr sz="1000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测试代码行数</a:t>
            </a:r>
          </a:p>
        </p:txBody>
      </p:sp>
      <p:sp>
        <p:nvSpPr>
          <p:cNvPr id="953" name="TextBox 15"/>
          <p:cNvSpPr txBox="1"/>
          <p:nvPr/>
        </p:nvSpPr>
        <p:spPr>
          <a:xfrm>
            <a:off x="3372603" y="2175415"/>
            <a:ext cx="2641085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14000"/>
              </a:lnSpc>
              <a:defRPr sz="9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lvl1pPr>
          </a:lstStyle>
          <a:p>
            <a:r>
              <a:t>backend tests</a:t>
            </a:r>
          </a:p>
        </p:txBody>
      </p:sp>
      <p:sp>
        <p:nvSpPr>
          <p:cNvPr id="954" name="Rounded Rectangle 16"/>
          <p:cNvSpPr/>
          <p:nvPr/>
        </p:nvSpPr>
        <p:spPr>
          <a:xfrm>
            <a:off x="6178281" y="1298447"/>
            <a:ext cx="2641084" cy="1102895"/>
          </a:xfrm>
          <a:prstGeom prst="roundRect">
            <a:avLst>
              <a:gd name="adj" fmla="val 4560"/>
            </a:avLst>
          </a:prstGeom>
          <a:solidFill>
            <a:srgbClr val="FFFFFF"/>
          </a:solidFill>
          <a:ln>
            <a:solidFill>
              <a:srgbClr val="DFE4EC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55" name="Rectangle 17"/>
          <p:cNvSpPr/>
          <p:nvPr/>
        </p:nvSpPr>
        <p:spPr>
          <a:xfrm>
            <a:off x="6178281" y="1298447"/>
            <a:ext cx="45721" cy="1102895"/>
          </a:xfrm>
          <a:prstGeom prst="rect">
            <a:avLst/>
          </a:prstGeom>
          <a:solidFill>
            <a:srgbClr val="7A5CC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56" name="TextBox 18"/>
          <p:cNvSpPr txBox="1"/>
          <p:nvPr/>
        </p:nvSpPr>
        <p:spPr>
          <a:xfrm>
            <a:off x="6178281" y="1410073"/>
            <a:ext cx="2641084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14000"/>
              </a:lnSpc>
              <a:defRPr sz="2700">
                <a:solidFill>
                  <a:srgbClr val="7A5CC4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t>14</a:t>
            </a:r>
          </a:p>
        </p:txBody>
      </p:sp>
      <p:sp>
        <p:nvSpPr>
          <p:cNvPr id="957" name="TextBox 19"/>
          <p:cNvSpPr txBox="1"/>
          <p:nvPr/>
        </p:nvSpPr>
        <p:spPr>
          <a:xfrm>
            <a:off x="6178281" y="1937457"/>
            <a:ext cx="2641084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14000"/>
              </a:lnSpc>
              <a:defRPr sz="1000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数据库迁移</a:t>
            </a:r>
          </a:p>
        </p:txBody>
      </p:sp>
      <p:sp>
        <p:nvSpPr>
          <p:cNvPr id="958" name="TextBox 20"/>
          <p:cNvSpPr txBox="1"/>
          <p:nvPr/>
        </p:nvSpPr>
        <p:spPr>
          <a:xfrm>
            <a:off x="6178281" y="2175415"/>
            <a:ext cx="2641084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14000"/>
              </a:lnSpc>
              <a:defRPr sz="9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lvl1pPr>
          </a:lstStyle>
          <a:p>
            <a:r>
              <a:t>0001 → 0014</a:t>
            </a:r>
          </a:p>
        </p:txBody>
      </p:sp>
      <p:sp>
        <p:nvSpPr>
          <p:cNvPr id="959" name="Rounded Rectangle 21"/>
          <p:cNvSpPr/>
          <p:nvPr/>
        </p:nvSpPr>
        <p:spPr>
          <a:xfrm>
            <a:off x="8983957" y="1298447"/>
            <a:ext cx="2641085" cy="1102895"/>
          </a:xfrm>
          <a:prstGeom prst="roundRect">
            <a:avLst>
              <a:gd name="adj" fmla="val 4560"/>
            </a:avLst>
          </a:prstGeom>
          <a:solidFill>
            <a:srgbClr val="FFFFFF"/>
          </a:solidFill>
          <a:ln>
            <a:solidFill>
              <a:srgbClr val="DFE4EC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60" name="Rectangle 22"/>
          <p:cNvSpPr/>
          <p:nvPr/>
        </p:nvSpPr>
        <p:spPr>
          <a:xfrm>
            <a:off x="8983957" y="1298447"/>
            <a:ext cx="45721" cy="1102895"/>
          </a:xfrm>
          <a:prstGeom prst="rect">
            <a:avLst/>
          </a:prstGeom>
          <a:solidFill>
            <a:srgbClr val="D99B0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61" name="TextBox 23"/>
          <p:cNvSpPr txBox="1"/>
          <p:nvPr/>
        </p:nvSpPr>
        <p:spPr>
          <a:xfrm>
            <a:off x="8983957" y="1410073"/>
            <a:ext cx="2641085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14000"/>
              </a:lnSpc>
              <a:defRPr sz="2700">
                <a:solidFill>
                  <a:srgbClr val="D99B06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t>204</a:t>
            </a:r>
          </a:p>
        </p:txBody>
      </p:sp>
      <p:sp>
        <p:nvSpPr>
          <p:cNvPr id="962" name="TextBox 24"/>
          <p:cNvSpPr txBox="1"/>
          <p:nvPr/>
        </p:nvSpPr>
        <p:spPr>
          <a:xfrm>
            <a:off x="8983957" y="1937457"/>
            <a:ext cx="2641085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14000"/>
              </a:lnSpc>
              <a:defRPr sz="1000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提交数</a:t>
            </a:r>
          </a:p>
        </p:txBody>
      </p:sp>
      <p:sp>
        <p:nvSpPr>
          <p:cNvPr id="963" name="TextBox 25"/>
          <p:cNvSpPr txBox="1"/>
          <p:nvPr/>
        </p:nvSpPr>
        <p:spPr>
          <a:xfrm>
            <a:off x="8983957" y="2175415"/>
            <a:ext cx="2641085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9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t>main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分支</a:t>
            </a:r>
          </a:p>
        </p:txBody>
      </p:sp>
      <p:graphicFrame>
        <p:nvGraphicFramePr>
          <p:cNvPr id="964" name="Table 26"/>
          <p:cNvGraphicFramePr/>
          <p:nvPr>
            <p:extLst>
              <p:ext uri="{D42A27DB-BD31-4B8C-83A1-F6EECF244321}">
                <p14:modId xmlns:p14="http://schemas.microsoft.com/office/powerpoint/2010/main" val="114134771"/>
              </p:ext>
            </p:extLst>
          </p:nvPr>
        </p:nvGraphicFramePr>
        <p:xfrm>
          <a:off x="566927" y="2621920"/>
          <a:ext cx="6400800" cy="2911642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2311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1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7042"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000">
                          <a:solidFill>
                            <a:srgbClr val="14181F"/>
                          </a:solidFill>
                          <a:latin typeface="PingFang SC Semibold"/>
                          <a:ea typeface="PingFang SC Semibold"/>
                          <a:cs typeface="PingFang SC Semibold"/>
                          <a:sym typeface="PingFang SC Semibold"/>
                        </a:defRPr>
                      </a:pPr>
                      <a:r>
                        <a:rPr sz="1200" b="1" dirty="0" err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模块</a:t>
                      </a:r>
                      <a:endParaRPr sz="1200" b="1" dirty="0">
                        <a:latin typeface="+mj-lt"/>
                        <a:ea typeface="+mj-ea"/>
                        <a:cs typeface="+mj-cs"/>
                        <a:sym typeface="Helvetica"/>
                      </a:endParaRP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000">
                          <a:solidFill>
                            <a:srgbClr val="14181F"/>
                          </a:solidFill>
                          <a:latin typeface="PingFang SC Semibold"/>
                          <a:ea typeface="PingFang SC Semibold"/>
                          <a:cs typeface="PingFang SC Semibold"/>
                          <a:sym typeface="PingFang SC Semibold"/>
                        </a:defRPr>
                      </a:pPr>
                      <a:r>
                        <a:rPr sz="1200" b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规模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000">
                          <a:solidFill>
                            <a:srgbClr val="14181F"/>
                          </a:solidFill>
                          <a:latin typeface="PingFang SC Semibold"/>
                          <a:ea typeface="PingFang SC Semibold"/>
                          <a:cs typeface="PingFang SC Semibold"/>
                          <a:sym typeface="PingFang SC Semibold"/>
                        </a:defRPr>
                      </a:pPr>
                      <a:r>
                        <a:rPr sz="1200" b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技术栈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EE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000">
                          <a:solidFill>
                            <a:srgbClr val="14181F"/>
                          </a:solidFill>
                          <a:latin typeface="PingFang SC Semibold"/>
                          <a:ea typeface="PingFang SC Semibold"/>
                          <a:cs typeface="PingFang SC Semibold"/>
                          <a:sym typeface="PingFang SC Semibold"/>
                        </a:defRPr>
                      </a:pPr>
                      <a:r>
                        <a:rPr sz="1200" dirty="0"/>
                        <a:t>backend/</a:t>
                      </a:r>
                      <a:r>
                        <a:rPr sz="1200" dirty="0" err="1"/>
                        <a:t>app</a:t>
                      </a:r>
                      <a:r>
                        <a:rPr sz="1200" b="1" dirty="0" err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（本地</a:t>
                      </a:r>
                      <a:r>
                        <a:rPr sz="1200" b="1" dirty="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 </a:t>
                      </a:r>
                      <a:r>
                        <a:rPr sz="1200" dirty="0"/>
                        <a:t>API</a:t>
                      </a:r>
                      <a:r>
                        <a:rPr sz="1200" b="1" dirty="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）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000">
                          <a:solidFill>
                            <a:srgbClr val="4A5464"/>
                          </a:solidFill>
                          <a:latin typeface="PingFang SC Regular"/>
                          <a:ea typeface="PingFang SC Regular"/>
                          <a:cs typeface="PingFang SC Regular"/>
                          <a:sym typeface="PingFang SC Regular"/>
                        </a:defRPr>
                      </a:pPr>
                      <a:r>
                        <a:rPr sz="1200"/>
                        <a:t>≈29.0k </a:t>
                      </a:r>
                      <a:r>
                        <a:rPr sz="12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行 </a:t>
                      </a:r>
                      <a:r>
                        <a:rPr sz="1200"/>
                        <a:t>· 124 </a:t>
                      </a:r>
                      <a:r>
                        <a:rPr sz="12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文件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800"/>
                      </a:pPr>
                      <a:r>
                        <a:rPr sz="1200">
                          <a:solidFill>
                            <a:srgbClr val="4A5464"/>
                          </a:solidFill>
                          <a:latin typeface="PingFang SC Regular"/>
                          <a:ea typeface="PingFang SC Regular"/>
                          <a:cs typeface="PingFang SC Regular"/>
                          <a:sym typeface="PingFang SC Regular"/>
                        </a:rPr>
                        <a:t>FastAPI · SQLModel · Pydantic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800"/>
                      </a:pPr>
                      <a:r>
                        <a:rPr sz="1200" dirty="0">
                          <a:solidFill>
                            <a:srgbClr val="14181F"/>
                          </a:solidFill>
                          <a:latin typeface="PingFang SC Semibold"/>
                          <a:ea typeface="PingFang SC Semibold"/>
                          <a:cs typeface="PingFang SC Semibold"/>
                          <a:sym typeface="PingFang SC Semibold"/>
                        </a:rPr>
                        <a:t>frontend/</a:t>
                      </a:r>
                      <a:r>
                        <a:rPr sz="1200" dirty="0" err="1">
                          <a:solidFill>
                            <a:srgbClr val="14181F"/>
                          </a:solidFill>
                          <a:latin typeface="PingFang SC Semibold"/>
                          <a:ea typeface="PingFang SC Semibold"/>
                          <a:cs typeface="PingFang SC Semibold"/>
                          <a:sym typeface="PingFang SC Semibold"/>
                        </a:rPr>
                        <a:t>src</a:t>
                      </a:r>
                      <a:endParaRPr sz="1200" dirty="0">
                        <a:solidFill>
                          <a:srgbClr val="14181F"/>
                        </a:solidFill>
                        <a:latin typeface="PingFang SC Semibold"/>
                        <a:ea typeface="PingFang SC Semibold"/>
                        <a:cs typeface="PingFang SC Semibold"/>
                        <a:sym typeface="PingFang SC Semibold"/>
                      </a:endParaRP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000">
                          <a:solidFill>
                            <a:srgbClr val="4A5464"/>
                          </a:solidFill>
                          <a:latin typeface="PingFang SC Regular"/>
                          <a:ea typeface="PingFang SC Regular"/>
                          <a:cs typeface="PingFang SC Regular"/>
                          <a:sym typeface="PingFang SC Regular"/>
                        </a:defRPr>
                      </a:pPr>
                      <a:r>
                        <a:rPr sz="1200"/>
                        <a:t>≈21.0k </a:t>
                      </a:r>
                      <a:r>
                        <a:rPr sz="12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行 </a:t>
                      </a:r>
                      <a:r>
                        <a:rPr sz="1200"/>
                        <a:t>· 87 </a:t>
                      </a:r>
                      <a:r>
                        <a:rPr sz="12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文件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800"/>
                      </a:pPr>
                      <a:r>
                        <a:rPr sz="1200">
                          <a:solidFill>
                            <a:srgbClr val="4A5464"/>
                          </a:solidFill>
                          <a:latin typeface="PingFang SC Regular"/>
                          <a:ea typeface="PingFang SC Regular"/>
                          <a:cs typeface="PingFang SC Regular"/>
                          <a:sym typeface="PingFang SC Regular"/>
                        </a:rPr>
                        <a:t>Vue 3 · TS · Pinia · CodeMirror 6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800"/>
                      </a:pPr>
                      <a:r>
                        <a:rPr sz="1200">
                          <a:solidFill>
                            <a:srgbClr val="14181F"/>
                          </a:solidFill>
                          <a:latin typeface="PingFang SC Semibold"/>
                          <a:ea typeface="PingFang SC Semibold"/>
                          <a:cs typeface="PingFang SC Semibold"/>
                          <a:sym typeface="PingFang SC Semibold"/>
                        </a:rPr>
                        <a:t>backend/tests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000">
                          <a:solidFill>
                            <a:srgbClr val="4A5464"/>
                          </a:solidFill>
                          <a:latin typeface="PingFang SC Regular"/>
                          <a:ea typeface="PingFang SC Regular"/>
                          <a:cs typeface="PingFang SC Regular"/>
                          <a:sym typeface="PingFang SC Regular"/>
                        </a:defRPr>
                      </a:pPr>
                      <a:r>
                        <a:rPr sz="1200" dirty="0"/>
                        <a:t>≈11.4k </a:t>
                      </a:r>
                      <a:r>
                        <a:rPr sz="1200" dirty="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行 </a:t>
                      </a:r>
                      <a:r>
                        <a:rPr sz="1200" dirty="0"/>
                        <a:t>· 57 </a:t>
                      </a:r>
                      <a:r>
                        <a:rPr sz="1200" dirty="0" err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文件</a:t>
                      </a:r>
                      <a:endParaRPr sz="1200" dirty="0">
                        <a:latin typeface="+mj-lt"/>
                        <a:ea typeface="+mj-ea"/>
                        <a:cs typeface="+mj-cs"/>
                        <a:sym typeface="Helvetica"/>
                      </a:endParaRP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000">
                          <a:solidFill>
                            <a:srgbClr val="4A5464"/>
                          </a:solidFill>
                          <a:latin typeface="PingFang SC Regular"/>
                          <a:ea typeface="PingFang SC Regular"/>
                          <a:cs typeface="PingFang SC Regular"/>
                          <a:sym typeface="PingFang SC Regular"/>
                        </a:defRPr>
                      </a:pPr>
                      <a:r>
                        <a:rPr sz="1200"/>
                        <a:t>pytest · </a:t>
                      </a:r>
                      <a:r>
                        <a:rPr sz="12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内存 </a:t>
                      </a:r>
                      <a:r>
                        <a:rPr sz="1200"/>
                        <a:t>SQLite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800"/>
                      </a:pPr>
                      <a:r>
                        <a:rPr sz="1200">
                          <a:solidFill>
                            <a:srgbClr val="14181F"/>
                          </a:solidFill>
                          <a:latin typeface="PingFang SC Semibold"/>
                          <a:ea typeface="PingFang SC Semibold"/>
                          <a:cs typeface="PingFang SC Semibold"/>
                          <a:sym typeface="PingFang SC Semibold"/>
                        </a:rPr>
                        <a:t>server/tracelab_server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000">
                          <a:solidFill>
                            <a:srgbClr val="4A5464"/>
                          </a:solidFill>
                          <a:latin typeface="PingFang SC Regular"/>
                          <a:ea typeface="PingFang SC Regular"/>
                          <a:cs typeface="PingFang SC Regular"/>
                          <a:sym typeface="PingFang SC Regular"/>
                        </a:defRPr>
                      </a:pPr>
                      <a:r>
                        <a:rPr sz="1200"/>
                        <a:t>≈5.8k </a:t>
                      </a:r>
                      <a:r>
                        <a:rPr sz="12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行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800"/>
                      </a:pPr>
                      <a:r>
                        <a:rPr sz="1200" dirty="0" err="1">
                          <a:solidFill>
                            <a:srgbClr val="4A5464"/>
                          </a:solidFill>
                          <a:latin typeface="PingFang SC Regular"/>
                          <a:ea typeface="PingFang SC Regular"/>
                          <a:cs typeface="PingFang SC Regular"/>
                          <a:sym typeface="PingFang SC Regular"/>
                        </a:rPr>
                        <a:t>FastAPI</a:t>
                      </a:r>
                      <a:r>
                        <a:rPr sz="1200" dirty="0">
                          <a:solidFill>
                            <a:srgbClr val="4A5464"/>
                          </a:solidFill>
                          <a:latin typeface="PingFang SC Regular"/>
                          <a:ea typeface="PingFang SC Regular"/>
                          <a:cs typeface="PingFang SC Regular"/>
                          <a:sym typeface="PingFang SC Regular"/>
                        </a:rPr>
                        <a:t> · PostgreSQL · Alembic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800"/>
                      </a:pPr>
                      <a:r>
                        <a:rPr sz="1200">
                          <a:solidFill>
                            <a:srgbClr val="14181F"/>
                          </a:solidFill>
                          <a:latin typeface="PingFang SC Semibold"/>
                          <a:ea typeface="PingFang SC Semibold"/>
                          <a:cs typeface="PingFang SC Semibold"/>
                          <a:sym typeface="PingFang SC Semibold"/>
                        </a:rPr>
                        <a:t>vscode-extension/src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000">
                          <a:solidFill>
                            <a:srgbClr val="4A5464"/>
                          </a:solidFill>
                          <a:latin typeface="PingFang SC Regular"/>
                          <a:ea typeface="PingFang SC Regular"/>
                          <a:cs typeface="PingFang SC Regular"/>
                          <a:sym typeface="PingFang SC Regular"/>
                        </a:defRPr>
                      </a:pPr>
                      <a:r>
                        <a:rPr sz="1200"/>
                        <a:t>≈2.6k </a:t>
                      </a:r>
                      <a:r>
                        <a:rPr sz="12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行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800"/>
                      </a:pPr>
                      <a:r>
                        <a:rPr sz="1200" dirty="0">
                          <a:solidFill>
                            <a:srgbClr val="4A5464"/>
                          </a:solidFill>
                          <a:latin typeface="PingFang SC Regular"/>
                          <a:ea typeface="PingFang SC Regular"/>
                          <a:cs typeface="PingFang SC Regular"/>
                          <a:sym typeface="PingFang SC Regular"/>
                        </a:rPr>
                        <a:t>TypeScript · VS Code API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800"/>
                      </a:pPr>
                      <a:r>
                        <a:rPr sz="1200">
                          <a:solidFill>
                            <a:srgbClr val="14181F"/>
                          </a:solidFill>
                          <a:latin typeface="PingFang SC Semibold"/>
                          <a:ea typeface="PingFang SC Semibold"/>
                          <a:cs typeface="PingFang SC Semibold"/>
                          <a:sym typeface="PingFang SC Semibold"/>
                        </a:rPr>
                        <a:t>packages/tracelab_core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000">
                          <a:solidFill>
                            <a:srgbClr val="4A5464"/>
                          </a:solidFill>
                          <a:latin typeface="PingFang SC Regular"/>
                          <a:ea typeface="PingFang SC Regular"/>
                          <a:cs typeface="PingFang SC Regular"/>
                          <a:sym typeface="PingFang SC Regular"/>
                        </a:defRPr>
                      </a:pPr>
                      <a:r>
                        <a:rPr sz="1200"/>
                        <a:t>≈2.7k </a:t>
                      </a:r>
                      <a:r>
                        <a:rPr sz="12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行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999"/>
                        </a:lnSpc>
                        <a:defRPr sz="1000">
                          <a:solidFill>
                            <a:srgbClr val="4A5464"/>
                          </a:solidFill>
                          <a:latin typeface="PingFang SC Regular"/>
                          <a:ea typeface="PingFang SC Regular"/>
                          <a:cs typeface="PingFang SC Regular"/>
                          <a:sym typeface="PingFang SC Regular"/>
                        </a:defRPr>
                      </a:pPr>
                      <a:r>
                        <a:rPr sz="1200" dirty="0" err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共享分析</a:t>
                      </a:r>
                      <a:r>
                        <a:rPr sz="1200" dirty="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 </a:t>
                      </a:r>
                      <a:r>
                        <a:rPr sz="1200" dirty="0"/>
                        <a:t>CLI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DFE4EC"/>
                      </a:solidFill>
                    </a:lnL>
                    <a:lnR w="6350">
                      <a:solidFill>
                        <a:srgbClr val="DFE4EC"/>
                      </a:solidFill>
                    </a:lnR>
                    <a:lnT w="6350">
                      <a:solidFill>
                        <a:srgbClr val="DFE4EC"/>
                      </a:solidFill>
                    </a:lnT>
                    <a:lnB w="6350">
                      <a:solidFill>
                        <a:srgbClr val="DFE4EC"/>
                      </a:solidFill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65" name="Rounded Rectangle 27"/>
          <p:cNvSpPr/>
          <p:nvPr/>
        </p:nvSpPr>
        <p:spPr>
          <a:xfrm>
            <a:off x="7242047" y="2621920"/>
            <a:ext cx="4382995" cy="2933701"/>
          </a:xfrm>
          <a:prstGeom prst="roundRect">
            <a:avLst>
              <a:gd name="adj" fmla="val 2000"/>
            </a:avLst>
          </a:prstGeom>
          <a:solidFill>
            <a:srgbClr val="F0F7F9"/>
          </a:solidFill>
          <a:ln>
            <a:solidFill>
              <a:srgbClr val="B8D5D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66" name="Rectangle 28"/>
          <p:cNvSpPr/>
          <p:nvPr/>
        </p:nvSpPr>
        <p:spPr>
          <a:xfrm>
            <a:off x="7242047" y="2621920"/>
            <a:ext cx="45721" cy="2933701"/>
          </a:xfrm>
          <a:prstGeom prst="rect">
            <a:avLst/>
          </a:prstGeom>
          <a:solidFill>
            <a:srgbClr val="1F6F8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67" name="TextBox 29"/>
          <p:cNvSpPr txBox="1"/>
          <p:nvPr/>
        </p:nvSpPr>
        <p:spPr>
          <a:xfrm>
            <a:off x="7424928" y="2798384"/>
            <a:ext cx="405381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 b="1">
                <a:solidFill>
                  <a:srgbClr val="1F6F8B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b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交付物清单</a:t>
            </a:r>
          </a:p>
        </p:txBody>
      </p:sp>
      <p:sp>
        <p:nvSpPr>
          <p:cNvPr id="968" name="TextBox 30"/>
          <p:cNvSpPr txBox="1"/>
          <p:nvPr/>
        </p:nvSpPr>
        <p:spPr>
          <a:xfrm>
            <a:off x="7424928" y="3197604"/>
            <a:ext cx="4017234" cy="22014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4000"/>
              </a:lnSpc>
              <a:defRPr sz="10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200" dirty="0"/>
              <a:t>· </a:t>
            </a:r>
            <a:r>
              <a:rPr sz="1200" dirty="0" err="1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桌面安装包：</a:t>
            </a:r>
            <a:r>
              <a:rPr sz="1200" dirty="0" err="1">
                <a:solidFill>
                  <a:srgbClr val="4A5464"/>
                </a:solidFill>
              </a:rPr>
              <a:t>macOS</a:t>
            </a:r>
            <a:r>
              <a:rPr sz="1200" dirty="0">
                <a:solidFill>
                  <a:srgbClr val="4A5464"/>
                </a:solidFill>
              </a:rPr>
              <a:t> .dmg/.</a:t>
            </a:r>
            <a:r>
              <a:rPr sz="1200" dirty="0" err="1">
                <a:solidFill>
                  <a:srgbClr val="4A5464"/>
                </a:solidFill>
              </a:rPr>
              <a:t>app</a:t>
            </a:r>
            <a:r>
              <a:rPr sz="1200" dirty="0" err="1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、</a:t>
            </a:r>
            <a:r>
              <a:rPr sz="1200" dirty="0" err="1">
                <a:solidFill>
                  <a:srgbClr val="4A5464"/>
                </a:solidFill>
              </a:rPr>
              <a:t>Windows</a:t>
            </a:r>
            <a:r>
              <a:rPr sz="1200" dirty="0">
                <a:solidFill>
                  <a:srgbClr val="4A5464"/>
                </a:solidFill>
              </a:rPr>
              <a:t> </a:t>
            </a:r>
            <a:r>
              <a:rPr sz="1200" dirty="0" err="1">
                <a:solidFill>
                  <a:srgbClr val="4A5464"/>
                </a:solidFill>
              </a:rPr>
              <a:t>NSIS</a:t>
            </a:r>
            <a:r>
              <a:rPr sz="1200" dirty="0" err="1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、</a:t>
            </a:r>
            <a:r>
              <a:rPr sz="1200" dirty="0" err="1">
                <a:solidFill>
                  <a:srgbClr val="4A5464"/>
                </a:solidFill>
              </a:rPr>
              <a:t>Linux</a:t>
            </a:r>
            <a:r>
              <a:rPr sz="1200" dirty="0">
                <a:solidFill>
                  <a:srgbClr val="4A5464"/>
                </a:solidFill>
              </a:rPr>
              <a:t> .deb/.</a:t>
            </a:r>
            <a:r>
              <a:rPr sz="1200" dirty="0" err="1">
                <a:solidFill>
                  <a:srgbClr val="4A5464"/>
                </a:solidFill>
              </a:rPr>
              <a:t>AppImage</a:t>
            </a:r>
            <a:endParaRPr sz="1200" dirty="0">
              <a:solidFill>
                <a:srgbClr val="4A5464"/>
              </a:solidFill>
            </a:endParaRPr>
          </a:p>
          <a:p>
            <a:pPr>
              <a:lnSpc>
                <a:spcPct val="134000"/>
              </a:lnSpc>
              <a:defRPr sz="10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200" dirty="0"/>
              <a:t>· </a:t>
            </a:r>
            <a:r>
              <a:rPr sz="1200" dirty="0">
                <a:solidFill>
                  <a:srgbClr val="4A5464"/>
                </a:solidFill>
              </a:rPr>
              <a:t>VS Code </a:t>
            </a:r>
            <a:r>
              <a:rPr sz="1200" dirty="0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插件：</a:t>
            </a:r>
            <a:r>
              <a:rPr sz="1200" dirty="0">
                <a:solidFill>
                  <a:srgbClr val="4A5464"/>
                </a:solidFill>
              </a:rPr>
              <a:t>tracelab-vscode-0.5.0.vsix</a:t>
            </a:r>
            <a:r>
              <a:rPr sz="1200" dirty="0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（一份文件三平台可装）</a:t>
            </a:r>
          </a:p>
          <a:p>
            <a:pPr>
              <a:lnSpc>
                <a:spcPct val="134000"/>
              </a:lnSpc>
              <a:defRPr sz="10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200" dirty="0"/>
              <a:t>· </a:t>
            </a:r>
            <a:r>
              <a:rPr sz="1200" dirty="0">
                <a:solidFill>
                  <a:srgbClr val="4A5464"/>
                </a:solidFill>
              </a:rPr>
              <a:t>Sync </a:t>
            </a:r>
            <a:r>
              <a:rPr sz="1200" dirty="0" err="1">
                <a:solidFill>
                  <a:srgbClr val="4A5464"/>
                </a:solidFill>
              </a:rPr>
              <a:t>Server</a:t>
            </a:r>
            <a:r>
              <a:rPr sz="1200" dirty="0" err="1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：</a:t>
            </a:r>
            <a:r>
              <a:rPr sz="1200" dirty="0" err="1">
                <a:solidFill>
                  <a:srgbClr val="4A5464"/>
                </a:solidFill>
              </a:rPr>
              <a:t>compose.yaml</a:t>
            </a:r>
            <a:r>
              <a:rPr sz="1200" dirty="0">
                <a:solidFill>
                  <a:srgbClr val="4A5464"/>
                </a:solidFill>
              </a:rPr>
              <a:t> + </a:t>
            </a:r>
            <a:r>
              <a:rPr sz="1200" dirty="0" err="1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部署</a:t>
            </a:r>
            <a:r>
              <a:rPr sz="1200" dirty="0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sz="1200" dirty="0">
                <a:solidFill>
                  <a:srgbClr val="4A5464"/>
                </a:solidFill>
              </a:rPr>
              <a:t>/ </a:t>
            </a:r>
            <a:r>
              <a:rPr sz="1200" dirty="0" err="1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备份</a:t>
            </a:r>
            <a:r>
              <a:rPr sz="1200" dirty="0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sz="1200" dirty="0">
                <a:solidFill>
                  <a:srgbClr val="4A5464"/>
                </a:solidFill>
              </a:rPr>
              <a:t>/ </a:t>
            </a:r>
            <a:r>
              <a:rPr sz="1200" dirty="0" err="1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恢复校验脚本</a:t>
            </a:r>
            <a:endParaRPr sz="1200" dirty="0">
              <a:solidFill>
                <a:srgbClr val="4A5464"/>
              </a:solidFill>
              <a:latin typeface="+mj-lt"/>
              <a:ea typeface="+mj-ea"/>
              <a:cs typeface="+mj-cs"/>
              <a:sym typeface="Helvetica"/>
            </a:endParaRPr>
          </a:p>
          <a:p>
            <a:pPr>
              <a:lnSpc>
                <a:spcPct val="134000"/>
              </a:lnSpc>
              <a:defRPr sz="10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200" dirty="0"/>
              <a:t>· </a:t>
            </a:r>
            <a:r>
              <a:rPr sz="1200" dirty="0" err="1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文档：架构、六份领域接口契约、数据库设计、追溯设计与实现</a:t>
            </a:r>
            <a:endParaRPr sz="1200" dirty="0">
              <a:solidFill>
                <a:srgbClr val="4A5464"/>
              </a:solidFill>
              <a:latin typeface="+mj-lt"/>
              <a:ea typeface="+mj-ea"/>
              <a:cs typeface="+mj-cs"/>
              <a:sym typeface="Helvetica"/>
            </a:endParaRPr>
          </a:p>
          <a:p>
            <a:pPr>
              <a:lnSpc>
                <a:spcPct val="134000"/>
              </a:lnSpc>
              <a:defRPr sz="10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200" dirty="0"/>
              <a:t>· </a:t>
            </a:r>
            <a:r>
              <a:rPr sz="1200" dirty="0" err="1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测试资产：单元</a:t>
            </a:r>
            <a:r>
              <a:rPr sz="1200" dirty="0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sz="1200" dirty="0">
                <a:solidFill>
                  <a:srgbClr val="4A5464"/>
                </a:solidFill>
              </a:rPr>
              <a:t>/ </a:t>
            </a:r>
            <a:r>
              <a:rPr sz="1200" dirty="0" err="1">
                <a:solidFill>
                  <a:srgbClr val="4A5464"/>
                </a:solidFill>
                <a:latin typeface="+mj-lt"/>
                <a:ea typeface="+mj-ea"/>
                <a:cs typeface="+mj-cs"/>
                <a:sym typeface="Helvetica"/>
              </a:rPr>
              <a:t>系统测试用例与报告、缺陷清单、覆盖率证据</a:t>
            </a:r>
            <a:endParaRPr sz="1200" dirty="0">
              <a:solidFill>
                <a:srgbClr val="4A5464"/>
              </a:solidFill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969" name="Rounded Rectangle 31"/>
          <p:cNvSpPr/>
          <p:nvPr/>
        </p:nvSpPr>
        <p:spPr>
          <a:xfrm>
            <a:off x="566927" y="5776200"/>
            <a:ext cx="11058116" cy="551448"/>
          </a:xfrm>
          <a:prstGeom prst="roundRect">
            <a:avLst>
              <a:gd name="adj" fmla="val 9120"/>
            </a:avLst>
          </a:prstGeom>
          <a:solidFill>
            <a:srgbClr val="EFF9F6"/>
          </a:solidFill>
          <a:ln>
            <a:solidFill>
              <a:srgbClr val="B3DED4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70" name="TextBox 32"/>
          <p:cNvSpPr txBox="1"/>
          <p:nvPr/>
        </p:nvSpPr>
        <p:spPr>
          <a:xfrm>
            <a:off x="566927" y="5890085"/>
            <a:ext cx="11058116" cy="3236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14000"/>
              </a:lnSpc>
              <a:defRPr sz="1100" b="1">
                <a:solidFill>
                  <a:srgbClr val="1F8F78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rPr sz="2000" dirty="0" err="1"/>
              <a:t>我们的项目不会止步于此</a:t>
            </a:r>
            <a:endParaRPr sz="2000" dirty="0"/>
          </a:p>
        </p:txBody>
      </p:sp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Rectangle 2"/>
          <p:cNvSpPr/>
          <p:nvPr/>
        </p:nvSpPr>
        <p:spPr>
          <a:xfrm>
            <a:off x="-1" y="0"/>
            <a:ext cx="56695" cy="6858000"/>
          </a:xfrm>
          <a:prstGeom prst="rect">
            <a:avLst/>
          </a:prstGeom>
          <a:solidFill>
            <a:srgbClr val="1F6F8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74" name="TextBox 3"/>
          <p:cNvSpPr txBox="1"/>
          <p:nvPr/>
        </p:nvSpPr>
        <p:spPr>
          <a:xfrm>
            <a:off x="566927" y="384047"/>
            <a:ext cx="1105811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1F6F8B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t>CLOSING</a:t>
            </a:r>
          </a:p>
        </p:txBody>
      </p:sp>
      <p:sp>
        <p:nvSpPr>
          <p:cNvPr id="975" name="TextBox 4"/>
          <p:cNvSpPr txBox="1"/>
          <p:nvPr/>
        </p:nvSpPr>
        <p:spPr>
          <a:xfrm>
            <a:off x="566927" y="603504"/>
            <a:ext cx="11058116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500" b="1">
                <a:solidFill>
                  <a:srgbClr val="14181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b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三条贯穿始终的工程判断</a:t>
            </a:r>
          </a:p>
        </p:txBody>
      </p:sp>
      <p:sp>
        <p:nvSpPr>
          <p:cNvPr id="976" name="TextBox 5"/>
          <p:cNvSpPr txBox="1"/>
          <p:nvPr/>
        </p:nvSpPr>
        <p:spPr>
          <a:xfrm>
            <a:off x="11231850" y="6473952"/>
            <a:ext cx="4572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900">
                <a:solidFill>
                  <a:srgbClr val="8B95A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lvl1pPr>
          </a:lstStyle>
          <a:p>
            <a:r>
              <a:t>30</a:t>
            </a:r>
          </a:p>
        </p:txBody>
      </p:sp>
      <p:sp>
        <p:nvSpPr>
          <p:cNvPr id="977" name="Rounded Rectangle 6"/>
          <p:cNvSpPr/>
          <p:nvPr/>
        </p:nvSpPr>
        <p:spPr>
          <a:xfrm>
            <a:off x="566927" y="1298447"/>
            <a:ext cx="3503159" cy="1885951"/>
          </a:xfrm>
          <a:prstGeom prst="roundRect">
            <a:avLst>
              <a:gd name="adj" fmla="val 2666"/>
            </a:avLst>
          </a:prstGeom>
          <a:solidFill>
            <a:srgbClr val="F0F7F9"/>
          </a:solidFill>
          <a:ln w="12700">
            <a:solidFill>
              <a:srgbClr val="B8D5D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3200"/>
          </a:p>
        </p:txBody>
      </p:sp>
      <p:sp>
        <p:nvSpPr>
          <p:cNvPr id="978" name="TextBox 7"/>
          <p:cNvSpPr txBox="1"/>
          <p:nvPr/>
        </p:nvSpPr>
        <p:spPr>
          <a:xfrm>
            <a:off x="640080" y="1829933"/>
            <a:ext cx="3356855" cy="8229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500">
                <a:solidFill>
                  <a:srgbClr val="1F6F8B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2000" b="1" dirty="0" err="1">
                <a:latin typeface="+mj-lt"/>
                <a:ea typeface="+mj-ea"/>
                <a:cs typeface="+mj-cs"/>
                <a:sym typeface="Helvetica"/>
              </a:rPr>
              <a:t>先看事实，再看语义</a:t>
            </a:r>
            <a:endParaRPr sz="2000" b="1" dirty="0">
              <a:latin typeface="+mj-lt"/>
              <a:ea typeface="+mj-ea"/>
              <a:cs typeface="+mj-cs"/>
              <a:sym typeface="Helvetica"/>
            </a:endParaRPr>
          </a:p>
          <a:p>
            <a:pPr algn="ctr">
              <a:lnSpc>
                <a:spcPct val="114000"/>
              </a:lnSpc>
              <a:defRPr sz="10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400" dirty="0" err="1">
                <a:latin typeface="+mj-lt"/>
                <a:ea typeface="+mj-ea"/>
                <a:cs typeface="+mj-cs"/>
                <a:sym typeface="Helvetica"/>
              </a:rPr>
              <a:t>锚点</a:t>
            </a:r>
            <a:r>
              <a:rPr sz="1400" dirty="0"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sz="1400" dirty="0"/>
              <a:t>/ hash / </a:t>
            </a:r>
            <a:r>
              <a:rPr sz="1400" dirty="0" err="1">
                <a:latin typeface="+mj-lt"/>
                <a:ea typeface="+mj-ea"/>
                <a:cs typeface="+mj-cs"/>
                <a:sym typeface="Helvetica"/>
              </a:rPr>
              <a:t>校验必须先可靠</a:t>
            </a:r>
            <a:endParaRPr sz="1400" dirty="0">
              <a:latin typeface="+mj-lt"/>
              <a:ea typeface="+mj-ea"/>
              <a:cs typeface="+mj-cs"/>
              <a:sym typeface="Helvetica"/>
            </a:endParaRPr>
          </a:p>
          <a:p>
            <a:pPr algn="ctr">
              <a:lnSpc>
                <a:spcPct val="114000"/>
              </a:lnSpc>
              <a:defRPr sz="10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400" dirty="0" err="1">
                <a:latin typeface="+mj-lt"/>
                <a:ea typeface="+mj-ea"/>
                <a:cs typeface="+mj-cs"/>
                <a:sym typeface="Helvetica"/>
              </a:rPr>
              <a:t>否则更强的模型只会更自信地指错地方</a:t>
            </a:r>
            <a:endParaRPr sz="1400"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979" name="Rounded Rectangle 8"/>
          <p:cNvSpPr/>
          <p:nvPr/>
        </p:nvSpPr>
        <p:spPr>
          <a:xfrm>
            <a:off x="4344406" y="1298447"/>
            <a:ext cx="3503159" cy="1885951"/>
          </a:xfrm>
          <a:prstGeom prst="roundRect">
            <a:avLst>
              <a:gd name="adj" fmla="val 2666"/>
            </a:avLst>
          </a:prstGeom>
          <a:solidFill>
            <a:srgbClr val="EFF9F6"/>
          </a:solidFill>
          <a:ln w="12700">
            <a:solidFill>
              <a:srgbClr val="B3DED4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3200"/>
          </a:p>
        </p:txBody>
      </p:sp>
      <p:sp>
        <p:nvSpPr>
          <p:cNvPr id="980" name="TextBox 9"/>
          <p:cNvSpPr txBox="1"/>
          <p:nvPr/>
        </p:nvSpPr>
        <p:spPr>
          <a:xfrm>
            <a:off x="4417557" y="1828105"/>
            <a:ext cx="3356855" cy="8266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500">
                <a:solidFill>
                  <a:srgbClr val="1F8F78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2000" b="1" dirty="0" err="1">
                <a:latin typeface="+mj-lt"/>
                <a:ea typeface="+mj-ea"/>
                <a:cs typeface="+mj-cs"/>
                <a:sym typeface="Helvetica"/>
              </a:rPr>
              <a:t>报错优先</a:t>
            </a:r>
            <a:endParaRPr sz="2000" b="1" dirty="0">
              <a:latin typeface="+mj-lt"/>
              <a:ea typeface="+mj-ea"/>
              <a:cs typeface="+mj-cs"/>
              <a:sym typeface="Helvetica"/>
            </a:endParaRPr>
          </a:p>
          <a:p>
            <a:pPr algn="ctr">
              <a:lnSpc>
                <a:spcPct val="114000"/>
              </a:lnSpc>
              <a:defRPr sz="10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400" dirty="0" err="1">
                <a:latin typeface="+mj-lt"/>
                <a:ea typeface="+mj-ea"/>
                <a:cs typeface="+mj-cs"/>
                <a:sym typeface="Helvetica"/>
              </a:rPr>
              <a:t>高亮到无关内容在用户眼里就是错误结论</a:t>
            </a:r>
            <a:endParaRPr sz="1400" dirty="0">
              <a:latin typeface="+mj-lt"/>
              <a:ea typeface="+mj-ea"/>
              <a:cs typeface="+mj-cs"/>
              <a:sym typeface="Helvetica"/>
            </a:endParaRPr>
          </a:p>
          <a:p>
            <a:pPr algn="ctr">
              <a:lnSpc>
                <a:spcPct val="114000"/>
              </a:lnSpc>
              <a:defRPr sz="10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400" dirty="0"/>
              <a:t>unresolved </a:t>
            </a:r>
            <a:r>
              <a:rPr sz="1400" dirty="0" err="1">
                <a:latin typeface="+mj-lt"/>
                <a:ea typeface="+mj-ea"/>
                <a:cs typeface="+mj-cs"/>
                <a:sym typeface="Helvetica"/>
              </a:rPr>
              <a:t>是一等结论</a:t>
            </a:r>
            <a:endParaRPr sz="1400"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981" name="Rounded Rectangle 10"/>
          <p:cNvSpPr/>
          <p:nvPr/>
        </p:nvSpPr>
        <p:spPr>
          <a:xfrm>
            <a:off x="8121884" y="1298447"/>
            <a:ext cx="3503158" cy="1885951"/>
          </a:xfrm>
          <a:prstGeom prst="roundRect">
            <a:avLst>
              <a:gd name="adj" fmla="val 2666"/>
            </a:avLst>
          </a:prstGeom>
          <a:solidFill>
            <a:srgbClr val="F5F2FC"/>
          </a:solidFill>
          <a:ln w="12700">
            <a:solidFill>
              <a:srgbClr val="CCC0E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3200"/>
          </a:p>
        </p:txBody>
      </p:sp>
      <p:sp>
        <p:nvSpPr>
          <p:cNvPr id="982" name="TextBox 11"/>
          <p:cNvSpPr txBox="1"/>
          <p:nvPr/>
        </p:nvSpPr>
        <p:spPr>
          <a:xfrm>
            <a:off x="8195036" y="1829933"/>
            <a:ext cx="3356855" cy="8229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500">
                <a:solidFill>
                  <a:srgbClr val="7A5CC4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2000" b="1" dirty="0" err="1"/>
              <a:t>规范流程</a:t>
            </a:r>
            <a:r>
              <a:rPr sz="2000" b="1" dirty="0"/>
              <a:t> &gt; </a:t>
            </a:r>
            <a:r>
              <a:rPr sz="2000" b="1" dirty="0" err="1"/>
              <a:t>规范prompt</a:t>
            </a:r>
            <a:endParaRPr sz="2000" b="1" dirty="0">
              <a:latin typeface="+mj-lt"/>
              <a:ea typeface="+mj-ea"/>
              <a:cs typeface="+mj-cs"/>
              <a:sym typeface="Helvetica"/>
            </a:endParaRPr>
          </a:p>
          <a:p>
            <a:pPr algn="ctr">
              <a:lnSpc>
                <a:spcPct val="114000"/>
              </a:lnSpc>
              <a:defRPr sz="10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400" dirty="0" err="1">
                <a:latin typeface="+mj-lt"/>
                <a:ea typeface="+mj-ea"/>
                <a:cs typeface="+mj-cs"/>
                <a:sym typeface="Helvetica"/>
              </a:rPr>
              <a:t>工具白名单</a:t>
            </a:r>
            <a:r>
              <a:rPr sz="1400" dirty="0"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sz="1400" dirty="0"/>
              <a:t>/ </a:t>
            </a:r>
            <a:r>
              <a:rPr sz="1400" dirty="0" err="1">
                <a:latin typeface="+mj-lt"/>
                <a:ea typeface="+mj-ea"/>
                <a:cs typeface="+mj-cs"/>
                <a:sym typeface="Helvetica"/>
              </a:rPr>
              <a:t>写操作确认</a:t>
            </a:r>
            <a:r>
              <a:rPr sz="1400" dirty="0"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sz="1400" dirty="0"/>
              <a:t>/ accepted </a:t>
            </a:r>
            <a:r>
              <a:rPr sz="1400" dirty="0" err="1">
                <a:latin typeface="+mj-lt"/>
                <a:ea typeface="+mj-ea"/>
                <a:cs typeface="+mj-cs"/>
                <a:sym typeface="Helvetica"/>
              </a:rPr>
              <a:t>保护</a:t>
            </a:r>
            <a:endParaRPr sz="1400" dirty="0">
              <a:latin typeface="+mj-lt"/>
              <a:ea typeface="+mj-ea"/>
              <a:cs typeface="+mj-cs"/>
              <a:sym typeface="Helvetica"/>
            </a:endParaRPr>
          </a:p>
          <a:p>
            <a:pPr algn="ctr">
              <a:lnSpc>
                <a:spcPct val="114000"/>
              </a:lnSpc>
              <a:defRPr sz="10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400" dirty="0" err="1">
                <a:latin typeface="+mj-lt"/>
                <a:ea typeface="+mj-ea"/>
                <a:cs typeface="+mj-cs"/>
                <a:sym typeface="Helvetica"/>
              </a:rPr>
              <a:t>评分口径运行期冻结</a:t>
            </a:r>
            <a:endParaRPr sz="1400"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983" name="TextBox 12"/>
          <p:cNvSpPr txBox="1"/>
          <p:nvPr/>
        </p:nvSpPr>
        <p:spPr>
          <a:xfrm>
            <a:off x="566927" y="3536441"/>
            <a:ext cx="11058116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 b="1">
                <a:solidFill>
                  <a:srgbClr val="14181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b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后续工作（按优先级）</a:t>
            </a:r>
          </a:p>
        </p:txBody>
      </p:sp>
      <p:sp>
        <p:nvSpPr>
          <p:cNvPr id="984" name="Rounded Rectangle 13"/>
          <p:cNvSpPr/>
          <p:nvPr/>
        </p:nvSpPr>
        <p:spPr>
          <a:xfrm>
            <a:off x="566927" y="3963923"/>
            <a:ext cx="2558789" cy="1559053"/>
          </a:xfrm>
          <a:prstGeom prst="roundRect">
            <a:avLst>
              <a:gd name="adj" fmla="val 3225"/>
            </a:avLst>
          </a:prstGeom>
          <a:solidFill>
            <a:srgbClr val="FDF1F0"/>
          </a:solidFill>
          <a:ln w="12700">
            <a:solidFill>
              <a:srgbClr val="EEBDB8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985" name="TextBox 14"/>
          <p:cNvSpPr txBox="1"/>
          <p:nvPr/>
        </p:nvSpPr>
        <p:spPr>
          <a:xfrm>
            <a:off x="640080" y="4416119"/>
            <a:ext cx="2412485" cy="65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300">
                <a:solidFill>
                  <a:srgbClr val="D9564A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600" dirty="0"/>
              <a:t>P1 · </a:t>
            </a:r>
            <a:r>
              <a:rPr sz="1600" b="1" dirty="0" err="1">
                <a:latin typeface="+mj-lt"/>
                <a:ea typeface="+mj-ea"/>
                <a:cs typeface="+mj-cs"/>
                <a:sym typeface="Helvetica"/>
              </a:rPr>
              <a:t>质量指标</a:t>
            </a:r>
            <a:endParaRPr sz="1600" b="1" dirty="0">
              <a:latin typeface="+mj-lt"/>
              <a:ea typeface="+mj-ea"/>
              <a:cs typeface="+mj-cs"/>
              <a:sym typeface="Helvetica"/>
            </a:endParaRPr>
          </a:p>
          <a:p>
            <a:pPr algn="ctr">
              <a:lnSpc>
                <a:spcPct val="114000"/>
              </a:lnSpc>
              <a:defRPr sz="10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100" dirty="0"/>
              <a:t>2–3 </a:t>
            </a:r>
            <a:r>
              <a:rPr sz="1100" dirty="0">
                <a:latin typeface="+mj-lt"/>
                <a:ea typeface="+mj-ea"/>
                <a:cs typeface="+mj-cs"/>
                <a:sym typeface="Helvetica"/>
              </a:rPr>
              <a:t>个 </a:t>
            </a:r>
            <a:r>
              <a:rPr sz="1100" dirty="0"/>
              <a:t>ground-truth fixture</a:t>
            </a:r>
          </a:p>
          <a:p>
            <a:pPr algn="ctr">
              <a:lnSpc>
                <a:spcPct val="114000"/>
              </a:lnSpc>
              <a:defRPr sz="10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100" dirty="0" err="1">
                <a:latin typeface="+mj-lt"/>
                <a:ea typeface="+mj-ea"/>
                <a:cs typeface="+mj-cs"/>
                <a:sym typeface="Helvetica"/>
              </a:rPr>
              <a:t>度量召回</a:t>
            </a:r>
            <a:r>
              <a:rPr sz="1100" dirty="0"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sz="1100" dirty="0"/>
              <a:t>/ </a:t>
            </a:r>
            <a:r>
              <a:rPr sz="1100" dirty="0" err="1">
                <a:latin typeface="+mj-lt"/>
                <a:ea typeface="+mj-ea"/>
                <a:cs typeface="+mj-cs"/>
                <a:sym typeface="Helvetica"/>
              </a:rPr>
              <a:t>锚点有效率</a:t>
            </a:r>
            <a:r>
              <a:rPr sz="1100" dirty="0"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sz="1100" dirty="0"/>
              <a:t>/ </a:t>
            </a:r>
            <a:r>
              <a:rPr sz="1100" dirty="0" err="1">
                <a:latin typeface="+mj-lt"/>
                <a:ea typeface="+mj-ea"/>
                <a:cs typeface="+mj-cs"/>
                <a:sym typeface="Helvetica"/>
              </a:rPr>
              <a:t>错误高亮率</a:t>
            </a:r>
            <a:endParaRPr sz="1100"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986" name="Rounded Rectangle 15"/>
          <p:cNvSpPr/>
          <p:nvPr/>
        </p:nvSpPr>
        <p:spPr>
          <a:xfrm>
            <a:off x="3400035" y="3963923"/>
            <a:ext cx="2558789" cy="1559053"/>
          </a:xfrm>
          <a:prstGeom prst="roundRect">
            <a:avLst>
              <a:gd name="adj" fmla="val 3225"/>
            </a:avLst>
          </a:prstGeom>
          <a:solidFill>
            <a:srgbClr val="FDF8EC"/>
          </a:solidFill>
          <a:ln w="12700">
            <a:solidFill>
              <a:srgbClr val="E9D29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987" name="TextBox 16"/>
          <p:cNvSpPr txBox="1"/>
          <p:nvPr/>
        </p:nvSpPr>
        <p:spPr>
          <a:xfrm>
            <a:off x="3473188" y="4417561"/>
            <a:ext cx="2412484" cy="651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300">
                <a:solidFill>
                  <a:srgbClr val="D99B06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600"/>
              <a:t>P2 · </a:t>
            </a:r>
            <a:r>
              <a:rPr sz="1600" b="1">
                <a:latin typeface="+mj-lt"/>
                <a:ea typeface="+mj-ea"/>
                <a:cs typeface="+mj-cs"/>
                <a:sym typeface="Helvetica"/>
              </a:rPr>
              <a:t>完整系统测试</a:t>
            </a:r>
          </a:p>
          <a:p>
            <a:pPr algn="ctr">
              <a:lnSpc>
                <a:spcPct val="114000"/>
              </a:lnSpc>
              <a:defRPr sz="10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100">
                <a:latin typeface="+mj-lt"/>
                <a:ea typeface="+mj-ea"/>
                <a:cs typeface="+mj-cs"/>
                <a:sym typeface="Helvetica"/>
              </a:rPr>
              <a:t>真实复合流程与 </a:t>
            </a:r>
            <a:r>
              <a:rPr sz="1100"/>
              <a:t>Safari</a:t>
            </a:r>
          </a:p>
          <a:p>
            <a:pPr algn="ctr">
              <a:lnSpc>
                <a:spcPct val="114000"/>
              </a:lnSpc>
              <a:defRPr sz="10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100">
                <a:latin typeface="+mj-lt"/>
                <a:ea typeface="+mj-ea"/>
                <a:cs typeface="+mj-cs"/>
                <a:sym typeface="Helvetica"/>
              </a:rPr>
              <a:t>三名独立用户易用性</a:t>
            </a:r>
          </a:p>
        </p:txBody>
      </p:sp>
      <p:sp>
        <p:nvSpPr>
          <p:cNvPr id="988" name="Rounded Rectangle 17"/>
          <p:cNvSpPr/>
          <p:nvPr/>
        </p:nvSpPr>
        <p:spPr>
          <a:xfrm>
            <a:off x="6233145" y="3963923"/>
            <a:ext cx="2558789" cy="1559053"/>
          </a:xfrm>
          <a:prstGeom prst="roundRect">
            <a:avLst>
              <a:gd name="adj" fmla="val 3225"/>
            </a:avLst>
          </a:prstGeom>
          <a:solidFill>
            <a:srgbClr val="F0F7F9"/>
          </a:solidFill>
          <a:ln w="12700">
            <a:solidFill>
              <a:srgbClr val="B8D5D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989" name="TextBox 18"/>
          <p:cNvSpPr txBox="1"/>
          <p:nvPr/>
        </p:nvSpPr>
        <p:spPr>
          <a:xfrm>
            <a:off x="6306296" y="4416119"/>
            <a:ext cx="2412485" cy="65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300">
                <a:solidFill>
                  <a:srgbClr val="1F6F8B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600"/>
              <a:t>P3 · </a:t>
            </a:r>
            <a:r>
              <a:rPr sz="1600" b="1">
                <a:latin typeface="+mj-lt"/>
                <a:ea typeface="+mj-ea"/>
                <a:cs typeface="+mj-cs"/>
                <a:sym typeface="Helvetica"/>
              </a:rPr>
              <a:t>事实层补完</a:t>
            </a:r>
          </a:p>
          <a:p>
            <a:pPr algn="ctr">
              <a:lnSpc>
                <a:spcPct val="114000"/>
              </a:lnSpc>
              <a:defRPr sz="10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100">
                <a:latin typeface="+mj-lt"/>
                <a:ea typeface="+mj-ea"/>
                <a:cs typeface="+mj-cs"/>
                <a:sym typeface="Helvetica"/>
              </a:rPr>
              <a:t>跨 </a:t>
            </a:r>
            <a:r>
              <a:rPr sz="1100"/>
              <a:t>reparse </a:t>
            </a:r>
            <a:r>
              <a:rPr sz="1100">
                <a:latin typeface="+mj-lt"/>
                <a:ea typeface="+mj-ea"/>
                <a:cs typeface="+mj-cs"/>
                <a:sym typeface="Helvetica"/>
              </a:rPr>
              <a:t>重锚算法</a:t>
            </a:r>
          </a:p>
          <a:p>
            <a:pPr algn="ctr">
              <a:lnSpc>
                <a:spcPct val="114000"/>
              </a:lnSpc>
              <a:defRPr sz="10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100">
                <a:latin typeface="+mj-lt"/>
                <a:ea typeface="+mj-ea"/>
                <a:cs typeface="+mj-cs"/>
                <a:sym typeface="Helvetica"/>
              </a:rPr>
              <a:t>图内 </a:t>
            </a:r>
            <a:r>
              <a:rPr sz="1100"/>
              <a:t>bbox </a:t>
            </a:r>
            <a:r>
              <a:rPr sz="1100">
                <a:latin typeface="+mj-lt"/>
                <a:ea typeface="+mj-ea"/>
                <a:cs typeface="+mj-cs"/>
                <a:sym typeface="Helvetica"/>
              </a:rPr>
              <a:t>与 </a:t>
            </a:r>
            <a:r>
              <a:rPr sz="1100"/>
              <a:t>step </a:t>
            </a:r>
            <a:r>
              <a:rPr sz="1100">
                <a:latin typeface="+mj-lt"/>
                <a:ea typeface="+mj-ea"/>
                <a:cs typeface="+mj-cs"/>
                <a:sym typeface="Helvetica"/>
              </a:rPr>
              <a:t>级分解</a:t>
            </a:r>
          </a:p>
        </p:txBody>
      </p:sp>
      <p:sp>
        <p:nvSpPr>
          <p:cNvPr id="990" name="Rounded Rectangle 19"/>
          <p:cNvSpPr/>
          <p:nvPr/>
        </p:nvSpPr>
        <p:spPr>
          <a:xfrm>
            <a:off x="9066252" y="3963923"/>
            <a:ext cx="2558789" cy="1559053"/>
          </a:xfrm>
          <a:prstGeom prst="roundRect">
            <a:avLst>
              <a:gd name="adj" fmla="val 3225"/>
            </a:avLst>
          </a:prstGeom>
          <a:solidFill>
            <a:srgbClr val="F5F2FC"/>
          </a:solidFill>
          <a:ln w="12700">
            <a:solidFill>
              <a:srgbClr val="CCC0E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991" name="TextBox 20"/>
          <p:cNvSpPr txBox="1"/>
          <p:nvPr/>
        </p:nvSpPr>
        <p:spPr>
          <a:xfrm>
            <a:off x="9139404" y="4416119"/>
            <a:ext cx="2412485" cy="65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4000"/>
              </a:lnSpc>
              <a:defRPr sz="1300">
                <a:solidFill>
                  <a:srgbClr val="7A5CC4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1600"/>
              <a:t>P4 · </a:t>
            </a:r>
            <a:r>
              <a:rPr sz="1600" b="1">
                <a:latin typeface="+mj-lt"/>
                <a:ea typeface="+mj-ea"/>
                <a:cs typeface="+mj-cs"/>
                <a:sym typeface="Helvetica"/>
              </a:rPr>
              <a:t>规模层（门控）</a:t>
            </a:r>
          </a:p>
          <a:p>
            <a:pPr algn="ctr">
              <a:lnSpc>
                <a:spcPct val="114000"/>
              </a:lnSpc>
              <a:defRPr sz="10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100">
                <a:latin typeface="+mj-lt"/>
                <a:ea typeface="+mj-ea"/>
                <a:cs typeface="+mj-cs"/>
                <a:sym typeface="Helvetica"/>
              </a:rPr>
              <a:t>独立父子 </a:t>
            </a:r>
            <a:r>
              <a:rPr sz="1100"/>
              <a:t>Run </a:t>
            </a:r>
            <a:r>
              <a:rPr sz="1100">
                <a:latin typeface="+mj-lt"/>
                <a:ea typeface="+mj-ea"/>
                <a:cs typeface="+mj-cs"/>
                <a:sym typeface="Helvetica"/>
              </a:rPr>
              <a:t>结构</a:t>
            </a:r>
          </a:p>
          <a:p>
            <a:pPr algn="ctr">
              <a:lnSpc>
                <a:spcPct val="114000"/>
              </a:lnSpc>
              <a:defRPr sz="1000">
                <a:solidFill>
                  <a:srgbClr val="4A5464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sz="1100"/>
              <a:t>job </a:t>
            </a:r>
            <a:r>
              <a:rPr sz="1100">
                <a:latin typeface="+mj-lt"/>
                <a:ea typeface="+mj-ea"/>
                <a:cs typeface="+mj-cs"/>
                <a:sym typeface="Helvetica"/>
              </a:rPr>
              <a:t>级 </a:t>
            </a:r>
            <a:r>
              <a:rPr sz="1100"/>
              <a:t>token </a:t>
            </a:r>
            <a:r>
              <a:rPr sz="1100">
                <a:latin typeface="+mj-lt"/>
                <a:ea typeface="+mj-ea"/>
                <a:cs typeface="+mj-cs"/>
                <a:sym typeface="Helvetica"/>
              </a:rPr>
              <a:t>硬上限</a:t>
            </a:r>
          </a:p>
        </p:txBody>
      </p:sp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Rectangle 1"/>
          <p:cNvSpPr/>
          <p:nvPr/>
        </p:nvSpPr>
        <p:spPr>
          <a:xfrm>
            <a:off x="-1" y="0"/>
            <a:ext cx="12191972" cy="6858000"/>
          </a:xfrm>
          <a:prstGeom prst="rect">
            <a:avLst/>
          </a:prstGeom>
          <a:solidFill>
            <a:srgbClr val="14262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96" name="Rectangle 2"/>
          <p:cNvSpPr/>
          <p:nvPr/>
        </p:nvSpPr>
        <p:spPr>
          <a:xfrm>
            <a:off x="-1" y="-1"/>
            <a:ext cx="12191972" cy="82298"/>
          </a:xfrm>
          <a:prstGeom prst="rect">
            <a:avLst/>
          </a:prstGeom>
          <a:solidFill>
            <a:srgbClr val="1F6F8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97" name="Rounded Rectangle 3"/>
          <p:cNvSpPr/>
          <p:nvPr/>
        </p:nvSpPr>
        <p:spPr>
          <a:xfrm>
            <a:off x="566927" y="1965960"/>
            <a:ext cx="2286001" cy="310897"/>
          </a:xfrm>
          <a:prstGeom prst="roundRect">
            <a:avLst>
              <a:gd name="adj" fmla="val 9000"/>
            </a:avLst>
          </a:prstGeom>
          <a:ln>
            <a:solidFill>
              <a:srgbClr val="4C7484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98" name="TextBox 4"/>
          <p:cNvSpPr txBox="1"/>
          <p:nvPr/>
        </p:nvSpPr>
        <p:spPr>
          <a:xfrm>
            <a:off x="566927" y="2032508"/>
            <a:ext cx="22860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14000"/>
              </a:lnSpc>
              <a:defRPr sz="1000">
                <a:solidFill>
                  <a:srgbClr val="CFE6ED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lvl1pPr>
          </a:lstStyle>
          <a:p>
            <a:r>
              <a:t>Thanks</a:t>
            </a:r>
          </a:p>
        </p:txBody>
      </p:sp>
      <p:sp>
        <p:nvSpPr>
          <p:cNvPr id="999" name="TextBox 5"/>
          <p:cNvSpPr txBox="1"/>
          <p:nvPr/>
        </p:nvSpPr>
        <p:spPr>
          <a:xfrm>
            <a:off x="566927" y="2450592"/>
            <a:ext cx="9144001" cy="825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6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b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谢谢，欢迎提问</a:t>
            </a:r>
          </a:p>
        </p:txBody>
      </p:sp>
      <p:sp>
        <p:nvSpPr>
          <p:cNvPr id="1000" name="TextBox 6"/>
          <p:cNvSpPr txBox="1"/>
          <p:nvPr/>
        </p:nvSpPr>
        <p:spPr>
          <a:xfrm>
            <a:off x="566927" y="3584447"/>
            <a:ext cx="9144001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>
                <a:solidFill>
                  <a:srgbClr val="A9CDD8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t>TraceLab ·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论文 </a:t>
            </a:r>
            <a:r>
              <a:t>↔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代码双向追溯工作台</a:t>
            </a:r>
          </a:p>
        </p:txBody>
      </p:sp>
      <p:sp>
        <p:nvSpPr>
          <p:cNvPr id="1001" name="Connector 7"/>
          <p:cNvSpPr/>
          <p:nvPr/>
        </p:nvSpPr>
        <p:spPr>
          <a:xfrm>
            <a:off x="566927" y="4480559"/>
            <a:ext cx="4937762" cy="1"/>
          </a:xfrm>
          <a:prstGeom prst="line">
            <a:avLst/>
          </a:prstGeom>
          <a:ln>
            <a:solidFill>
              <a:srgbClr val="3C5F6C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002" name="TextBox 8"/>
          <p:cNvSpPr txBox="1"/>
          <p:nvPr/>
        </p:nvSpPr>
        <p:spPr>
          <a:xfrm>
            <a:off x="566927" y="4626864"/>
            <a:ext cx="7315201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50000"/>
              </a:lnSpc>
              <a:defRPr sz="1100">
                <a:solidFill>
                  <a:srgbClr val="8FB8C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追溯流程 </a:t>
            </a:r>
            <a:r>
              <a:t>·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置信度公式 </a:t>
            </a:r>
            <a:r>
              <a:t>·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架构与设计模式 </a:t>
            </a:r>
            <a:r>
              <a:t>·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测试与质量保证</a:t>
            </a:r>
          </a:p>
          <a:p>
            <a:pPr>
              <a:lnSpc>
                <a:spcPct val="150000"/>
              </a:lnSpc>
              <a:defRPr sz="1100">
                <a:solidFill>
                  <a:srgbClr val="8FB8C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详细材料见 </a:t>
            </a:r>
            <a:r>
              <a:t>docs/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与 </a:t>
            </a:r>
            <a:r>
              <a:t>FinalRelease/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目录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2725</Words>
  <Application>Microsoft Office PowerPoint</Application>
  <PresentationFormat>自定义</PresentationFormat>
  <Paragraphs>769</Paragraphs>
  <Slides>28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7" baseType="lpstr">
      <vt:lpstr>PingFang SC Regular</vt:lpstr>
      <vt:lpstr>PingFang SC Semibold</vt:lpstr>
      <vt:lpstr>Hiragino Sans GB W6</vt:lpstr>
      <vt:lpstr>Microsoft YaHei</vt:lpstr>
      <vt:lpstr>Arial</vt:lpstr>
      <vt:lpstr>Calibri</vt:lpstr>
      <vt:lpstr>Consolas</vt:lpstr>
      <vt:lpstr>Helvetica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Harold Finch</cp:lastModifiedBy>
  <cp:revision>151</cp:revision>
  <dcterms:modified xsi:type="dcterms:W3CDTF">2026-07-31T06:06:52Z</dcterms:modified>
</cp:coreProperties>
</file>